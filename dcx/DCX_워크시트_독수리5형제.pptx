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82" r:id="rId2"/>
    <p:sldId id="283" r:id="rId3"/>
    <p:sldId id="4703" r:id="rId4"/>
    <p:sldId id="4704" r:id="rId5"/>
    <p:sldId id="14662" r:id="rId6"/>
    <p:sldId id="2134806552" r:id="rId7"/>
  </p:sldIdLst>
  <p:sldSz cx="12192000" cy="6858000"/>
  <p:notesSz cx="6858000" cy="9144000"/>
  <p:embeddedFontLst>
    <p:embeddedFont>
      <p:font typeface="Pretendard ExtraBold" panose="02000903000000020004" pitchFamily="50" charset="-127"/>
      <p:bold r:id="rId9"/>
    </p:embeddedFont>
    <p:embeddedFont>
      <p:font typeface="맑은 고딕" panose="020B0503020000020004" pitchFamily="50" charset="-127"/>
      <p:regular r:id="rId10"/>
      <p:bold r:id="rId1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병관 박" initials="병박" lastIdx="1" clrIdx="0">
    <p:extLst>
      <p:ext uri="{19B8F6BF-5375-455C-9EA6-DF929625EA0E}">
        <p15:presenceInfo xmlns:p15="http://schemas.microsoft.com/office/powerpoint/2012/main" userId="eb69ab0170d568d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BBA3"/>
    <a:srgbClr val="404040"/>
    <a:srgbClr val="EBAC89"/>
    <a:srgbClr val="625CB0"/>
    <a:srgbClr val="19338D"/>
    <a:srgbClr val="A6A6A6"/>
    <a:srgbClr val="FFFF00"/>
    <a:srgbClr val="ABABAB"/>
    <a:srgbClr val="FFFFF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99" autoAdjust="0"/>
    <p:restoredTop sz="92147" autoAdjust="0"/>
  </p:normalViewPr>
  <p:slideViewPr>
    <p:cSldViewPr snapToGrid="0">
      <p:cViewPr varScale="1">
        <p:scale>
          <a:sx n="103" d="100"/>
          <a:sy n="103" d="100"/>
        </p:scale>
        <p:origin x="570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commentAuthors" Target="commentAuthor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517D9-3D16-491F-9C73-222AE670D521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E8104-0AAA-402D-86F2-8AB4551B0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469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Desire : </a:t>
            </a:r>
            <a:r>
              <a:rPr lang="ko-KR" altLang="en-US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욕구</a:t>
            </a:r>
            <a:endParaRPr lang="en-US" altLang="ko-KR" dirty="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E8104-0AAA-402D-86F2-8AB4551B092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781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47344-A397-4BB8-A5EB-4E698992555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639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47344-A397-4BB8-A5EB-4E698992555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831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Shape 94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47" name="Shape 94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300"/>
              </a:spcBef>
              <a:defRPr sz="10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4279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Shape 94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47" name="Shape 94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300"/>
              </a:spcBef>
              <a:defRPr sz="10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086545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9E1177-9E2A-4439-A2D2-539F0AA3C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C3D5FE-6535-49C8-B336-71BAEFC8D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27C491-E364-42C0-9489-6B06EA11C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E266-7105-43D1-9843-5728818F8722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493F1B-4B1F-439E-9811-E1EE7D892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11B881-1CE3-4501-BE08-0FBFE9EB5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0E701-3BDD-4EF1-ADFE-312FB0680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017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2B5243-C3F4-428B-80EA-E6B36C685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6B4F03-CA54-4964-AEED-AC8BF070F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53DCC5-049E-41C4-87B7-11E7727CF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E266-7105-43D1-9843-5728818F8722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429342-6F18-4C54-91AE-AFF9B1708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D42B48-0676-4143-BA74-9A59FC3AF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0E701-3BDD-4EF1-ADFE-312FB0680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732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654C46-6D5A-488F-865C-4D61DF86E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EE3341-42CD-4F58-ABC7-84AA19732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291300-ACE3-4681-A95F-B47216883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E266-7105-43D1-9843-5728818F8722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95904E-B3A9-4E32-AE7E-FB447C52F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D6BC52-2B6C-48B0-B893-155A9E131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0E701-3BDD-4EF1-ADFE-312FB0680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845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D9B7B8-9917-4884-8DDD-A7D41B898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499EBF-0B94-4F7F-BB8E-062EDED91C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4DB25C-72EF-41B6-9D1A-298CC6D06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77DC86-9E35-48AA-8B1A-1F6B55D80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E266-7105-43D1-9843-5728818F8722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59EB4E-485A-41C9-B804-E1F774831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84A608-211B-498A-B345-7B5842AE3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0E701-3BDD-4EF1-ADFE-312FB0680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364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15971-9657-4042-A25A-4A7529E10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0755A1-154A-444F-AB6F-A047AF115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FD68D5-CA64-4A1D-8F4F-AB3B41489F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E4C0EA7-361C-4850-A6B4-3F48F81B2D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D9F702-1F72-406D-B363-B5BD858C3A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E41F25-9E28-4285-8BE4-D6D0BDC10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E266-7105-43D1-9843-5728818F8722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75B7EB-FA64-4E7A-B267-8BB95F9EC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19DCC9B-0CF2-4574-91A4-BA5C10903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0E701-3BDD-4EF1-ADFE-312FB0680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41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99340-CFE2-4B68-B016-1D3B712E9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444FE7A-BED5-4A5B-8B50-368442844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E266-7105-43D1-9843-5728818F8722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5F2C13-F49C-4807-A121-535894DC0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CE511B-3159-4E6E-AF26-2B52051F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0E701-3BDD-4EF1-ADFE-312FB0680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9033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048A67-0654-4953-8D41-7975996B4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E266-7105-43D1-9843-5728818F8722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A200720-7D3C-4C30-993D-6A1B0EA34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9A9CEB-F11D-4DA4-94E2-4C9421485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0E701-3BDD-4EF1-ADFE-312FB0680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669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300265-85B3-4E67-B267-90D72F225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A3FC4B-589A-48D1-BBEB-6AA67D296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C6B4C2-7847-4152-8507-6C2B19929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CE4133-AEC9-45BE-BCB0-04B3C5838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E266-7105-43D1-9843-5728818F8722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73A25F-6089-4E5D-95E2-743A76F4C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94D360-AA03-4FAE-BE69-A95504EF0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0E701-3BDD-4EF1-ADFE-312FB0680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641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9834F3-9E67-4664-AFB9-21EBE45C1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CC1BE64-86A9-468F-9184-5ED87982D8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CD5BA8-7794-4937-8F87-F6F98C2CF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995129-F14D-4C45-9C2A-E8130E578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E266-7105-43D1-9843-5728818F8722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BD7307-5C89-49E1-8E4C-D1F7707CD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2526B2-BE10-4A8C-9978-56A69E032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0E701-3BDD-4EF1-ADFE-312FB0680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46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752F4-E25B-4A46-A18E-55DC45318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71740E-1B7D-40CD-8666-B6EDB4AD6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998153-721D-4E98-8363-2DA344D43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E266-7105-43D1-9843-5728818F8722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9C4158-0101-40F8-B37E-211745B7F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84F87F-6BD4-4671-BFF8-CCF0B3B7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0E701-3BDD-4EF1-ADFE-312FB0680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059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6C21D59-AF96-43FD-A9A4-7E9875702F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EA0B51-9173-4BD0-81EC-AD4B6ADA3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EB5E95-1D2D-43C3-82FB-425D54E4E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E266-7105-43D1-9843-5728818F8722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12D957-9F54-4EAB-8421-613F58864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45117-2EA2-4E5A-A1C6-B14DCD354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0E701-3BDD-4EF1-ADFE-312FB0680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018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266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표지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CD99428-A760-5F62-0196-A67CE11EDCF2}"/>
              </a:ext>
            </a:extLst>
          </p:cNvPr>
          <p:cNvGrpSpPr/>
          <p:nvPr userDrawn="1"/>
        </p:nvGrpSpPr>
        <p:grpSpPr>
          <a:xfrm rot="10800000">
            <a:off x="-9605" y="3429000"/>
            <a:ext cx="12201606" cy="3453392"/>
            <a:chOff x="7856063" y="-29112"/>
            <a:chExt cx="4347945" cy="2663749"/>
          </a:xfrm>
          <a:solidFill>
            <a:schemeClr val="accent2"/>
          </a:solidFill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439EE3C-F2AD-F982-9E5B-E6DD1875355E}"/>
                </a:ext>
              </a:extLst>
            </p:cNvPr>
            <p:cNvSpPr/>
            <p:nvPr userDrawn="1"/>
          </p:nvSpPr>
          <p:spPr>
            <a:xfrm>
              <a:off x="7856063" y="-29112"/>
              <a:ext cx="4347945" cy="1661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3FE3622-2831-ED4B-DCFE-7CEF7F44D848}"/>
                </a:ext>
              </a:extLst>
            </p:cNvPr>
            <p:cNvSpPr/>
            <p:nvPr userDrawn="1"/>
          </p:nvSpPr>
          <p:spPr>
            <a:xfrm rot="5400000">
              <a:off x="10835670" y="1266299"/>
              <a:ext cx="2644934" cy="9174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492BF5BC-89D5-1D5C-36FE-001D6724C406}"/>
              </a:ext>
            </a:extLst>
          </p:cNvPr>
          <p:cNvSpPr/>
          <p:nvPr userDrawn="1"/>
        </p:nvSpPr>
        <p:spPr>
          <a:xfrm rot="16200000">
            <a:off x="10346181" y="5026968"/>
            <a:ext cx="3453393" cy="257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0E02B80-5A75-E5F6-6783-18DEA4A40648}"/>
              </a:ext>
            </a:extLst>
          </p:cNvPr>
          <p:cNvGrpSpPr/>
          <p:nvPr userDrawn="1"/>
        </p:nvGrpSpPr>
        <p:grpSpPr>
          <a:xfrm>
            <a:off x="0" y="-12196"/>
            <a:ext cx="12201606" cy="3453392"/>
            <a:chOff x="7856063" y="-29112"/>
            <a:chExt cx="4347945" cy="2663749"/>
          </a:xfrm>
          <a:solidFill>
            <a:schemeClr val="bg1">
              <a:lumMod val="85000"/>
            </a:schemeClr>
          </a:solidFill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C74E516-11A3-F9D4-6A59-17D16817C455}"/>
                </a:ext>
              </a:extLst>
            </p:cNvPr>
            <p:cNvSpPr/>
            <p:nvPr userDrawn="1"/>
          </p:nvSpPr>
          <p:spPr>
            <a:xfrm>
              <a:off x="7856063" y="-29112"/>
              <a:ext cx="4347945" cy="1661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B243E4A-AF9D-52E1-9A21-80CAAF32C709}"/>
                </a:ext>
              </a:extLst>
            </p:cNvPr>
            <p:cNvSpPr/>
            <p:nvPr userDrawn="1"/>
          </p:nvSpPr>
          <p:spPr>
            <a:xfrm rot="5400000">
              <a:off x="10835670" y="1266299"/>
              <a:ext cx="2644934" cy="9174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56F0E36-4246-A965-0A66-0CC340E38465}"/>
              </a:ext>
            </a:extLst>
          </p:cNvPr>
          <p:cNvSpPr/>
          <p:nvPr userDrawn="1"/>
        </p:nvSpPr>
        <p:spPr>
          <a:xfrm rot="5400000">
            <a:off x="-1595377" y="1597969"/>
            <a:ext cx="3428999" cy="25745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591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C9EAAF0-1DE9-4C9E-8F83-BDBEB3A53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F54B53-0D78-4792-BD84-C7F4014BF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A3F675-BD95-4EB9-A906-7DDEF6706C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FAE266-7105-43D1-9843-5728818F8722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7EBDB2-49AC-4839-B042-705A36F07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148D5D-1F0C-4773-A265-0CD4BD323D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00E701-3BDD-4EF1-ADFE-312FB0680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638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3428999"/>
            <a:ext cx="12192000" cy="3429000"/>
          </a:xfrm>
          <a:custGeom>
            <a:avLst/>
            <a:gdLst/>
            <a:ahLst/>
            <a:cxnLst/>
            <a:rect l="l" t="t" r="r" b="b"/>
            <a:pathLst>
              <a:path w="12192000" h="3429000">
                <a:moveTo>
                  <a:pt x="12192000" y="0"/>
                </a:moveTo>
                <a:lnTo>
                  <a:pt x="11944147" y="0"/>
                </a:lnTo>
                <a:lnTo>
                  <a:pt x="11944147" y="3238030"/>
                </a:lnTo>
                <a:lnTo>
                  <a:pt x="247840" y="3238030"/>
                </a:lnTo>
                <a:lnTo>
                  <a:pt x="247840" y="0"/>
                </a:lnTo>
                <a:lnTo>
                  <a:pt x="0" y="0"/>
                </a:lnTo>
                <a:lnTo>
                  <a:pt x="0" y="3238030"/>
                </a:lnTo>
                <a:lnTo>
                  <a:pt x="0" y="3429000"/>
                </a:lnTo>
                <a:lnTo>
                  <a:pt x="247840" y="3429000"/>
                </a:lnTo>
                <a:lnTo>
                  <a:pt x="11944147" y="3429000"/>
                </a:lnTo>
                <a:lnTo>
                  <a:pt x="12192000" y="3429000"/>
                </a:lnTo>
                <a:lnTo>
                  <a:pt x="12192000" y="3238030"/>
                </a:lnTo>
                <a:lnTo>
                  <a:pt x="12192000" y="0"/>
                </a:lnTo>
                <a:close/>
              </a:path>
            </a:pathLst>
          </a:custGeom>
          <a:solidFill>
            <a:srgbClr val="58B6C0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0"/>
            <a:ext cx="12192000" cy="3441700"/>
            <a:chOff x="0" y="0"/>
            <a:chExt cx="12192000" cy="3441700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12192000" cy="3441700"/>
            </a:xfrm>
            <a:custGeom>
              <a:avLst/>
              <a:gdLst/>
              <a:ahLst/>
              <a:cxnLst/>
              <a:rect l="l" t="t" r="r" b="b"/>
              <a:pathLst>
                <a:path w="12192000" h="3441700">
                  <a:moveTo>
                    <a:pt x="12192000" y="0"/>
                  </a:moveTo>
                  <a:lnTo>
                    <a:pt x="0" y="0"/>
                  </a:lnTo>
                  <a:lnTo>
                    <a:pt x="0" y="12204"/>
                  </a:lnTo>
                  <a:lnTo>
                    <a:pt x="0" y="203174"/>
                  </a:lnTo>
                  <a:lnTo>
                    <a:pt x="0" y="3441204"/>
                  </a:lnTo>
                  <a:lnTo>
                    <a:pt x="247840" y="3441204"/>
                  </a:lnTo>
                  <a:lnTo>
                    <a:pt x="247840" y="203174"/>
                  </a:lnTo>
                  <a:lnTo>
                    <a:pt x="11944147" y="203174"/>
                  </a:lnTo>
                  <a:lnTo>
                    <a:pt x="11944147" y="3441204"/>
                  </a:lnTo>
                  <a:lnTo>
                    <a:pt x="12192000" y="3441204"/>
                  </a:lnTo>
                  <a:lnTo>
                    <a:pt x="12192000" y="203174"/>
                  </a:lnTo>
                  <a:lnTo>
                    <a:pt x="12192000" y="1220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301937" y="155919"/>
              <a:ext cx="5588635" cy="431165"/>
            </a:xfrm>
            <a:custGeom>
              <a:avLst/>
              <a:gdLst/>
              <a:ahLst/>
              <a:cxnLst/>
              <a:rect l="l" t="t" r="r" b="b"/>
              <a:pathLst>
                <a:path w="5588634" h="431165">
                  <a:moveTo>
                    <a:pt x="5516358" y="0"/>
                  </a:moveTo>
                  <a:lnTo>
                    <a:pt x="71763" y="0"/>
                  </a:lnTo>
                  <a:lnTo>
                    <a:pt x="43830" y="5639"/>
                  </a:lnTo>
                  <a:lnTo>
                    <a:pt x="21019" y="21019"/>
                  </a:lnTo>
                  <a:lnTo>
                    <a:pt x="5639" y="43830"/>
                  </a:lnTo>
                  <a:lnTo>
                    <a:pt x="0" y="71765"/>
                  </a:lnTo>
                  <a:lnTo>
                    <a:pt x="0" y="358806"/>
                  </a:lnTo>
                  <a:lnTo>
                    <a:pt x="5639" y="386740"/>
                  </a:lnTo>
                  <a:lnTo>
                    <a:pt x="21019" y="409552"/>
                  </a:lnTo>
                  <a:lnTo>
                    <a:pt x="43830" y="424932"/>
                  </a:lnTo>
                  <a:lnTo>
                    <a:pt x="71763" y="430571"/>
                  </a:lnTo>
                  <a:lnTo>
                    <a:pt x="5516358" y="430571"/>
                  </a:lnTo>
                  <a:lnTo>
                    <a:pt x="5544292" y="424932"/>
                  </a:lnTo>
                  <a:lnTo>
                    <a:pt x="5567103" y="409552"/>
                  </a:lnTo>
                  <a:lnTo>
                    <a:pt x="5582483" y="386740"/>
                  </a:lnTo>
                  <a:lnTo>
                    <a:pt x="5588123" y="358806"/>
                  </a:lnTo>
                  <a:lnTo>
                    <a:pt x="5588123" y="71765"/>
                  </a:lnTo>
                  <a:lnTo>
                    <a:pt x="5582483" y="43830"/>
                  </a:lnTo>
                  <a:lnTo>
                    <a:pt x="5567103" y="21019"/>
                  </a:lnTo>
                  <a:lnTo>
                    <a:pt x="5544292" y="5639"/>
                  </a:lnTo>
                  <a:lnTo>
                    <a:pt x="55163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dirty="0" sz="1200">
                  <a:solidFill>
                    <a:schemeClr val="bg1"/>
                  </a:solidFill>
                  <a:latin typeface="+mj-lt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고객 페르소나 분석하기</a:t>
              </a:r>
              <a:endParaRPr dirty="0">
                <a:solidFill>
                  <a:schemeClr val="bg1"/>
                </a:solidFill>
                <a:latin typeface="+mj-lt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301937" y="155919"/>
              <a:ext cx="5588635" cy="431165"/>
            </a:xfrm>
            <a:custGeom>
              <a:avLst/>
              <a:gdLst/>
              <a:ahLst/>
              <a:cxnLst/>
              <a:rect l="l" t="t" r="r" b="b"/>
              <a:pathLst>
                <a:path w="5588634" h="431165">
                  <a:moveTo>
                    <a:pt x="0" y="71765"/>
                  </a:moveTo>
                  <a:lnTo>
                    <a:pt x="5639" y="43830"/>
                  </a:lnTo>
                  <a:lnTo>
                    <a:pt x="21019" y="21019"/>
                  </a:lnTo>
                  <a:lnTo>
                    <a:pt x="43830" y="5639"/>
                  </a:lnTo>
                  <a:lnTo>
                    <a:pt x="71764" y="0"/>
                  </a:lnTo>
                  <a:lnTo>
                    <a:pt x="5516359" y="0"/>
                  </a:lnTo>
                  <a:lnTo>
                    <a:pt x="5544292" y="5639"/>
                  </a:lnTo>
                  <a:lnTo>
                    <a:pt x="5567103" y="21019"/>
                  </a:lnTo>
                  <a:lnTo>
                    <a:pt x="5582483" y="43830"/>
                  </a:lnTo>
                  <a:lnTo>
                    <a:pt x="5588123" y="71765"/>
                  </a:lnTo>
                  <a:lnTo>
                    <a:pt x="5588123" y="358807"/>
                  </a:lnTo>
                  <a:lnTo>
                    <a:pt x="5582483" y="386741"/>
                  </a:lnTo>
                  <a:lnTo>
                    <a:pt x="5567103" y="409552"/>
                  </a:lnTo>
                  <a:lnTo>
                    <a:pt x="5544292" y="424932"/>
                  </a:lnTo>
                  <a:lnTo>
                    <a:pt x="5516359" y="430572"/>
                  </a:lnTo>
                  <a:lnTo>
                    <a:pt x="71764" y="430572"/>
                  </a:lnTo>
                  <a:lnTo>
                    <a:pt x="43830" y="424932"/>
                  </a:lnTo>
                  <a:lnTo>
                    <a:pt x="21019" y="409552"/>
                  </a:lnTo>
                  <a:lnTo>
                    <a:pt x="5639" y="386741"/>
                  </a:lnTo>
                  <a:lnTo>
                    <a:pt x="0" y="358807"/>
                  </a:lnTo>
                  <a:lnTo>
                    <a:pt x="0" y="7176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749327" y="976846"/>
            <a:ext cx="1741805" cy="246221"/>
          </a:xfrm>
          <a:prstGeom prst="rect">
            <a:avLst/>
          </a:prstGeom>
          <a:solidFill>
            <a:srgbClr val="E3EBF2"/>
          </a:solidFill>
        </p:spPr>
        <p:txBody>
          <a:bodyPr vert="horz" wrap="square" lIns="0" tIns="68580" rIns="0" bIns="0" rtlCol="0" anchor="ctr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r>
              <a:rPr sz="1100" b="1">
                <a:solidFill>
                  <a:srgbClr val="333333"/>
                </a:solidFill>
                <a:latin typeface="맑은 고딕"/>
              </a:rPr>
              <a:t>팀명 : 독수리5형제</a:t>
            </a:r>
            <a:endParaRPr sz="1150" dirty="0">
              <a:latin typeface="+mj-lt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58646" y="2907792"/>
            <a:ext cx="1664208" cy="3447288"/>
          </a:xfrm>
          <a:custGeom>
            <a:avLst/>
            <a:gdLst/>
            <a:ahLst/>
            <a:cxnLst/>
            <a:rect l="l" t="t" r="r" b="b"/>
            <a:pathLst>
              <a:path w="1915795" h="3774440">
                <a:moveTo>
                  <a:pt x="0" y="120685"/>
                </a:moveTo>
                <a:lnTo>
                  <a:pt x="9484" y="73709"/>
                </a:lnTo>
                <a:lnTo>
                  <a:pt x="35347" y="35347"/>
                </a:lnTo>
                <a:lnTo>
                  <a:pt x="73709" y="9484"/>
                </a:lnTo>
                <a:lnTo>
                  <a:pt x="120685" y="0"/>
                </a:lnTo>
                <a:lnTo>
                  <a:pt x="1794969" y="0"/>
                </a:lnTo>
                <a:lnTo>
                  <a:pt x="1841944" y="9484"/>
                </a:lnTo>
                <a:lnTo>
                  <a:pt x="1880306" y="35347"/>
                </a:lnTo>
                <a:lnTo>
                  <a:pt x="1906169" y="73709"/>
                </a:lnTo>
                <a:lnTo>
                  <a:pt x="1915654" y="120685"/>
                </a:lnTo>
                <a:lnTo>
                  <a:pt x="1915654" y="3653416"/>
                </a:lnTo>
                <a:lnTo>
                  <a:pt x="1906169" y="3700392"/>
                </a:lnTo>
                <a:lnTo>
                  <a:pt x="1880306" y="3738753"/>
                </a:lnTo>
                <a:lnTo>
                  <a:pt x="1841944" y="3764617"/>
                </a:lnTo>
                <a:lnTo>
                  <a:pt x="1794969" y="3774102"/>
                </a:lnTo>
                <a:lnTo>
                  <a:pt x="120685" y="3774102"/>
                </a:lnTo>
                <a:lnTo>
                  <a:pt x="73709" y="3764617"/>
                </a:lnTo>
                <a:lnTo>
                  <a:pt x="35347" y="3738753"/>
                </a:lnTo>
                <a:lnTo>
                  <a:pt x="9484" y="3700392"/>
                </a:lnTo>
                <a:lnTo>
                  <a:pt x="0" y="3653416"/>
                </a:lnTo>
                <a:lnTo>
                  <a:pt x="0" y="120685"/>
                </a:lnTo>
                <a:close/>
              </a:path>
            </a:pathLst>
          </a:custGeom>
          <a:ln w="12700">
            <a:solidFill>
              <a:srgbClr val="BFBFBF"/>
            </a:solidFill>
          </a:ln>
        </p:spPr>
        <p:txBody>
          <a:bodyPr wrap="square" lIns="0" tIns="0" rIns="0" bIns="0" rtlCol="0"/>
          <a:lstStyle/>
          <a:p>
            <a:r>
              <a:rPr sz="900" b="0">
                <a:solidFill>
                  <a:srgbClr val="333333"/>
                </a:solidFill>
                <a:latin typeface="맑은 고딕"/>
              </a:rPr>
              <a:t>[전체 리뷰 상위 12개]</a:t>
            </a:r>
            <a:endParaRPr>
              <a:latin typeface="+mj-lt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/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  병원   766건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  진료   591건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  약국   400건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  친절   295건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  감사   330건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  유용   206건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  예약   255건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  정보   234건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  대면   298건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  편리   155건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  마스크   162건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  시간   178건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175641" y="2635991"/>
            <a:ext cx="1281662" cy="22313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lang="en-US" sz="1400" b="1" spc="135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TF-IDF </a:t>
            </a:r>
            <a:r>
              <a:rPr lang="ko-KR" altLang="en-US" sz="1400" b="1" spc="135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결과</a:t>
            </a:r>
            <a:endParaRPr sz="135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00531" y="1314752"/>
            <a:ext cx="7597140" cy="5182235"/>
            <a:chOff x="2900531" y="1314752"/>
            <a:chExt cx="7597140" cy="5182235"/>
          </a:xfrm>
        </p:grpSpPr>
        <p:sp>
          <p:nvSpPr>
            <p:cNvPr id="14" name="object 14"/>
            <p:cNvSpPr/>
            <p:nvPr/>
          </p:nvSpPr>
          <p:spPr>
            <a:xfrm>
              <a:off x="2906881" y="1321102"/>
              <a:ext cx="7584440" cy="431165"/>
            </a:xfrm>
            <a:custGeom>
              <a:avLst/>
              <a:gdLst/>
              <a:ahLst/>
              <a:cxnLst/>
              <a:rect l="l" t="t" r="r" b="b"/>
              <a:pathLst>
                <a:path w="7584440" h="431164">
                  <a:moveTo>
                    <a:pt x="7556757" y="0"/>
                  </a:moveTo>
                  <a:lnTo>
                    <a:pt x="27128" y="0"/>
                  </a:lnTo>
                  <a:lnTo>
                    <a:pt x="16569" y="2131"/>
                  </a:lnTo>
                  <a:lnTo>
                    <a:pt x="7945" y="7946"/>
                  </a:lnTo>
                  <a:lnTo>
                    <a:pt x="2131" y="16569"/>
                  </a:lnTo>
                  <a:lnTo>
                    <a:pt x="0" y="27129"/>
                  </a:lnTo>
                  <a:lnTo>
                    <a:pt x="0" y="403442"/>
                  </a:lnTo>
                  <a:lnTo>
                    <a:pt x="2131" y="414002"/>
                  </a:lnTo>
                  <a:lnTo>
                    <a:pt x="7945" y="422625"/>
                  </a:lnTo>
                  <a:lnTo>
                    <a:pt x="16569" y="428439"/>
                  </a:lnTo>
                  <a:lnTo>
                    <a:pt x="27128" y="430571"/>
                  </a:lnTo>
                  <a:lnTo>
                    <a:pt x="7556757" y="430571"/>
                  </a:lnTo>
                  <a:lnTo>
                    <a:pt x="7567317" y="428439"/>
                  </a:lnTo>
                  <a:lnTo>
                    <a:pt x="7575941" y="422625"/>
                  </a:lnTo>
                  <a:lnTo>
                    <a:pt x="7581755" y="414002"/>
                  </a:lnTo>
                  <a:lnTo>
                    <a:pt x="7583887" y="403442"/>
                  </a:lnTo>
                  <a:lnTo>
                    <a:pt x="7583887" y="27129"/>
                  </a:lnTo>
                  <a:lnTo>
                    <a:pt x="7581755" y="16569"/>
                  </a:lnTo>
                  <a:lnTo>
                    <a:pt x="7575941" y="7946"/>
                  </a:lnTo>
                  <a:lnTo>
                    <a:pt x="7567317" y="2131"/>
                  </a:lnTo>
                  <a:lnTo>
                    <a:pt x="755675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r>
                <a:rPr sz="1000" b="1">
                  <a:solidFill>
                    <a:srgbClr val="2563EB"/>
                  </a:solidFill>
                  <a:latin typeface="맑은 고딕"/>
                </a:rPr>
                <a:t>박서연 (가명)   ·   #아이둘보호자 #퇴근후병원 #지금문연곳 #검색만20분</a:t>
              </a:r>
              <a:endParaRPr>
                <a:latin typeface="+mj-lt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906881" y="1321102"/>
              <a:ext cx="7584440" cy="431165"/>
            </a:xfrm>
            <a:custGeom>
              <a:avLst/>
              <a:gdLst/>
              <a:ahLst/>
              <a:cxnLst/>
              <a:rect l="l" t="t" r="r" b="b"/>
              <a:pathLst>
                <a:path w="7584440" h="431164">
                  <a:moveTo>
                    <a:pt x="0" y="27129"/>
                  </a:moveTo>
                  <a:lnTo>
                    <a:pt x="2131" y="16569"/>
                  </a:lnTo>
                  <a:lnTo>
                    <a:pt x="7945" y="7946"/>
                  </a:lnTo>
                  <a:lnTo>
                    <a:pt x="16569" y="2131"/>
                  </a:lnTo>
                  <a:lnTo>
                    <a:pt x="27129" y="0"/>
                  </a:lnTo>
                  <a:lnTo>
                    <a:pt x="7556759" y="0"/>
                  </a:lnTo>
                  <a:lnTo>
                    <a:pt x="7567318" y="2131"/>
                  </a:lnTo>
                  <a:lnTo>
                    <a:pt x="7575941" y="7946"/>
                  </a:lnTo>
                  <a:lnTo>
                    <a:pt x="7581756" y="16569"/>
                  </a:lnTo>
                  <a:lnTo>
                    <a:pt x="7583888" y="27129"/>
                  </a:lnTo>
                  <a:lnTo>
                    <a:pt x="7583888" y="403442"/>
                  </a:lnTo>
                  <a:lnTo>
                    <a:pt x="7581756" y="414002"/>
                  </a:lnTo>
                  <a:lnTo>
                    <a:pt x="7575941" y="422625"/>
                  </a:lnTo>
                  <a:lnTo>
                    <a:pt x="7567318" y="428440"/>
                  </a:lnTo>
                  <a:lnTo>
                    <a:pt x="7556759" y="430572"/>
                  </a:lnTo>
                  <a:lnTo>
                    <a:pt x="27129" y="430572"/>
                  </a:lnTo>
                  <a:lnTo>
                    <a:pt x="16569" y="428440"/>
                  </a:lnTo>
                  <a:lnTo>
                    <a:pt x="7945" y="422625"/>
                  </a:lnTo>
                  <a:lnTo>
                    <a:pt x="2131" y="414002"/>
                  </a:lnTo>
                  <a:lnTo>
                    <a:pt x="0" y="403442"/>
                  </a:lnTo>
                  <a:lnTo>
                    <a:pt x="0" y="27129"/>
                  </a:lnTo>
                  <a:close/>
                </a:path>
              </a:pathLst>
            </a:custGeom>
            <a:ln w="12700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906881" y="1942528"/>
              <a:ext cx="7584440" cy="431165"/>
            </a:xfrm>
            <a:custGeom>
              <a:avLst/>
              <a:gdLst/>
              <a:ahLst/>
              <a:cxnLst/>
              <a:rect l="l" t="t" r="r" b="b"/>
              <a:pathLst>
                <a:path w="7584440" h="431164">
                  <a:moveTo>
                    <a:pt x="7556757" y="0"/>
                  </a:moveTo>
                  <a:lnTo>
                    <a:pt x="27128" y="0"/>
                  </a:lnTo>
                  <a:lnTo>
                    <a:pt x="16569" y="2131"/>
                  </a:lnTo>
                  <a:lnTo>
                    <a:pt x="7945" y="7946"/>
                  </a:lnTo>
                  <a:lnTo>
                    <a:pt x="2131" y="16569"/>
                  </a:lnTo>
                  <a:lnTo>
                    <a:pt x="0" y="27129"/>
                  </a:lnTo>
                  <a:lnTo>
                    <a:pt x="0" y="403443"/>
                  </a:lnTo>
                  <a:lnTo>
                    <a:pt x="2131" y="414002"/>
                  </a:lnTo>
                  <a:lnTo>
                    <a:pt x="7945" y="422625"/>
                  </a:lnTo>
                  <a:lnTo>
                    <a:pt x="16569" y="428439"/>
                  </a:lnTo>
                  <a:lnTo>
                    <a:pt x="27128" y="430571"/>
                  </a:lnTo>
                  <a:lnTo>
                    <a:pt x="7556757" y="430571"/>
                  </a:lnTo>
                  <a:lnTo>
                    <a:pt x="7567317" y="428439"/>
                  </a:lnTo>
                  <a:lnTo>
                    <a:pt x="7575941" y="422625"/>
                  </a:lnTo>
                  <a:lnTo>
                    <a:pt x="7581755" y="414002"/>
                  </a:lnTo>
                  <a:lnTo>
                    <a:pt x="7583887" y="403443"/>
                  </a:lnTo>
                  <a:lnTo>
                    <a:pt x="7583887" y="27129"/>
                  </a:lnTo>
                  <a:lnTo>
                    <a:pt x="7581755" y="16569"/>
                  </a:lnTo>
                  <a:lnTo>
                    <a:pt x="7575941" y="7946"/>
                  </a:lnTo>
                  <a:lnTo>
                    <a:pt x="7567317" y="2131"/>
                  </a:lnTo>
                  <a:lnTo>
                    <a:pt x="755675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r>
                <a:rPr sz="1000" b="0">
                  <a:solidFill>
                    <a:srgbClr val="333333"/>
                  </a:solidFill>
                  <a:latin typeface="맑은 고딕"/>
                </a:rPr>
                <a:t>퇴근 후 아이가 아플 때, 말 한마디로 '지금 문 연 · 가까운 · 맞는 진료과' 병원을 바로 찾고 싶다.</a:t>
              </a:r>
              <a:endParaRPr>
                <a:latin typeface="+mj-lt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  <a:p>
              <a:r>
                <a:rPr sz="1000" b="0">
                  <a:solidFill>
                    <a:srgbClr val="333333"/>
                  </a:solidFill>
                  <a:latin typeface="맑은 고딕"/>
                </a:rPr>
                <a:t>앱·지도·전화를 오가며 비교하지 않고, 왜 그 병원인지 근거와 길찾기까지 한 번에 받고 싶다.</a:t>
              </a:r>
            </a:p>
          </p:txBody>
        </p:sp>
        <p:sp>
          <p:nvSpPr>
            <p:cNvPr id="17" name="object 17"/>
            <p:cNvSpPr/>
            <p:nvPr/>
          </p:nvSpPr>
          <p:spPr>
            <a:xfrm>
              <a:off x="2906881" y="1942528"/>
              <a:ext cx="7584440" cy="431165"/>
            </a:xfrm>
            <a:custGeom>
              <a:avLst/>
              <a:gdLst/>
              <a:ahLst/>
              <a:cxnLst/>
              <a:rect l="l" t="t" r="r" b="b"/>
              <a:pathLst>
                <a:path w="7584440" h="431164">
                  <a:moveTo>
                    <a:pt x="0" y="27129"/>
                  </a:moveTo>
                  <a:lnTo>
                    <a:pt x="2131" y="16569"/>
                  </a:lnTo>
                  <a:lnTo>
                    <a:pt x="7945" y="7946"/>
                  </a:lnTo>
                  <a:lnTo>
                    <a:pt x="16569" y="2131"/>
                  </a:lnTo>
                  <a:lnTo>
                    <a:pt x="27129" y="0"/>
                  </a:lnTo>
                  <a:lnTo>
                    <a:pt x="7556759" y="0"/>
                  </a:lnTo>
                  <a:lnTo>
                    <a:pt x="7567318" y="2131"/>
                  </a:lnTo>
                  <a:lnTo>
                    <a:pt x="7575941" y="7946"/>
                  </a:lnTo>
                  <a:lnTo>
                    <a:pt x="7581756" y="16569"/>
                  </a:lnTo>
                  <a:lnTo>
                    <a:pt x="7583888" y="27129"/>
                  </a:lnTo>
                  <a:lnTo>
                    <a:pt x="7583888" y="403442"/>
                  </a:lnTo>
                  <a:lnTo>
                    <a:pt x="7581756" y="414002"/>
                  </a:lnTo>
                  <a:lnTo>
                    <a:pt x="7575941" y="422625"/>
                  </a:lnTo>
                  <a:lnTo>
                    <a:pt x="7567318" y="428440"/>
                  </a:lnTo>
                  <a:lnTo>
                    <a:pt x="7556759" y="430572"/>
                  </a:lnTo>
                  <a:lnTo>
                    <a:pt x="27129" y="430572"/>
                  </a:lnTo>
                  <a:lnTo>
                    <a:pt x="16569" y="428440"/>
                  </a:lnTo>
                  <a:lnTo>
                    <a:pt x="7945" y="422625"/>
                  </a:lnTo>
                  <a:lnTo>
                    <a:pt x="2131" y="414002"/>
                  </a:lnTo>
                  <a:lnTo>
                    <a:pt x="0" y="403442"/>
                  </a:lnTo>
                  <a:lnTo>
                    <a:pt x="0" y="27129"/>
                  </a:lnTo>
                  <a:close/>
                </a:path>
              </a:pathLst>
            </a:custGeom>
            <a:ln w="12700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41063" y="3822191"/>
              <a:ext cx="1207008" cy="1298447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626864" y="5376672"/>
            <a:ext cx="640080" cy="274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 marR="5080" indent="-6350">
              <a:lnSpc>
                <a:spcPct val="105000"/>
              </a:lnSpc>
              <a:spcBef>
                <a:spcPts val="100"/>
              </a:spcBef>
            </a:pPr>
            <a:r>
              <a:rPr sz="750" b="1">
                <a:solidFill>
                  <a:srgbClr val="333333"/>
                </a:solidFill>
                <a:latin typeface="맑은 고딕"/>
              </a:rPr>
              <a:t>Social / Voice</a:t>
            </a:r>
          </a:p>
        </p:txBody>
      </p:sp>
      <p:grpSp>
        <p:nvGrpSpPr>
          <p:cNvPr id="21" name="object 21"/>
          <p:cNvGrpSpPr/>
          <p:nvPr/>
        </p:nvGrpSpPr>
        <p:grpSpPr>
          <a:xfrm>
            <a:off x="1839596" y="1302052"/>
            <a:ext cx="8657590" cy="5057775"/>
            <a:chOff x="1839596" y="1302052"/>
            <a:chExt cx="8657590" cy="5057775"/>
          </a:xfrm>
        </p:grpSpPr>
        <p:sp>
          <p:nvSpPr>
            <p:cNvPr id="22" name="object 22"/>
            <p:cNvSpPr/>
            <p:nvPr/>
          </p:nvSpPr>
          <p:spPr>
            <a:xfrm>
              <a:off x="5312209" y="2578803"/>
              <a:ext cx="5179060" cy="3774440"/>
            </a:xfrm>
            <a:custGeom>
              <a:avLst/>
              <a:gdLst/>
              <a:ahLst/>
              <a:cxnLst/>
              <a:rect l="l" t="t" r="r" b="b"/>
              <a:pathLst>
                <a:path w="5179059" h="3774440">
                  <a:moveTo>
                    <a:pt x="0" y="83030"/>
                  </a:moveTo>
                  <a:lnTo>
                    <a:pt x="6524" y="50711"/>
                  </a:lnTo>
                  <a:lnTo>
                    <a:pt x="24318" y="24319"/>
                  </a:lnTo>
                  <a:lnTo>
                    <a:pt x="50711" y="6524"/>
                  </a:lnTo>
                  <a:lnTo>
                    <a:pt x="83030" y="0"/>
                  </a:lnTo>
                  <a:lnTo>
                    <a:pt x="5095530" y="0"/>
                  </a:lnTo>
                  <a:lnTo>
                    <a:pt x="5127849" y="6524"/>
                  </a:lnTo>
                  <a:lnTo>
                    <a:pt x="5154241" y="24319"/>
                  </a:lnTo>
                  <a:lnTo>
                    <a:pt x="5172035" y="50711"/>
                  </a:lnTo>
                  <a:lnTo>
                    <a:pt x="5178560" y="83030"/>
                  </a:lnTo>
                  <a:lnTo>
                    <a:pt x="5178560" y="3691072"/>
                  </a:lnTo>
                  <a:lnTo>
                    <a:pt x="5172035" y="3723390"/>
                  </a:lnTo>
                  <a:lnTo>
                    <a:pt x="5154241" y="3749783"/>
                  </a:lnTo>
                  <a:lnTo>
                    <a:pt x="5127849" y="3767577"/>
                  </a:lnTo>
                  <a:lnTo>
                    <a:pt x="5095530" y="3774102"/>
                  </a:lnTo>
                  <a:lnTo>
                    <a:pt x="83030" y="3774102"/>
                  </a:lnTo>
                  <a:lnTo>
                    <a:pt x="50711" y="3767577"/>
                  </a:lnTo>
                  <a:lnTo>
                    <a:pt x="24318" y="3749783"/>
                  </a:lnTo>
                  <a:lnTo>
                    <a:pt x="6524" y="3723390"/>
                  </a:lnTo>
                  <a:lnTo>
                    <a:pt x="0" y="3691072"/>
                  </a:lnTo>
                  <a:lnTo>
                    <a:pt x="0" y="83030"/>
                  </a:lnTo>
                  <a:close/>
                </a:path>
              </a:pathLst>
            </a:custGeom>
            <a:ln w="12700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r>
                <a:rPr sz="900" b="0">
                  <a:solidFill>
                    <a:srgbClr val="333333"/>
                  </a:solidFill>
                  <a:latin typeface="맑은 고딕"/>
                </a:rPr>
                <a:t>■ TF-IDF 분석 결과  (굿닥 앱 리뷰 3,194건 · 명사 기준)</a:t>
              </a:r>
              <a:endParaRPr>
                <a:latin typeface="+mj-lt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  <a:p>
              <a:r>
                <a:rPr sz="900" b="0">
                  <a:solidFill>
                    <a:srgbClr val="333333"/>
                  </a:solidFill>
                  <a:latin typeface="맑은 고딕"/>
                </a:rPr>
                <a:t/>
              </a:r>
            </a:p>
            <a:p>
              <a:r>
                <a:rPr sz="900" b="0">
                  <a:solidFill>
                    <a:srgbClr val="333333"/>
                  </a:solidFill>
                  <a:latin typeface="맑은 고딕"/>
                </a:rPr>
                <a:t>[부정 리뷰(별 1~2점) 상위 12개]</a:t>
              </a:r>
            </a:p>
            <a:p>
              <a:r>
                <a:rPr sz="900" b="0">
                  <a:solidFill>
                    <a:srgbClr val="333333"/>
                  </a:solidFill>
                  <a:latin typeface="맑은 고딕"/>
                </a:rPr>
                <a:t>  병원 · 예약 · 약국 · 진료 · 인증 · 본인</a:t>
              </a:r>
            </a:p>
            <a:p>
              <a:r>
                <a:rPr sz="900" b="0">
                  <a:solidFill>
                    <a:srgbClr val="333333"/>
                  </a:solidFill>
                  <a:latin typeface="맑은 고딕"/>
                </a:rPr>
                <a:t>  정보 · 접수 · 대면 · 처방전 · 전화 · 시간</a:t>
              </a:r>
            </a:p>
            <a:p>
              <a:r>
                <a:rPr sz="900" b="0">
                  <a:solidFill>
                    <a:srgbClr val="333333"/>
                  </a:solidFill>
                  <a:latin typeface="맑은 고딕"/>
                </a:rPr>
                <a:t>→ 전체는 '병원·진료·약국·친절', 부정 리뷰는 '예약·인증·접수·정보'가 앞선다.</a:t>
              </a:r>
            </a:p>
            <a:p>
              <a:r>
                <a:rPr sz="900" b="0">
                  <a:solidFill>
                    <a:srgbClr val="333333"/>
                  </a:solidFill>
                  <a:latin typeface="맑은 고딕"/>
                </a:rPr>
                <a:t>※ 건수는 그 단어가 나온 리뷰 수 (실제 수집·분석 결과)</a:t>
              </a:r>
            </a:p>
            <a:p>
              <a:r>
                <a:rPr sz="900" b="0">
                  <a:solidFill>
                    <a:srgbClr val="333333"/>
                  </a:solidFill>
                  <a:latin typeface="맑은 고딕"/>
                </a:rPr>
                <a:t/>
              </a:r>
            </a:p>
            <a:p>
              <a:r>
                <a:rPr sz="900" b="0">
                  <a:solidFill>
                    <a:srgbClr val="333333"/>
                  </a:solidFill>
                  <a:latin typeface="맑은 고딕"/>
                </a:rPr>
                <a:t>■ 이 서비스가 필요한 이유 (외부 통계 · 출처)</a:t>
              </a:r>
            </a:p>
            <a:p>
              <a:r>
                <a:rPr sz="900" b="0">
                  <a:solidFill>
                    <a:srgbClr val="333333"/>
                  </a:solidFill>
                  <a:latin typeface="맑은 고딕"/>
                </a:rPr>
                <a:t>① 밤·주말엔 갈 곳이 적다 → '지금 문 연 곳' 찾기</a:t>
              </a:r>
            </a:p>
            <a:p>
              <a:r>
                <a:rPr sz="900" b="0">
                  <a:solidFill>
                    <a:srgbClr val="333333"/>
                  </a:solidFill>
                  <a:latin typeface="맑은 고딕"/>
                </a:rPr>
                <a:t>  · 달빛어린이병원 전국 156곳뿐 (국립중앙의료원 E-Gen, 2026.9)</a:t>
              </a:r>
            </a:p>
            <a:p>
              <a:r>
                <a:rPr sz="900" b="0">
                  <a:solidFill>
                    <a:srgbClr val="333333"/>
                  </a:solidFill>
                  <a:latin typeface="맑은 고딕"/>
                </a:rPr>
                <a:t>  · 소아청소년과 폐업 89곳 &gt; 개업 59곳 (심평원 개·폐업 현황, 2025)</a:t>
              </a:r>
            </a:p>
            <a:p>
              <a:r>
                <a:rPr sz="900" b="0">
                  <a:solidFill>
                    <a:srgbClr val="333333"/>
                  </a:solidFill>
                  <a:latin typeface="맑은 고딕"/>
                </a:rPr>
                <a:t>  · 응급실 환자 53.3%가 경증 (국립중앙의료원, 2020~23 평균)</a:t>
              </a:r>
            </a:p>
            <a:p>
              <a:r>
                <a:rPr sz="900" b="0">
                  <a:solidFill>
                    <a:srgbClr val="333333"/>
                  </a:solidFill>
                  <a:latin typeface="맑은 고딕"/>
                </a:rPr>
                <a:t>② 화면 조작이 어려운 사람이 많다 → 음성으로 묻기</a:t>
              </a:r>
            </a:p>
            <a:p>
              <a:r>
                <a:rPr sz="900" b="0">
                  <a:solidFill>
                    <a:srgbClr val="333333"/>
                  </a:solidFill>
                  <a:latin typeface="맑은 고딕"/>
                </a:rPr>
                <a:t>  · 고령층 디지털 역량 56.2% (과기정통부·NIA 정보격차 실태조사, 2024)</a:t>
              </a:r>
            </a:p>
            <a:p>
              <a:r>
                <a:rPr sz="900" b="0">
                  <a:solidFill>
                    <a:srgbClr val="333333"/>
                  </a:solidFill>
                  <a:latin typeface="맑은 고딕"/>
                </a:rPr>
                <a:t>  · 65세 이상 인구 20% 돌파 (행정안전부 주민등록인구, 2024.12)</a:t>
              </a:r>
            </a:p>
            <a:p>
              <a:r>
                <a:rPr sz="900" b="0">
                  <a:solidFill>
                    <a:srgbClr val="333333"/>
                  </a:solidFill>
                  <a:latin typeface="맑은 고딕"/>
                </a:rPr>
                <a:t>③ 이미 쓰는 지도로 바로 간다 → 네이버 지도 길찾기 연결</a:t>
              </a:r>
            </a:p>
            <a:p>
              <a:r>
                <a:rPr sz="900" b="0">
                  <a:solidFill>
                    <a:srgbClr val="333333"/>
                  </a:solidFill>
                  <a:latin typeface="맑은 고딕"/>
                </a:rPr>
                <a:t>  · 지도 앱 이용률 네이버지도 68.3%로 1위 (엠브레인 패널, 2024.9)</a:t>
              </a:r>
            </a:p>
            <a:p>
              <a:r>
                <a:rPr sz="900" b="0">
                  <a:solidFill>
                    <a:srgbClr val="333333"/>
                  </a:solidFill>
                  <a:latin typeface="맑은 고딕"/>
                </a:rPr>
                <a:t>④ 진료시간은 공공데이터로 → 심평원 병원정보 API</a:t>
              </a:r>
            </a:p>
            <a:p>
              <a:r>
                <a:rPr sz="900" b="0">
                  <a:solidFill>
                    <a:srgbClr val="333333"/>
                  </a:solidFill>
                  <a:latin typeface="맑은 고딕"/>
                </a:rPr>
                <a:t>  · 네이버 지역검색 API는 영업시간을 주지 않음 (팀 직접 확인)</a:t>
              </a:r>
            </a:p>
            <a:p>
              <a:r>
                <a:rPr sz="900" b="0">
                  <a:solidFill>
                    <a:srgbClr val="333333"/>
                  </a:solidFill>
                  <a:latin typeface="맑은 고딕"/>
                </a:rPr>
                <a:t>  · 심평원 API로 전국 병원 79,819곳 직접 수집 (2026.9)</a:t>
              </a:r>
            </a:p>
          </p:txBody>
        </p:sp>
        <p:sp>
          <p:nvSpPr>
            <p:cNvPr id="24" name="object 24"/>
            <p:cNvSpPr/>
            <p:nvPr/>
          </p:nvSpPr>
          <p:spPr>
            <a:xfrm>
              <a:off x="4781756" y="4475757"/>
              <a:ext cx="295910" cy="0"/>
            </a:xfrm>
            <a:custGeom>
              <a:avLst/>
              <a:gdLst/>
              <a:ahLst/>
              <a:cxnLst/>
              <a:rect l="l" t="t" r="r" b="b"/>
              <a:pathLst>
                <a:path w="295910">
                  <a:moveTo>
                    <a:pt x="295390" y="1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1858646" y="1321102"/>
              <a:ext cx="902335" cy="431165"/>
            </a:xfrm>
            <a:custGeom>
              <a:avLst/>
              <a:gdLst/>
              <a:ahLst/>
              <a:cxnLst/>
              <a:rect l="l" t="t" r="r" b="b"/>
              <a:pathLst>
                <a:path w="902335" h="431164">
                  <a:moveTo>
                    <a:pt x="830375" y="0"/>
                  </a:moveTo>
                  <a:lnTo>
                    <a:pt x="71763" y="0"/>
                  </a:lnTo>
                  <a:lnTo>
                    <a:pt x="43830" y="5639"/>
                  </a:lnTo>
                  <a:lnTo>
                    <a:pt x="21019" y="21019"/>
                  </a:lnTo>
                  <a:lnTo>
                    <a:pt x="5639" y="43830"/>
                  </a:lnTo>
                  <a:lnTo>
                    <a:pt x="0" y="71763"/>
                  </a:lnTo>
                  <a:lnTo>
                    <a:pt x="0" y="358808"/>
                  </a:lnTo>
                  <a:lnTo>
                    <a:pt x="5639" y="386741"/>
                  </a:lnTo>
                  <a:lnTo>
                    <a:pt x="21019" y="409552"/>
                  </a:lnTo>
                  <a:lnTo>
                    <a:pt x="43830" y="424932"/>
                  </a:lnTo>
                  <a:lnTo>
                    <a:pt x="71763" y="430571"/>
                  </a:lnTo>
                  <a:lnTo>
                    <a:pt x="830375" y="430571"/>
                  </a:lnTo>
                  <a:lnTo>
                    <a:pt x="858309" y="424932"/>
                  </a:lnTo>
                  <a:lnTo>
                    <a:pt x="881120" y="409552"/>
                  </a:lnTo>
                  <a:lnTo>
                    <a:pt x="896499" y="386741"/>
                  </a:lnTo>
                  <a:lnTo>
                    <a:pt x="902139" y="358808"/>
                  </a:lnTo>
                  <a:lnTo>
                    <a:pt x="902139" y="71763"/>
                  </a:lnTo>
                  <a:lnTo>
                    <a:pt x="896499" y="43830"/>
                  </a:lnTo>
                  <a:lnTo>
                    <a:pt x="881120" y="21019"/>
                  </a:lnTo>
                  <a:lnTo>
                    <a:pt x="858309" y="5639"/>
                  </a:lnTo>
                  <a:lnTo>
                    <a:pt x="8303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dirty="0" sz="1200">
                  <a:solidFill>
                    <a:schemeClr val="bg1"/>
                  </a:solidFill>
                  <a:latin typeface="+mj-lt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페르소나</a:t>
              </a:r>
              <a:endParaRPr dirty="0">
                <a:solidFill>
                  <a:schemeClr val="bg1"/>
                </a:solidFill>
                <a:latin typeface="+mj-lt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1858646" y="1321102"/>
              <a:ext cx="902335" cy="431165"/>
            </a:xfrm>
            <a:custGeom>
              <a:avLst/>
              <a:gdLst/>
              <a:ahLst/>
              <a:cxnLst/>
              <a:rect l="l" t="t" r="r" b="b"/>
              <a:pathLst>
                <a:path w="902335" h="431164">
                  <a:moveTo>
                    <a:pt x="0" y="71763"/>
                  </a:moveTo>
                  <a:lnTo>
                    <a:pt x="5639" y="43830"/>
                  </a:lnTo>
                  <a:lnTo>
                    <a:pt x="21019" y="21019"/>
                  </a:lnTo>
                  <a:lnTo>
                    <a:pt x="43830" y="5639"/>
                  </a:lnTo>
                  <a:lnTo>
                    <a:pt x="71763" y="0"/>
                  </a:lnTo>
                  <a:lnTo>
                    <a:pt x="830376" y="0"/>
                  </a:lnTo>
                  <a:lnTo>
                    <a:pt x="858309" y="5639"/>
                  </a:lnTo>
                  <a:lnTo>
                    <a:pt x="881120" y="21019"/>
                  </a:lnTo>
                  <a:lnTo>
                    <a:pt x="896500" y="43830"/>
                  </a:lnTo>
                  <a:lnTo>
                    <a:pt x="902140" y="71763"/>
                  </a:lnTo>
                  <a:lnTo>
                    <a:pt x="902140" y="358808"/>
                  </a:lnTo>
                  <a:lnTo>
                    <a:pt x="896500" y="386741"/>
                  </a:lnTo>
                  <a:lnTo>
                    <a:pt x="881120" y="409552"/>
                  </a:lnTo>
                  <a:lnTo>
                    <a:pt x="858309" y="424932"/>
                  </a:lnTo>
                  <a:lnTo>
                    <a:pt x="830376" y="430572"/>
                  </a:lnTo>
                  <a:lnTo>
                    <a:pt x="71763" y="430572"/>
                  </a:lnTo>
                  <a:lnTo>
                    <a:pt x="43830" y="424932"/>
                  </a:lnTo>
                  <a:lnTo>
                    <a:pt x="21019" y="409552"/>
                  </a:lnTo>
                  <a:lnTo>
                    <a:pt x="5639" y="386741"/>
                  </a:lnTo>
                  <a:lnTo>
                    <a:pt x="0" y="358808"/>
                  </a:lnTo>
                  <a:lnTo>
                    <a:pt x="0" y="717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1858646" y="1942528"/>
              <a:ext cx="902335" cy="431165"/>
            </a:xfrm>
            <a:custGeom>
              <a:avLst/>
              <a:gdLst/>
              <a:ahLst/>
              <a:cxnLst/>
              <a:rect l="l" t="t" r="r" b="b"/>
              <a:pathLst>
                <a:path w="902335" h="431164">
                  <a:moveTo>
                    <a:pt x="830375" y="0"/>
                  </a:moveTo>
                  <a:lnTo>
                    <a:pt x="71763" y="0"/>
                  </a:lnTo>
                  <a:lnTo>
                    <a:pt x="43830" y="5639"/>
                  </a:lnTo>
                  <a:lnTo>
                    <a:pt x="21019" y="21019"/>
                  </a:lnTo>
                  <a:lnTo>
                    <a:pt x="5639" y="43830"/>
                  </a:lnTo>
                  <a:lnTo>
                    <a:pt x="0" y="71763"/>
                  </a:lnTo>
                  <a:lnTo>
                    <a:pt x="0" y="358809"/>
                  </a:lnTo>
                  <a:lnTo>
                    <a:pt x="5639" y="386742"/>
                  </a:lnTo>
                  <a:lnTo>
                    <a:pt x="21019" y="409552"/>
                  </a:lnTo>
                  <a:lnTo>
                    <a:pt x="43830" y="424932"/>
                  </a:lnTo>
                  <a:lnTo>
                    <a:pt x="71763" y="430571"/>
                  </a:lnTo>
                  <a:lnTo>
                    <a:pt x="830375" y="430571"/>
                  </a:lnTo>
                  <a:lnTo>
                    <a:pt x="858309" y="424932"/>
                  </a:lnTo>
                  <a:lnTo>
                    <a:pt x="881120" y="409552"/>
                  </a:lnTo>
                  <a:lnTo>
                    <a:pt x="896499" y="386742"/>
                  </a:lnTo>
                  <a:lnTo>
                    <a:pt x="902139" y="358809"/>
                  </a:lnTo>
                  <a:lnTo>
                    <a:pt x="902139" y="71763"/>
                  </a:lnTo>
                  <a:lnTo>
                    <a:pt x="896499" y="43830"/>
                  </a:lnTo>
                  <a:lnTo>
                    <a:pt x="881120" y="21019"/>
                  </a:lnTo>
                  <a:lnTo>
                    <a:pt x="858309" y="5639"/>
                  </a:lnTo>
                  <a:lnTo>
                    <a:pt x="8303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 anchor="ctr"/>
            <a:lstStyle/>
            <a:p>
              <a:pPr algn="ctr"/>
              <a:r>
                <a:rPr lang="en-US" dirty="0" sz="120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Desire</a:t>
              </a:r>
              <a:endParaRPr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1858646" y="1942528"/>
              <a:ext cx="902335" cy="431165"/>
            </a:xfrm>
            <a:custGeom>
              <a:avLst/>
              <a:gdLst/>
              <a:ahLst/>
              <a:cxnLst/>
              <a:rect l="l" t="t" r="r" b="b"/>
              <a:pathLst>
                <a:path w="902335" h="431164">
                  <a:moveTo>
                    <a:pt x="0" y="71763"/>
                  </a:moveTo>
                  <a:lnTo>
                    <a:pt x="5639" y="43830"/>
                  </a:lnTo>
                  <a:lnTo>
                    <a:pt x="21019" y="21019"/>
                  </a:lnTo>
                  <a:lnTo>
                    <a:pt x="43830" y="5639"/>
                  </a:lnTo>
                  <a:lnTo>
                    <a:pt x="71763" y="0"/>
                  </a:lnTo>
                  <a:lnTo>
                    <a:pt x="830376" y="0"/>
                  </a:lnTo>
                  <a:lnTo>
                    <a:pt x="858309" y="5639"/>
                  </a:lnTo>
                  <a:lnTo>
                    <a:pt x="881120" y="21019"/>
                  </a:lnTo>
                  <a:lnTo>
                    <a:pt x="896500" y="43830"/>
                  </a:lnTo>
                  <a:lnTo>
                    <a:pt x="902140" y="71763"/>
                  </a:lnTo>
                  <a:lnTo>
                    <a:pt x="902140" y="358808"/>
                  </a:lnTo>
                  <a:lnTo>
                    <a:pt x="896500" y="386741"/>
                  </a:lnTo>
                  <a:lnTo>
                    <a:pt x="881120" y="409552"/>
                  </a:lnTo>
                  <a:lnTo>
                    <a:pt x="858309" y="424932"/>
                  </a:lnTo>
                  <a:lnTo>
                    <a:pt x="830376" y="430572"/>
                  </a:lnTo>
                  <a:lnTo>
                    <a:pt x="71763" y="430572"/>
                  </a:lnTo>
                  <a:lnTo>
                    <a:pt x="43830" y="424932"/>
                  </a:lnTo>
                  <a:lnTo>
                    <a:pt x="21019" y="409552"/>
                  </a:lnTo>
                  <a:lnTo>
                    <a:pt x="5639" y="386741"/>
                  </a:lnTo>
                  <a:lnTo>
                    <a:pt x="0" y="358808"/>
                  </a:lnTo>
                  <a:lnTo>
                    <a:pt x="0" y="7176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3429001"/>
            <a:ext cx="12192000" cy="3429000"/>
          </a:xfrm>
          <a:custGeom>
            <a:avLst/>
            <a:gdLst/>
            <a:ahLst/>
            <a:cxnLst/>
            <a:rect l="l" t="t" r="r" b="b"/>
            <a:pathLst>
              <a:path w="12192000" h="3429000">
                <a:moveTo>
                  <a:pt x="12192000" y="0"/>
                </a:moveTo>
                <a:lnTo>
                  <a:pt x="11944147" y="0"/>
                </a:lnTo>
                <a:lnTo>
                  <a:pt x="11944147" y="3238030"/>
                </a:lnTo>
                <a:lnTo>
                  <a:pt x="247840" y="3238030"/>
                </a:lnTo>
                <a:lnTo>
                  <a:pt x="247840" y="0"/>
                </a:lnTo>
                <a:lnTo>
                  <a:pt x="0" y="0"/>
                </a:lnTo>
                <a:lnTo>
                  <a:pt x="0" y="3238030"/>
                </a:lnTo>
                <a:lnTo>
                  <a:pt x="0" y="3429000"/>
                </a:lnTo>
                <a:lnTo>
                  <a:pt x="247840" y="3429000"/>
                </a:lnTo>
                <a:lnTo>
                  <a:pt x="11944147" y="3429000"/>
                </a:lnTo>
                <a:lnTo>
                  <a:pt x="12192000" y="3429000"/>
                </a:lnTo>
                <a:lnTo>
                  <a:pt x="12192000" y="3238030"/>
                </a:lnTo>
                <a:lnTo>
                  <a:pt x="12192000" y="0"/>
                </a:lnTo>
                <a:close/>
              </a:path>
            </a:pathLst>
          </a:custGeom>
          <a:solidFill>
            <a:srgbClr val="58B6C0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12192000" cy="3441700"/>
          </a:xfrm>
          <a:custGeom>
            <a:avLst/>
            <a:gdLst/>
            <a:ahLst/>
            <a:cxnLst/>
            <a:rect l="l" t="t" r="r" b="b"/>
            <a:pathLst>
              <a:path w="12192000" h="3441700">
                <a:moveTo>
                  <a:pt x="12192000" y="0"/>
                </a:moveTo>
                <a:lnTo>
                  <a:pt x="0" y="0"/>
                </a:lnTo>
                <a:lnTo>
                  <a:pt x="0" y="12204"/>
                </a:lnTo>
                <a:lnTo>
                  <a:pt x="0" y="203174"/>
                </a:lnTo>
                <a:lnTo>
                  <a:pt x="0" y="3441204"/>
                </a:lnTo>
                <a:lnTo>
                  <a:pt x="247840" y="3441204"/>
                </a:lnTo>
                <a:lnTo>
                  <a:pt x="247840" y="203174"/>
                </a:lnTo>
                <a:lnTo>
                  <a:pt x="11944147" y="203174"/>
                </a:lnTo>
                <a:lnTo>
                  <a:pt x="11944147" y="3441204"/>
                </a:lnTo>
                <a:lnTo>
                  <a:pt x="12192000" y="3441204"/>
                </a:lnTo>
                <a:lnTo>
                  <a:pt x="12192000" y="203174"/>
                </a:lnTo>
                <a:lnTo>
                  <a:pt x="12192000" y="12204"/>
                </a:lnTo>
                <a:lnTo>
                  <a:pt x="121920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21287" y="1335024"/>
            <a:ext cx="1072515" cy="960120"/>
          </a:xfrm>
          <a:custGeom>
            <a:avLst/>
            <a:gdLst/>
            <a:ahLst/>
            <a:cxnLst/>
            <a:rect l="l" t="t" r="r" b="b"/>
            <a:pathLst>
              <a:path w="1072514" h="955675">
                <a:moveTo>
                  <a:pt x="0" y="0"/>
                </a:moveTo>
                <a:lnTo>
                  <a:pt x="1072512" y="0"/>
                </a:lnTo>
                <a:lnTo>
                  <a:pt x="1072512" y="955202"/>
                </a:lnTo>
                <a:lnTo>
                  <a:pt x="0" y="95520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r>
              <a:rPr sz="900" b="0">
                <a:solidFill>
                  <a:srgbClr val="333333"/>
                </a:solidFill>
                <a:latin typeface="맑은 고딕"/>
              </a:rPr>
              <a:t>박서연 (가명)</a:t>
            </a:r>
            <a:endParaRPr>
              <a:latin typeface="+mj-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65154" y="2437011"/>
            <a:ext cx="2091689" cy="544195"/>
          </a:xfrm>
          <a:custGeom>
            <a:avLst/>
            <a:gdLst/>
            <a:ahLst/>
            <a:cxnLst/>
            <a:rect l="l" t="t" r="r" b="b"/>
            <a:pathLst>
              <a:path w="2091689" h="544194">
                <a:moveTo>
                  <a:pt x="1941234" y="0"/>
                </a:moveTo>
                <a:lnTo>
                  <a:pt x="1941234" y="10993"/>
                </a:lnTo>
                <a:lnTo>
                  <a:pt x="0" y="10993"/>
                </a:lnTo>
                <a:lnTo>
                  <a:pt x="0" y="532952"/>
                </a:lnTo>
                <a:lnTo>
                  <a:pt x="1941234" y="532952"/>
                </a:lnTo>
                <a:lnTo>
                  <a:pt x="1941234" y="543946"/>
                </a:lnTo>
                <a:lnTo>
                  <a:pt x="2091100" y="271974"/>
                </a:lnTo>
                <a:lnTo>
                  <a:pt x="1941234" y="0"/>
                </a:lnTo>
                <a:close/>
              </a:path>
            </a:pathLst>
          </a:custGeom>
          <a:solidFill>
            <a:srgbClr val="C7C7C7"/>
          </a:solidFill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400" dirty="0"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</a:rPr>
              <a:t>인구통계학적</a:t>
            </a:r>
            <a:endParaRPr lang="en-US" altLang="ko-KR" sz="1400" dirty="0"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/>
            <a:r>
              <a:rPr lang="en-US" sz="1400" dirty="0"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</a:rPr>
              <a:t>(Static </a:t>
            </a:r>
            <a:r>
              <a:rPr lang="en-US" sz="1400" dirty="0" err="1"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</a:rPr>
              <a:t>Presona</a:t>
            </a:r>
            <a:r>
              <a:rPr lang="en-US" sz="1400" dirty="0"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sz="1400" dirty="0"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131779" y="2425846"/>
            <a:ext cx="2091689" cy="544195"/>
          </a:xfrm>
          <a:custGeom>
            <a:avLst/>
            <a:gdLst/>
            <a:ahLst/>
            <a:cxnLst/>
            <a:rect l="l" t="t" r="r" b="b"/>
            <a:pathLst>
              <a:path w="2091689" h="544194">
                <a:moveTo>
                  <a:pt x="1941234" y="0"/>
                </a:moveTo>
                <a:lnTo>
                  <a:pt x="1941234" y="10993"/>
                </a:lnTo>
                <a:lnTo>
                  <a:pt x="0" y="10993"/>
                </a:lnTo>
                <a:lnTo>
                  <a:pt x="0" y="532952"/>
                </a:lnTo>
                <a:lnTo>
                  <a:pt x="1941234" y="532952"/>
                </a:lnTo>
                <a:lnTo>
                  <a:pt x="1941234" y="543946"/>
                </a:lnTo>
                <a:lnTo>
                  <a:pt x="2091100" y="271974"/>
                </a:lnTo>
                <a:lnTo>
                  <a:pt x="1941234" y="0"/>
                </a:lnTo>
                <a:close/>
              </a:path>
            </a:pathLst>
          </a:custGeom>
          <a:solidFill>
            <a:srgbClr val="ABABAB"/>
          </a:solidFill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400" dirty="0"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</a:rPr>
              <a:t>상황 맥락적</a:t>
            </a:r>
            <a:endParaRPr lang="en-US" altLang="ko-KR" sz="1400" dirty="0"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/>
            <a:r>
              <a:rPr lang="en-US" altLang="ko-KR" sz="1400" dirty="0"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</a:rPr>
              <a:t>(Dynamic Persona)</a:t>
            </a:r>
          </a:p>
        </p:txBody>
      </p:sp>
      <p:sp>
        <p:nvSpPr>
          <p:cNvPr id="10" name="object 10"/>
          <p:cNvSpPr/>
          <p:nvPr/>
        </p:nvSpPr>
        <p:spPr>
          <a:xfrm>
            <a:off x="6498404" y="2434167"/>
            <a:ext cx="2277745" cy="544195"/>
          </a:xfrm>
          <a:custGeom>
            <a:avLst/>
            <a:gdLst/>
            <a:ahLst/>
            <a:cxnLst/>
            <a:rect l="l" t="t" r="r" b="b"/>
            <a:pathLst>
              <a:path w="2277745" h="544194">
                <a:moveTo>
                  <a:pt x="2127785" y="0"/>
                </a:moveTo>
                <a:lnTo>
                  <a:pt x="2127785" y="10991"/>
                </a:lnTo>
                <a:lnTo>
                  <a:pt x="0" y="10991"/>
                </a:lnTo>
                <a:lnTo>
                  <a:pt x="0" y="532952"/>
                </a:lnTo>
                <a:lnTo>
                  <a:pt x="2127785" y="532952"/>
                </a:lnTo>
                <a:lnTo>
                  <a:pt x="2127785" y="543946"/>
                </a:lnTo>
                <a:lnTo>
                  <a:pt x="2277654" y="271974"/>
                </a:lnTo>
                <a:lnTo>
                  <a:pt x="2127785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</a:rPr>
              <a:t>심층적</a:t>
            </a:r>
            <a:endParaRPr lang="en-US" altLang="ko-KR" sz="1400" dirty="0">
              <a:solidFill>
                <a:schemeClr val="bg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</a:rPr>
              <a:t>(Meta Persona)</a:t>
            </a:r>
            <a:endParaRPr sz="1400" dirty="0">
              <a:solidFill>
                <a:schemeClr val="bg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85647" y="1339418"/>
            <a:ext cx="1428115" cy="961390"/>
          </a:xfrm>
          <a:custGeom>
            <a:avLst/>
            <a:gdLst/>
            <a:ahLst/>
            <a:cxnLst/>
            <a:rect l="l" t="t" r="r" b="b"/>
            <a:pathLst>
              <a:path w="1428114" h="961389">
                <a:moveTo>
                  <a:pt x="0" y="0"/>
                </a:moveTo>
                <a:lnTo>
                  <a:pt x="1427938" y="0"/>
                </a:lnTo>
                <a:lnTo>
                  <a:pt x="1427938" y="961063"/>
                </a:lnTo>
                <a:lnTo>
                  <a:pt x="0" y="96106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r>
              <a:rPr sz="900" b="0">
                <a:solidFill>
                  <a:srgbClr val="333333"/>
                </a:solidFill>
                <a:latin typeface="맑은 고딕"/>
              </a:rPr>
              <a:t>#아이둘보호자 #퇴근후병원 #지금문연곳 #검색만20분</a:t>
            </a:r>
            <a:endParaRPr>
              <a:latin typeface="+mj-l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39473" y="1134871"/>
            <a:ext cx="119570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035" indent="-140335">
              <a:lnSpc>
                <a:spcPct val="100000"/>
              </a:lnSpc>
              <a:spcBef>
                <a:spcPts val="100"/>
              </a:spcBef>
              <a:buChar char="•"/>
              <a:tabLst>
                <a:tab pos="153035" algn="l"/>
              </a:tabLst>
            </a:pPr>
            <a:r>
              <a:rPr lang="ko-KR" altLang="en-US" sz="900" dirty="0">
                <a:latin typeface="+mj-lt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페르소나 </a:t>
            </a:r>
            <a:r>
              <a:rPr lang="en-US" altLang="ko-KR" sz="900" dirty="0">
                <a:latin typeface="+mj-lt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Hash Tag</a:t>
            </a:r>
            <a:endParaRPr sz="900" dirty="0">
              <a:latin typeface="+mj-lt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904969" y="2488941"/>
            <a:ext cx="1706880" cy="455253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82550" rIns="0" bIns="0" rtlCol="0" anchor="ctr">
            <a:spAutoFit/>
          </a:bodyPr>
          <a:lstStyle/>
          <a:p>
            <a:pPr marL="310515" marR="302895" algn="ctr">
              <a:lnSpc>
                <a:spcPts val="1390"/>
              </a:lnSpc>
              <a:spcBef>
                <a:spcPts val="60"/>
              </a:spcBef>
            </a:pPr>
            <a:r>
              <a:rPr lang="ko-KR" altLang="en-US" sz="1200" dirty="0">
                <a:solidFill>
                  <a:srgbClr val="FFFFFF"/>
                </a:solidFill>
                <a:latin typeface="+mj-lt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이 문제와 관련된</a:t>
            </a:r>
            <a:endParaRPr lang="en-US" altLang="ko-KR" sz="1200" dirty="0">
              <a:solidFill>
                <a:srgbClr val="FFFFFF"/>
              </a:solidFill>
              <a:latin typeface="+mj-lt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10515" marR="302895" algn="ctr">
              <a:lnSpc>
                <a:spcPts val="1390"/>
              </a:lnSpc>
              <a:spcBef>
                <a:spcPts val="60"/>
              </a:spcBef>
            </a:pPr>
            <a:r>
              <a:rPr lang="ko-KR" altLang="en-US" sz="1200" dirty="0">
                <a:solidFill>
                  <a:srgbClr val="FFFFFF"/>
                </a:solidFill>
                <a:latin typeface="+mj-lt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추가 분석 포인트</a:t>
            </a:r>
            <a:endParaRPr sz="1200" dirty="0">
              <a:latin typeface="+mj-lt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45809" y="1134871"/>
            <a:ext cx="38798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035" indent="-140335">
              <a:lnSpc>
                <a:spcPct val="100000"/>
              </a:lnSpc>
              <a:spcBef>
                <a:spcPts val="100"/>
              </a:spcBef>
              <a:buChar char="•"/>
              <a:tabLst>
                <a:tab pos="153035" algn="l"/>
              </a:tabLst>
            </a:pPr>
            <a:r>
              <a:rPr lang="ko-KR" altLang="en-US" sz="900" dirty="0">
                <a:latin typeface="+mj-lt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이름</a:t>
            </a:r>
            <a:endParaRPr sz="900" dirty="0">
              <a:latin typeface="+mj-lt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470158" y="1337817"/>
            <a:ext cx="2290445" cy="974090"/>
            <a:chOff x="4470158" y="1337817"/>
            <a:chExt cx="2290445" cy="974090"/>
          </a:xfrm>
        </p:grpSpPr>
        <p:sp>
          <p:nvSpPr>
            <p:cNvPr id="27" name="object 27"/>
            <p:cNvSpPr/>
            <p:nvPr/>
          </p:nvSpPr>
          <p:spPr>
            <a:xfrm>
              <a:off x="4476508" y="1344167"/>
              <a:ext cx="2277745" cy="961390"/>
            </a:xfrm>
            <a:custGeom>
              <a:avLst/>
              <a:gdLst/>
              <a:ahLst/>
              <a:cxnLst/>
              <a:rect l="l" t="t" r="r" b="b"/>
              <a:pathLst>
                <a:path w="2277745" h="961389">
                  <a:moveTo>
                    <a:pt x="0" y="0"/>
                  </a:moveTo>
                  <a:lnTo>
                    <a:pt x="2277654" y="0"/>
                  </a:lnTo>
                  <a:lnTo>
                    <a:pt x="2277654" y="961063"/>
                  </a:lnTo>
                  <a:lnTo>
                    <a:pt x="0" y="96106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530333" y="1137919"/>
            <a:ext cx="191833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4460" indent="-111760">
              <a:lnSpc>
                <a:spcPct val="100000"/>
              </a:lnSpc>
              <a:spcBef>
                <a:spcPts val="100"/>
              </a:spcBef>
              <a:buChar char="•"/>
              <a:tabLst>
                <a:tab pos="124460" algn="l"/>
              </a:tabLst>
            </a:pPr>
            <a:r>
              <a:rPr lang="ko-KR" altLang="en-US" sz="750" dirty="0">
                <a:latin typeface="+mj-lt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이 페르소나가 해결하고자 하는 문제</a:t>
            </a:r>
            <a:endParaRPr sz="900" dirty="0">
              <a:latin typeface="+mj-lt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586817" y="2370935"/>
            <a:ext cx="9041130" cy="0"/>
          </a:xfrm>
          <a:custGeom>
            <a:avLst/>
            <a:gdLst/>
            <a:ahLst/>
            <a:cxnLst/>
            <a:rect l="l" t="t" r="r" b="b"/>
            <a:pathLst>
              <a:path w="9041130">
                <a:moveTo>
                  <a:pt x="0" y="0"/>
                </a:moveTo>
                <a:lnTo>
                  <a:pt x="9040992" y="1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26909" y="3049553"/>
            <a:ext cx="2225040" cy="3430747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116205">
              <a:lnSpc>
                <a:spcPct val="150000"/>
              </a:lnSpc>
              <a:spcBef>
                <a:spcPts val="860"/>
              </a:spcBef>
            </a:pPr>
            <a:r>
              <a:rPr sz="900" b="0">
                <a:solidFill>
                  <a:srgbClr val="333333"/>
                </a:solidFill>
                <a:latin typeface="맑은 고딕"/>
              </a:rPr>
              <a:t>1. 성별 : 여성</a:t>
            </a:r>
            <a:endParaRPr lang="en-US" altLang="ko-KR" sz="1000" dirty="0">
              <a:latin typeface="+mj-lt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2. 나이 : 30대 중반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3. 직업 : 직장인 (퇴근 18:30 전후)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4. 재산 / 월 소득 : 맞벌이 가구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5. 가족 구성 : 배우자 + 미취학 자녀 2명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6. 준거 집단 : 지역 맘카페, 직장 동료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7. 신체 / 건강 : 본인은 건강, 자녀가 잔병치레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8. 취미 : 짧은 산책, 유튜브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9. MBTI : 미확인 (수집 데이터에 없음)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10. 식생활 : 배달·간편식 비중 높음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6507417" y="3052484"/>
            <a:ext cx="2225040" cy="27728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116205">
              <a:lnSpc>
                <a:spcPct val="150000"/>
              </a:lnSpc>
              <a:spcBef>
                <a:spcPts val="860"/>
              </a:spcBef>
            </a:pPr>
            <a:r>
              <a:rPr sz="850" b="0">
                <a:solidFill>
                  <a:srgbClr val="333333"/>
                </a:solidFill>
                <a:latin typeface="맑은 고딕"/>
              </a:rPr>
              <a:t>1. 직면하고 있는 가장 중요한 모순은?</a:t>
            </a:r>
          </a:p>
          <a:p>
            <a:r>
              <a:rPr sz="850" b="0">
                <a:solidFill>
                  <a:srgbClr val="333333"/>
                </a:solidFill>
                <a:latin typeface="맑은 고딕"/>
              </a:rPr>
              <a:t>   : 정보는 넘치는데 '내 상황'에 맞는 답이 없다</a:t>
            </a:r>
          </a:p>
          <a:p>
            <a:r>
              <a:rPr sz="850" b="0">
                <a:solidFill>
                  <a:srgbClr val="333333"/>
                </a:solidFill>
                <a:latin typeface="맑은 고딕"/>
              </a:rPr>
              <a:t>2. 4D 공간 별 가장 중요한 욕구는?</a:t>
            </a:r>
          </a:p>
          <a:p>
            <a:r>
              <a:rPr sz="850" b="0">
                <a:solidFill>
                  <a:srgbClr val="333333"/>
                </a:solidFill>
                <a:latin typeface="맑은 고딕"/>
              </a:rPr>
              <a:t>   - 정신적 : 잘못 고르지 않았다는 확신</a:t>
            </a:r>
          </a:p>
          <a:p>
            <a:r>
              <a:rPr sz="850" b="0">
                <a:solidFill>
                  <a:srgbClr val="333333"/>
                </a:solidFill>
                <a:latin typeface="맑은 고딕"/>
              </a:rPr>
              <a:t>   - 물리적 : 지금, 가까이, 열려 있는 곳</a:t>
            </a:r>
          </a:p>
          <a:p>
            <a:r>
              <a:rPr sz="850" b="0">
                <a:solidFill>
                  <a:srgbClr val="333333"/>
                </a:solidFill>
                <a:latin typeface="맑은 고딕"/>
              </a:rPr>
              <a:t>   - 문화적 : 아이에게 최선을 다했다는 감각</a:t>
            </a:r>
          </a:p>
          <a:p>
            <a:r>
              <a:rPr sz="850" b="0">
                <a:solidFill>
                  <a:srgbClr val="333333"/>
                </a:solidFill>
                <a:latin typeface="맑은 고딕"/>
              </a:rPr>
              <a:t>   - 사회적 : 남에게 물어보지 않고 스스로 해결</a:t>
            </a:r>
          </a:p>
          <a:p>
            <a:r>
              <a:rPr sz="850" b="0">
                <a:solidFill>
                  <a:srgbClr val="333333"/>
                </a:solidFill>
                <a:latin typeface="맑은 고딕"/>
              </a:rPr>
              <a:t>3. 가장 중요한 가치 키워드는?</a:t>
            </a:r>
          </a:p>
          <a:p>
            <a:r>
              <a:rPr sz="850" b="0">
                <a:solidFill>
                  <a:srgbClr val="333333"/>
                </a:solidFill>
                <a:latin typeface="맑은 고딕"/>
              </a:rPr>
              <a:t>   : 확신 · 속도 · 정확</a:t>
            </a:r>
          </a:p>
          <a:p>
            <a:r>
              <a:rPr sz="850" b="0">
                <a:solidFill>
                  <a:srgbClr val="333333"/>
                </a:solidFill>
                <a:latin typeface="맑은 고딕"/>
              </a:rPr>
              <a:t>4. 가장 발달/미성숙한 라인은?</a:t>
            </a:r>
          </a:p>
          <a:p>
            <a:r>
              <a:rPr sz="850" b="0">
                <a:solidFill>
                  <a:srgbClr val="333333"/>
                </a:solidFill>
                <a:latin typeface="맑은 고딕"/>
              </a:rPr>
              <a:t>   : 검색은 익숙하나 정보 진위 판단은 어려움</a:t>
            </a:r>
          </a:p>
          <a:p>
            <a:r>
              <a:rPr sz="850" b="0">
                <a:solidFill>
                  <a:srgbClr val="333333"/>
                </a:solidFill>
                <a:latin typeface="맑은 고딕"/>
              </a:rPr>
              <a:t>5. 가장 생기있게 만드는 모멘트는?</a:t>
            </a:r>
          </a:p>
          <a:p>
            <a:r>
              <a:rPr sz="850" b="0">
                <a:solidFill>
                  <a:srgbClr val="333333"/>
                </a:solidFill>
                <a:latin typeface="맑은 고딕"/>
              </a:rPr>
              <a:t>   : 한 번에 맞는 병원으로 갔을 때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5131987" y="518969"/>
            <a:ext cx="1930400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ko-KR" altLang="en-US" sz="1400" b="0" dirty="0"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대표 페르소나 정의</a:t>
            </a:r>
            <a:endParaRPr sz="1900" dirty="0"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4" name="object 28">
            <a:extLst>
              <a:ext uri="{FF2B5EF4-FFF2-40B4-BE49-F238E27FC236}">
                <a16:creationId xmlns:a16="http://schemas.microsoft.com/office/drawing/2014/main" id="{2180BE40-384A-42E3-BB7F-99765DADF051}"/>
              </a:ext>
            </a:extLst>
          </p:cNvPr>
          <p:cNvSpPr txBox="1"/>
          <p:nvPr/>
        </p:nvSpPr>
        <p:spPr>
          <a:xfrm>
            <a:off x="6857814" y="1137919"/>
            <a:ext cx="191833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4460" indent="-111760">
              <a:lnSpc>
                <a:spcPct val="100000"/>
              </a:lnSpc>
              <a:spcBef>
                <a:spcPts val="100"/>
              </a:spcBef>
              <a:buChar char="•"/>
              <a:tabLst>
                <a:tab pos="124460" algn="l"/>
              </a:tabLst>
            </a:pPr>
            <a:r>
              <a:rPr lang="ko-KR" altLang="en-US" sz="750" dirty="0">
                <a:latin typeface="+mj-lt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이 페르소나 군에 집중해야 하는 이유</a:t>
            </a:r>
            <a:endParaRPr sz="900" dirty="0">
              <a:latin typeface="+mj-lt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5" name="object 28">
            <a:extLst>
              <a:ext uri="{FF2B5EF4-FFF2-40B4-BE49-F238E27FC236}">
                <a16:creationId xmlns:a16="http://schemas.microsoft.com/office/drawing/2014/main" id="{FE59CB9D-30FD-40BF-9399-88207245D829}"/>
              </a:ext>
            </a:extLst>
          </p:cNvPr>
          <p:cNvSpPr txBox="1"/>
          <p:nvPr/>
        </p:nvSpPr>
        <p:spPr>
          <a:xfrm>
            <a:off x="9085607" y="1137919"/>
            <a:ext cx="191833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4460" indent="-111760">
              <a:lnSpc>
                <a:spcPct val="100000"/>
              </a:lnSpc>
              <a:spcBef>
                <a:spcPts val="100"/>
              </a:spcBef>
              <a:buChar char="•"/>
              <a:tabLst>
                <a:tab pos="124460" algn="l"/>
              </a:tabLst>
            </a:pPr>
            <a:r>
              <a:rPr lang="ko-KR" altLang="en-US" sz="750" dirty="0">
                <a:latin typeface="+mj-lt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디지털 환경</a:t>
            </a:r>
            <a:r>
              <a:rPr lang="en-US" altLang="ko-KR" sz="750" dirty="0">
                <a:latin typeface="+mj-lt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(Artifacts)</a:t>
            </a:r>
            <a:endParaRPr sz="900" dirty="0">
              <a:latin typeface="+mj-lt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6335FE61-D6C3-44D7-A5F3-4DDDC9CB973C}"/>
              </a:ext>
            </a:extLst>
          </p:cNvPr>
          <p:cNvSpPr txBox="1"/>
          <p:nvPr/>
        </p:nvSpPr>
        <p:spPr>
          <a:xfrm>
            <a:off x="4103328" y="3049553"/>
            <a:ext cx="2225040" cy="3430747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116205">
              <a:lnSpc>
                <a:spcPct val="150000"/>
              </a:lnSpc>
              <a:spcBef>
                <a:spcPts val="860"/>
              </a:spcBef>
            </a:pPr>
            <a:r>
              <a:rPr sz="900" b="0">
                <a:solidFill>
                  <a:srgbClr val="333333"/>
                </a:solidFill>
                <a:latin typeface="맑은 고딕"/>
              </a:rPr>
              <a:t>1. 최근 중요한 Life Event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   : 둘째 어린이집 입소 후 잔병치레가 잦아짐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2. 하루 중 문제가 생기는 시각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   : 평일 저녁 18~20시, 주말 오전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3. 그때 하는 행동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   : 검색 앱 → 지도 앱 → 전화 확인 순으로 왔다 갔다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4. 걸리는 시간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   : 조건 비교에만 15~20분 (리뷰 증언 기준)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5. 실패했을 때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   : 문 닫은 곳에 헛걸음하거나 응급실로 간다</a:t>
            </a:r>
          </a:p>
        </p:txBody>
      </p:sp>
      <p:sp>
        <p:nvSpPr>
          <p:cNvPr id="45" name="object 16">
            <a:extLst>
              <a:ext uri="{FF2B5EF4-FFF2-40B4-BE49-F238E27FC236}">
                <a16:creationId xmlns:a16="http://schemas.microsoft.com/office/drawing/2014/main" id="{3196F6D4-CE51-4671-8718-3436FE1FBA77}"/>
              </a:ext>
            </a:extLst>
          </p:cNvPr>
          <p:cNvSpPr/>
          <p:nvPr/>
        </p:nvSpPr>
        <p:spPr>
          <a:xfrm>
            <a:off x="6849274" y="1339416"/>
            <a:ext cx="2158365" cy="955675"/>
          </a:xfrm>
          <a:custGeom>
            <a:avLst/>
            <a:gdLst/>
            <a:ahLst/>
            <a:cxnLst/>
            <a:rect l="l" t="t" r="r" b="b"/>
            <a:pathLst>
              <a:path w="2158365" h="955675">
                <a:moveTo>
                  <a:pt x="0" y="0"/>
                </a:moveTo>
                <a:lnTo>
                  <a:pt x="2157981" y="0"/>
                </a:lnTo>
                <a:lnTo>
                  <a:pt x="2157981" y="955202"/>
                </a:lnTo>
                <a:lnTo>
                  <a:pt x="0" y="95520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r>
              <a:rPr sz="800" b="0">
                <a:solidFill>
                  <a:srgbClr val="333333"/>
                </a:solidFill>
                <a:latin typeface="맑은 고딕"/>
              </a:rPr>
              <a:t>LDA 토픽 4(병원 검색·정보)가 588건(18.4%)으로 AI로 풀 수 있는 토픽 중 가장 크고, 평균 별점 3.92점으로 만족과 불만이 갈린다. (가장 큰 토픽 1 '예약'은 시스템 문제라 범위 밖)</a:t>
            </a:r>
            <a:endParaRPr>
              <a:latin typeface="+mj-lt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6" name="object 17">
            <a:extLst>
              <a:ext uri="{FF2B5EF4-FFF2-40B4-BE49-F238E27FC236}">
                <a16:creationId xmlns:a16="http://schemas.microsoft.com/office/drawing/2014/main" id="{736BCFD1-ACF0-435D-AF21-C9165BFA1DA6}"/>
              </a:ext>
            </a:extLst>
          </p:cNvPr>
          <p:cNvSpPr/>
          <p:nvPr/>
        </p:nvSpPr>
        <p:spPr>
          <a:xfrm>
            <a:off x="8926436" y="3056581"/>
            <a:ext cx="1694180" cy="3430800"/>
          </a:xfrm>
          <a:custGeom>
            <a:avLst/>
            <a:gdLst/>
            <a:ahLst/>
            <a:cxnLst/>
            <a:rect l="l" t="t" r="r" b="b"/>
            <a:pathLst>
              <a:path w="1694179" h="3195320">
                <a:moveTo>
                  <a:pt x="0" y="0"/>
                </a:moveTo>
                <a:lnTo>
                  <a:pt x="1693580" y="0"/>
                </a:lnTo>
                <a:lnTo>
                  <a:pt x="1693580" y="3195063"/>
                </a:lnTo>
                <a:lnTo>
                  <a:pt x="0" y="319506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r>
              <a:rPr sz="900" b="0">
                <a:solidFill>
                  <a:srgbClr val="333333"/>
                </a:solidFill>
                <a:latin typeface="맑은 고딕"/>
              </a:rPr>
              <a:t>· 리뷰에서 병원 단위 연결은 불가</a:t>
            </a:r>
            <a:endParaRPr dirty="0">
              <a:latin typeface="+mj-lt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  (구글플레이 리뷰는 앱 평가, 일치율 0.12%)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· 따라서 리뷰는 기획 근거로만 쓰고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  병원 사실정보는 공공데이터로 확인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· 진료시간 미공개 병원이 남아 있어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  '미확인'을 그대로 표시해야 함</a:t>
            </a:r>
          </a:p>
        </p:txBody>
      </p:sp>
      <p:sp>
        <p:nvSpPr>
          <p:cNvPr id="47" name="object 18">
            <a:extLst>
              <a:ext uri="{FF2B5EF4-FFF2-40B4-BE49-F238E27FC236}">
                <a16:creationId xmlns:a16="http://schemas.microsoft.com/office/drawing/2014/main" id="{388E3ED7-35D5-4EEA-8039-06095050A18F}"/>
              </a:ext>
            </a:extLst>
          </p:cNvPr>
          <p:cNvSpPr/>
          <p:nvPr/>
        </p:nvSpPr>
        <p:spPr>
          <a:xfrm>
            <a:off x="9075441" y="1339416"/>
            <a:ext cx="1368425" cy="955675"/>
          </a:xfrm>
          <a:custGeom>
            <a:avLst/>
            <a:gdLst/>
            <a:ahLst/>
            <a:cxnLst/>
            <a:rect l="l" t="t" r="r" b="b"/>
            <a:pathLst>
              <a:path w="1368425" h="955675">
                <a:moveTo>
                  <a:pt x="0" y="0"/>
                </a:moveTo>
                <a:lnTo>
                  <a:pt x="1368154" y="0"/>
                </a:lnTo>
                <a:lnTo>
                  <a:pt x="1368154" y="955202"/>
                </a:lnTo>
                <a:lnTo>
                  <a:pt x="0" y="95520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r>
              <a:rPr sz="900" b="0">
                <a:solidFill>
                  <a:srgbClr val="333333"/>
                </a:solidFill>
                <a:latin typeface="맑은 고딕"/>
              </a:rPr>
              <a:t>스마트폰(주 사용) · 병원 검색 앱 · 포털 지도 · 맘카페 검색</a:t>
            </a:r>
            <a:endParaRPr>
              <a:latin typeface="+mj-lt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530333" y="1335024"/>
            <a:ext cx="19183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맑은 고딕"/>
              </a:rPr>
              <a:t>저녁에 아이가 아픈데, 지금 문을 연 소아과가 어디인지 한 번에 알 수 없다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91;p1">
            <a:extLst>
              <a:ext uri="{FF2B5EF4-FFF2-40B4-BE49-F238E27FC236}">
                <a16:creationId xmlns:a16="http://schemas.microsoft.com/office/drawing/2014/main" id="{40835EC2-5BF9-47D5-BD20-C162EFE08FF2}"/>
              </a:ext>
            </a:extLst>
          </p:cNvPr>
          <p:cNvCxnSpPr/>
          <p:nvPr/>
        </p:nvCxnSpPr>
        <p:spPr>
          <a:xfrm>
            <a:off x="227348" y="815808"/>
            <a:ext cx="11737304" cy="0"/>
          </a:xfrm>
          <a:prstGeom prst="straightConnector1">
            <a:avLst/>
          </a:prstGeom>
          <a:noFill/>
          <a:ln w="28575" cap="flat" cmpd="sng">
            <a:solidFill>
              <a:srgbClr val="6F6F6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" name="Google Shape;97;p1">
            <a:extLst>
              <a:ext uri="{FF2B5EF4-FFF2-40B4-BE49-F238E27FC236}">
                <a16:creationId xmlns:a16="http://schemas.microsoft.com/office/drawing/2014/main" id="{FEE424FA-715E-4396-B95A-297156C181C8}"/>
              </a:ext>
            </a:extLst>
          </p:cNvPr>
          <p:cNvSpPr/>
          <p:nvPr/>
        </p:nvSpPr>
        <p:spPr>
          <a:xfrm>
            <a:off x="2016292" y="905240"/>
            <a:ext cx="4041457" cy="278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2563EB"/>
                </a:solidFill>
                <a:latin typeface="맑은 고딕"/>
              </a:rPr>
              <a:t>[Actor] 지금 갈 병원을 스스로 골라야 하는 이용자</a:t>
            </a:r>
            <a:endParaRPr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Google Shape;98;p1">
            <a:extLst>
              <a:ext uri="{FF2B5EF4-FFF2-40B4-BE49-F238E27FC236}">
                <a16:creationId xmlns:a16="http://schemas.microsoft.com/office/drawing/2014/main" id="{AF88C672-BCAC-4FEA-B868-578482CBA085}"/>
              </a:ext>
            </a:extLst>
          </p:cNvPr>
          <p:cNvSpPr/>
          <p:nvPr/>
        </p:nvSpPr>
        <p:spPr>
          <a:xfrm>
            <a:off x="2010517" y="1494603"/>
            <a:ext cx="4041457" cy="278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3333"/>
                </a:solidFill>
                <a:latin typeface="맑은 고딕"/>
              </a:rPr>
              <a:t>[Goal] 내 상황(위치·시간·진료과)에 맞는 병원을 한 번에 고른다</a:t>
            </a:r>
            <a:endParaRPr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" name="Google Shape;103;p1">
            <a:extLst>
              <a:ext uri="{FF2B5EF4-FFF2-40B4-BE49-F238E27FC236}">
                <a16:creationId xmlns:a16="http://schemas.microsoft.com/office/drawing/2014/main" id="{D4D3A3B0-BF19-4D18-9ADA-B01144142EBE}"/>
              </a:ext>
            </a:extLst>
          </p:cNvPr>
          <p:cNvSpPr/>
          <p:nvPr/>
        </p:nvSpPr>
        <p:spPr>
          <a:xfrm>
            <a:off x="6424733" y="1494603"/>
            <a:ext cx="4041457" cy="278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3333"/>
                </a:solidFill>
                <a:latin typeface="맑은 고딕"/>
              </a:rPr>
              <a:t>[Pain] 먼 병원이 뜨고, 진료시간이 실제와 다르다</a:t>
            </a:r>
            <a:endParaRPr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7" name="Google Shape;104;p1">
            <a:extLst>
              <a:ext uri="{FF2B5EF4-FFF2-40B4-BE49-F238E27FC236}">
                <a16:creationId xmlns:a16="http://schemas.microsoft.com/office/drawing/2014/main" id="{2158B289-336E-4065-B034-CC90C93470D6}"/>
              </a:ext>
            </a:extLst>
          </p:cNvPr>
          <p:cNvSpPr/>
          <p:nvPr/>
        </p:nvSpPr>
        <p:spPr>
          <a:xfrm>
            <a:off x="1031085" y="2496969"/>
            <a:ext cx="1654242" cy="265296"/>
          </a:xfrm>
          <a:prstGeom prst="roundRect">
            <a:avLst>
              <a:gd name="adj" fmla="val 16667"/>
            </a:avLst>
          </a:prstGeom>
          <a:solidFill>
            <a:schemeClr val="bg2">
              <a:lumMod val="25000"/>
            </a:schemeClr>
          </a:solidFill>
          <a:ln w="9525" cap="flat" cmpd="sng">
            <a:solidFill>
              <a:schemeClr val="bg1">
                <a:lumMod val="8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rgbClr val="6B7280"/>
                </a:solidFill>
                <a:latin typeface="맑은 고딕"/>
              </a:rPr>
              <a:t>Action 1 · LDA 토픽 1</a:t>
            </a:r>
            <a:endParaRPr sz="1000" b="1" dirty="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  <a:p>
            <a:pPr algn="ctr"/>
            <a:r>
              <a:rPr sz="800" b="1">
                <a:solidFill>
                  <a:srgbClr val="6B7280"/>
                </a:solidFill>
                <a:latin typeface="맑은 고딕"/>
              </a:rPr>
              <a:t>744건 (23.3%)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22B10DB7-516E-4F30-82C6-A09738FC1A0D}"/>
              </a:ext>
            </a:extLst>
          </p:cNvPr>
          <p:cNvSpPr/>
          <p:nvPr/>
        </p:nvSpPr>
        <p:spPr>
          <a:xfrm>
            <a:off x="1029370" y="3801535"/>
            <a:ext cx="1654243" cy="69185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예약·접수하기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E93FE421-BBD7-49B9-AE29-C72EACB5B604}"/>
              </a:ext>
            </a:extLst>
          </p:cNvPr>
          <p:cNvSpPr/>
          <p:nvPr/>
        </p:nvSpPr>
        <p:spPr>
          <a:xfrm>
            <a:off x="92915" y="3801535"/>
            <a:ext cx="914400" cy="6918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Action</a:t>
            </a:r>
            <a:endParaRPr lang="ko-KR" altLang="en-US" sz="1000" b="1" dirty="0">
              <a:solidFill>
                <a:schemeClr val="tx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BF52AC6-1519-4C40-940E-66FC80C53780}"/>
              </a:ext>
            </a:extLst>
          </p:cNvPr>
          <p:cNvSpPr txBox="1"/>
          <p:nvPr/>
        </p:nvSpPr>
        <p:spPr>
          <a:xfrm>
            <a:off x="227348" y="116581"/>
            <a:ext cx="2060179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1400" b="1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Customer Action Map</a:t>
            </a:r>
            <a:endParaRPr lang="ko-KR" altLang="en-US" sz="14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39DCCAD-52E0-41BD-BAE9-7CF2D528EB84}"/>
              </a:ext>
            </a:extLst>
          </p:cNvPr>
          <p:cNvSpPr txBox="1"/>
          <p:nvPr/>
        </p:nvSpPr>
        <p:spPr>
          <a:xfrm>
            <a:off x="504750" y="457200"/>
            <a:ext cx="2039341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1400" b="1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</a:t>
            </a:r>
            <a:r>
              <a:rPr lang="ko-KR" altLang="en-US" sz="1400" b="1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고객 액션 </a:t>
            </a:r>
            <a:r>
              <a:rPr lang="ko-KR" altLang="en-US" sz="1400" b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맵 요약</a:t>
            </a:r>
            <a:endParaRPr lang="ko-KR" altLang="en-US" sz="20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4369DD6-EF81-4698-ABD5-E14C249702FE}"/>
              </a:ext>
            </a:extLst>
          </p:cNvPr>
          <p:cNvSpPr txBox="1"/>
          <p:nvPr/>
        </p:nvSpPr>
        <p:spPr>
          <a:xfrm>
            <a:off x="11175210" y="158418"/>
            <a:ext cx="864339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200" b="1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분석 결과</a:t>
            </a:r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EDD505E1-D57B-48C8-BA03-735BAFE872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47" y="906710"/>
            <a:ext cx="1788945" cy="1025243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45DCD43C-D377-95D5-7BC7-67E50A2556A5}"/>
              </a:ext>
            </a:extLst>
          </p:cNvPr>
          <p:cNvSpPr/>
          <p:nvPr/>
        </p:nvSpPr>
        <p:spPr>
          <a:xfrm>
            <a:off x="1029370" y="4562741"/>
            <a:ext cx="1654243" cy="69185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앱으로 미리 접수해도 병원에서 다시 접수한다. 몰리는 시간엔 접속이 안 된다.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5058D23-49DF-1DB4-749F-93D20E101360}"/>
              </a:ext>
            </a:extLst>
          </p:cNvPr>
          <p:cNvSpPr/>
          <p:nvPr/>
        </p:nvSpPr>
        <p:spPr>
          <a:xfrm>
            <a:off x="92915" y="4562741"/>
            <a:ext cx="914400" cy="6918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Context</a:t>
            </a:r>
            <a:endParaRPr lang="ko-KR" altLang="en-US" sz="1000" b="1" dirty="0">
              <a:solidFill>
                <a:schemeClr val="tx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7C54BC0-BA62-5849-50B5-172434C120D7}"/>
              </a:ext>
            </a:extLst>
          </p:cNvPr>
          <p:cNvSpPr/>
          <p:nvPr/>
        </p:nvSpPr>
        <p:spPr>
          <a:xfrm>
            <a:off x="1029370" y="5325604"/>
            <a:ext cx="1654243" cy="43159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예약, 병원, 접수, 시간, 인증, 대기</a:t>
            </a:r>
            <a:endParaRPr lang="ko-KR" altLang="en-US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6EB58C7-E20D-0369-56B4-F906EC7FA2AB}"/>
              </a:ext>
            </a:extLst>
          </p:cNvPr>
          <p:cNvSpPr/>
          <p:nvPr/>
        </p:nvSpPr>
        <p:spPr>
          <a:xfrm>
            <a:off x="92915" y="5325604"/>
            <a:ext cx="914400" cy="431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Keywords</a:t>
            </a:r>
            <a:endParaRPr lang="ko-KR" altLang="en-US" sz="1000" b="1" dirty="0">
              <a:solidFill>
                <a:schemeClr val="tx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F9D5032-D1D3-7798-DC0A-606C0640FB4D}"/>
              </a:ext>
            </a:extLst>
          </p:cNvPr>
          <p:cNvSpPr/>
          <p:nvPr/>
        </p:nvSpPr>
        <p:spPr>
          <a:xfrm>
            <a:off x="1029370" y="5826393"/>
            <a:ext cx="1654243" cy="4315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부정 (평균 3.28점)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75D41A8-D431-6BE1-5001-E22F62BD64E5}"/>
              </a:ext>
            </a:extLst>
          </p:cNvPr>
          <p:cNvSpPr/>
          <p:nvPr/>
        </p:nvSpPr>
        <p:spPr>
          <a:xfrm>
            <a:off x="92915" y="5826393"/>
            <a:ext cx="914400" cy="431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Sentiment</a:t>
            </a:r>
            <a:endParaRPr lang="ko-KR" altLang="en-US" sz="1000" b="1" dirty="0">
              <a:solidFill>
                <a:schemeClr val="tx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AB541FA-28FB-4A3E-7BCE-E7FB337B5865}"/>
              </a:ext>
            </a:extLst>
          </p:cNvPr>
          <p:cNvSpPr/>
          <p:nvPr/>
        </p:nvSpPr>
        <p:spPr>
          <a:xfrm>
            <a:off x="1029370" y="6327182"/>
            <a:ext cx="1654243" cy="43159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범위 밖(시스템 안정성). 다만 예약 전 '지금 갈 수 있는 곳'을 좁혀주면 헛접수가 준다.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598B183-3C2D-3700-E63E-03E6D667ACB5}"/>
              </a:ext>
            </a:extLst>
          </p:cNvPr>
          <p:cNvSpPr/>
          <p:nvPr/>
        </p:nvSpPr>
        <p:spPr>
          <a:xfrm>
            <a:off x="92915" y="6327182"/>
            <a:ext cx="914400" cy="431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Opportunity</a:t>
            </a:r>
            <a:endParaRPr lang="ko-KR" altLang="en-US" sz="1000" b="1" dirty="0">
              <a:solidFill>
                <a:schemeClr val="tx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2" name="Google Shape;104;p1">
            <a:extLst>
              <a:ext uri="{FF2B5EF4-FFF2-40B4-BE49-F238E27FC236}">
                <a16:creationId xmlns:a16="http://schemas.microsoft.com/office/drawing/2014/main" id="{C7AC839D-5098-C693-FDB8-27A1A98F7B81}"/>
              </a:ext>
            </a:extLst>
          </p:cNvPr>
          <p:cNvSpPr/>
          <p:nvPr/>
        </p:nvSpPr>
        <p:spPr>
          <a:xfrm>
            <a:off x="2870398" y="2496969"/>
            <a:ext cx="1654242" cy="265296"/>
          </a:xfrm>
          <a:prstGeom prst="roundRect">
            <a:avLst>
              <a:gd name="adj" fmla="val 16667"/>
            </a:avLst>
          </a:prstGeom>
          <a:solidFill>
            <a:schemeClr val="bg2">
              <a:lumMod val="25000"/>
            </a:schemeClr>
          </a:solidFill>
          <a:ln w="9525" cap="flat" cmpd="sng">
            <a:solidFill>
              <a:schemeClr val="bg1">
                <a:lumMod val="8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rgbClr val="6B7280"/>
                </a:solidFill>
                <a:latin typeface="맑은 고딕"/>
              </a:rPr>
              <a:t>Action 2 · LDA 토픽 2</a:t>
            </a:r>
            <a:endParaRPr sz="1000" b="1" dirty="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  <a:p>
            <a:pPr algn="ctr"/>
            <a:r>
              <a:rPr sz="800" b="1">
                <a:solidFill>
                  <a:srgbClr val="6B7280"/>
                </a:solidFill>
                <a:latin typeface="맑은 고딕"/>
              </a:rPr>
              <a:t>568건 (17.8%)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36A0754-C926-64D5-2B27-9065B78B53B4}"/>
              </a:ext>
            </a:extLst>
          </p:cNvPr>
          <p:cNvSpPr/>
          <p:nvPr/>
        </p:nvSpPr>
        <p:spPr>
          <a:xfrm>
            <a:off x="2868683" y="3801535"/>
            <a:ext cx="1654243" cy="69185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진료받기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170B672-3C46-01F8-0E84-A2F5839E403C}"/>
              </a:ext>
            </a:extLst>
          </p:cNvPr>
          <p:cNvSpPr/>
          <p:nvPr/>
        </p:nvSpPr>
        <p:spPr>
          <a:xfrm>
            <a:off x="2868683" y="4562741"/>
            <a:ext cx="1654243" cy="69185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진료 후 친절·설명에 만족을 표현한다. 여섯 토픽 중 만족도 2위.</a:t>
            </a:r>
            <a:endParaRPr lang="ko-KR" altLang="en-US" sz="90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4B0F5A8-3B3E-E395-0432-1AA92E7B0C31}"/>
              </a:ext>
            </a:extLst>
          </p:cNvPr>
          <p:cNvSpPr/>
          <p:nvPr/>
        </p:nvSpPr>
        <p:spPr>
          <a:xfrm>
            <a:off x="2868683" y="5325604"/>
            <a:ext cx="1654243" cy="43159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친절, 진료, 선생, 원장, 감사, 치료</a:t>
            </a:r>
            <a:endParaRPr lang="ko-KR" altLang="en-US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A18FD61-40E5-E4BC-5319-E2F84E91C799}"/>
              </a:ext>
            </a:extLst>
          </p:cNvPr>
          <p:cNvSpPr/>
          <p:nvPr/>
        </p:nvSpPr>
        <p:spPr>
          <a:xfrm>
            <a:off x="2868683" y="5826393"/>
            <a:ext cx="1654243" cy="4315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긍정 (평균 4.76점)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D734856-BA17-16DD-D9A1-E7BBD34F24D1}"/>
              </a:ext>
            </a:extLst>
          </p:cNvPr>
          <p:cNvSpPr/>
          <p:nvPr/>
        </p:nvSpPr>
        <p:spPr>
          <a:xfrm>
            <a:off x="2868683" y="6327182"/>
            <a:ext cx="1654243" cy="43159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만족 요인(친절·설명)을 병원 '선택 기준'으로 되돌린다 → 리뷰 요약 기능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0" name="Google Shape;104;p1">
            <a:extLst>
              <a:ext uri="{FF2B5EF4-FFF2-40B4-BE49-F238E27FC236}">
                <a16:creationId xmlns:a16="http://schemas.microsoft.com/office/drawing/2014/main" id="{262B98A6-FF96-7411-8F7D-88051690EF83}"/>
              </a:ext>
            </a:extLst>
          </p:cNvPr>
          <p:cNvSpPr/>
          <p:nvPr/>
        </p:nvSpPr>
        <p:spPr>
          <a:xfrm>
            <a:off x="4714457" y="2496969"/>
            <a:ext cx="1654242" cy="265296"/>
          </a:xfrm>
          <a:prstGeom prst="roundRect">
            <a:avLst>
              <a:gd name="adj" fmla="val 16667"/>
            </a:avLst>
          </a:prstGeom>
          <a:solidFill>
            <a:schemeClr val="bg2">
              <a:lumMod val="25000"/>
            </a:schemeClr>
          </a:solidFill>
          <a:ln w="9525" cap="flat" cmpd="sng">
            <a:solidFill>
              <a:schemeClr val="bg1">
                <a:lumMod val="8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rgbClr val="6B7280"/>
                </a:solidFill>
                <a:latin typeface="맑은 고딕"/>
              </a:rPr>
              <a:t>Action 3 · LDA 토픽 3</a:t>
            </a:r>
            <a:endParaRPr sz="1000" b="1" dirty="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  <a:p>
            <a:pPr algn="ctr"/>
            <a:r>
              <a:rPr sz="800" b="1">
                <a:solidFill>
                  <a:srgbClr val="6B7280"/>
                </a:solidFill>
                <a:latin typeface="맑은 고딕"/>
              </a:rPr>
              <a:t>440건 (13.8%)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C776613-709D-E890-8A9C-33DD8C5A41C6}"/>
              </a:ext>
            </a:extLst>
          </p:cNvPr>
          <p:cNvSpPr/>
          <p:nvPr/>
        </p:nvSpPr>
        <p:spPr>
          <a:xfrm>
            <a:off x="4712742" y="3801535"/>
            <a:ext cx="1654243" cy="69185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약국·물품 찾기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09C4023-41A4-54B7-8078-99853FF8AF77}"/>
              </a:ext>
            </a:extLst>
          </p:cNvPr>
          <p:cNvSpPr/>
          <p:nvPr/>
        </p:nvSpPr>
        <p:spPr>
          <a:xfrm>
            <a:off x="4712742" y="4562741"/>
            <a:ext cx="1654243" cy="69185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마스크 재고처럼 '지금 어디 있는지'를 정확히 알려줬을 때 만족도가 가장 높았다.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B449CBB-DDD8-BCE4-D4EA-30C16366B6A2}"/>
              </a:ext>
            </a:extLst>
          </p:cNvPr>
          <p:cNvSpPr/>
          <p:nvPr/>
        </p:nvSpPr>
        <p:spPr>
          <a:xfrm>
            <a:off x="4712742" y="5325604"/>
            <a:ext cx="1654243" cy="43159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감사, 유용, 마스크, 덕분, 약국, 구매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2DD3FFF-6663-8105-097C-DEF08D0A546B}"/>
              </a:ext>
            </a:extLst>
          </p:cNvPr>
          <p:cNvSpPr/>
          <p:nvPr/>
        </p:nvSpPr>
        <p:spPr>
          <a:xfrm>
            <a:off x="4712742" y="5826393"/>
            <a:ext cx="1654243" cy="4315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긍정 (평균 4.84점)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0F6AA3A-F70A-2B2C-61D2-1268ECAB718E}"/>
              </a:ext>
            </a:extLst>
          </p:cNvPr>
          <p:cNvSpPr/>
          <p:nvPr/>
        </p:nvSpPr>
        <p:spPr>
          <a:xfrm>
            <a:off x="4712742" y="6327182"/>
            <a:ext cx="1654243" cy="43159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실시간 운영정보가 만족을 만든다는 증거. 응급실 병상·심야약국으로 재현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65" name="Google Shape;104;p1">
            <a:extLst>
              <a:ext uri="{FF2B5EF4-FFF2-40B4-BE49-F238E27FC236}">
                <a16:creationId xmlns:a16="http://schemas.microsoft.com/office/drawing/2014/main" id="{349F4CAB-1BAD-47A4-B033-49C91C0BDCEF}"/>
              </a:ext>
            </a:extLst>
          </p:cNvPr>
          <p:cNvSpPr/>
          <p:nvPr/>
        </p:nvSpPr>
        <p:spPr>
          <a:xfrm>
            <a:off x="6570950" y="2496969"/>
            <a:ext cx="1654242" cy="265296"/>
          </a:xfrm>
          <a:prstGeom prst="roundRect">
            <a:avLst>
              <a:gd name="adj" fmla="val 16667"/>
            </a:avLst>
          </a:prstGeom>
          <a:solidFill>
            <a:schemeClr val="bg2">
              <a:lumMod val="25000"/>
            </a:schemeClr>
          </a:solidFill>
          <a:ln w="9525" cap="flat" cmpd="sng">
            <a:solidFill>
              <a:schemeClr val="bg1">
                <a:lumMod val="8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rgbClr val="2563EB"/>
                </a:solidFill>
                <a:latin typeface="맑은 고딕"/>
              </a:rPr>
              <a:t>Action 4 · LDA 토픽 4</a:t>
            </a:r>
            <a:endParaRPr sz="1000" b="1" dirty="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  <a:p>
            <a:pPr algn="ctr"/>
            <a:r>
              <a:rPr sz="800" b="1">
                <a:solidFill>
                  <a:srgbClr val="2563EB"/>
                </a:solidFill>
                <a:latin typeface="맑은 고딕"/>
              </a:rPr>
              <a:t>588건 (18.4%)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170CBB9-AADA-4058-E531-05A2CB990D2D}"/>
              </a:ext>
            </a:extLst>
          </p:cNvPr>
          <p:cNvSpPr/>
          <p:nvPr/>
        </p:nvSpPr>
        <p:spPr>
          <a:xfrm>
            <a:off x="6569235" y="3801535"/>
            <a:ext cx="1654243" cy="69185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2563EB"/>
                </a:solidFill>
                <a:latin typeface="맑은 고딕"/>
              </a:rPr>
              <a:t>병원 찾기·비교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2DBF8A89-2071-1E1A-99FB-0359E4D11749}"/>
              </a:ext>
            </a:extLst>
          </p:cNvPr>
          <p:cNvSpPr/>
          <p:nvPr/>
        </p:nvSpPr>
        <p:spPr>
          <a:xfrm>
            <a:off x="6569235" y="4562741"/>
            <a:ext cx="1654243" cy="69185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지역을 설정해도 뒤로 가면 초기화된다. '진료중'을 눌러도 먼 병원이 나온다. 지도 앱은 진료과로 못 찾는다.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F8E9CF55-1857-40D3-0428-1EE4D0D2B673}"/>
              </a:ext>
            </a:extLst>
          </p:cNvPr>
          <p:cNvSpPr/>
          <p:nvPr/>
        </p:nvSpPr>
        <p:spPr>
          <a:xfrm>
            <a:off x="6569235" y="5325604"/>
            <a:ext cx="1654243" cy="43159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병원, 정보, 약국, 검색, 전화, 위치</a:t>
            </a:r>
            <a:endParaRPr lang="ko-KR" altLang="en-US" sz="90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3276928D-65F7-CF3C-D50B-68CBD2D15504}"/>
              </a:ext>
            </a:extLst>
          </p:cNvPr>
          <p:cNvSpPr/>
          <p:nvPr/>
        </p:nvSpPr>
        <p:spPr>
          <a:xfrm>
            <a:off x="6569235" y="5826393"/>
            <a:ext cx="1654243" cy="4315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혼재 (평균 3.92점)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E8D59C54-5D17-60E6-D2DF-F8B1FA586CCD}"/>
              </a:ext>
            </a:extLst>
          </p:cNvPr>
          <p:cNvSpPr/>
          <p:nvPr/>
        </p:nvSpPr>
        <p:spPr>
          <a:xfrm>
            <a:off x="6569235" y="6327182"/>
            <a:ext cx="1654243" cy="43159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2563EB"/>
                </a:solidFill>
                <a:latin typeface="맑은 고딕"/>
              </a:rPr>
              <a:t>우리 서비스의 핵심. 자연어에서 지역·시간·진료과를 뽑아 공공데이터로 좁힌다.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cxnSp>
        <p:nvCxnSpPr>
          <p:cNvPr id="99" name="Google Shape;91;p1">
            <a:extLst>
              <a:ext uri="{FF2B5EF4-FFF2-40B4-BE49-F238E27FC236}">
                <a16:creationId xmlns:a16="http://schemas.microsoft.com/office/drawing/2014/main" id="{2721A176-3457-987F-E31D-9EE7DBBF5214}"/>
              </a:ext>
            </a:extLst>
          </p:cNvPr>
          <p:cNvCxnSpPr/>
          <p:nvPr/>
        </p:nvCxnSpPr>
        <p:spPr>
          <a:xfrm>
            <a:off x="227348" y="2407317"/>
            <a:ext cx="11737304" cy="0"/>
          </a:xfrm>
          <a:prstGeom prst="straightConnector1">
            <a:avLst/>
          </a:prstGeom>
          <a:noFill/>
          <a:ln w="12700" cap="flat" cmpd="sng">
            <a:solidFill>
              <a:srgbClr val="6F6F6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Google Shape;97;p1">
            <a:extLst>
              <a:ext uri="{FF2B5EF4-FFF2-40B4-BE49-F238E27FC236}">
                <a16:creationId xmlns:a16="http://schemas.microsoft.com/office/drawing/2014/main" id="{1F6732CE-C6CE-5428-B2C0-02439E730033}"/>
              </a:ext>
            </a:extLst>
          </p:cNvPr>
          <p:cNvSpPr/>
          <p:nvPr/>
        </p:nvSpPr>
        <p:spPr>
          <a:xfrm>
            <a:off x="6424733" y="905240"/>
            <a:ext cx="4041457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333333"/>
                </a:solidFill>
                <a:latin typeface="맑은 고딕"/>
              </a:rPr>
              <a:t>[Desire] 말 한마디로 지금 문 연 가까운 병원을 찾고,</a:t>
            </a:r>
            <a:endParaRPr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sz="1000" b="0">
                <a:solidFill>
                  <a:srgbClr val="333333"/>
                </a:solidFill>
                <a:latin typeface="맑은 고딕"/>
              </a:rPr>
              <a:t>추천 이유와 길찾기까지 한 번에 받고 싶다</a:t>
            </a:r>
          </a:p>
        </p:txBody>
      </p:sp>
      <p:sp>
        <p:nvSpPr>
          <p:cNvPr id="7" name="Google Shape;104;p1">
            <a:extLst>
              <a:ext uri="{FF2B5EF4-FFF2-40B4-BE49-F238E27FC236}">
                <a16:creationId xmlns:a16="http://schemas.microsoft.com/office/drawing/2014/main" id="{5C5958FB-70DA-39F9-4218-674C6782830B}"/>
              </a:ext>
            </a:extLst>
          </p:cNvPr>
          <p:cNvSpPr/>
          <p:nvPr/>
        </p:nvSpPr>
        <p:spPr>
          <a:xfrm>
            <a:off x="8425728" y="2496969"/>
            <a:ext cx="1654242" cy="265296"/>
          </a:xfrm>
          <a:prstGeom prst="roundRect">
            <a:avLst>
              <a:gd name="adj" fmla="val 16667"/>
            </a:avLst>
          </a:prstGeom>
          <a:solidFill>
            <a:schemeClr val="bg2">
              <a:lumMod val="25000"/>
            </a:schemeClr>
          </a:solidFill>
          <a:ln w="9525" cap="flat" cmpd="sng">
            <a:solidFill>
              <a:schemeClr val="bg1">
                <a:lumMod val="8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rgbClr val="6B7280"/>
                </a:solidFill>
                <a:latin typeface="맑은 고딕"/>
              </a:rPr>
              <a:t>Action 5 · LDA 토픽 5</a:t>
            </a:r>
            <a:endParaRPr sz="1000" b="1" dirty="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  <a:p>
            <a:pPr algn="ctr"/>
            <a:r>
              <a:rPr sz="800" b="1">
                <a:solidFill>
                  <a:srgbClr val="6B7280"/>
                </a:solidFill>
                <a:latin typeface="맑은 고딕"/>
              </a:rPr>
              <a:t>515건 (16.1%)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A96154-B5AF-914E-6EBA-7C6D21C65BD2}"/>
              </a:ext>
            </a:extLst>
          </p:cNvPr>
          <p:cNvSpPr/>
          <p:nvPr/>
        </p:nvSpPr>
        <p:spPr>
          <a:xfrm>
            <a:off x="8424013" y="3801535"/>
            <a:ext cx="1654243" cy="69185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비대면진료·약 수령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2E3A544-0273-31DA-5304-CA40A2FA4D36}"/>
              </a:ext>
            </a:extLst>
          </p:cNvPr>
          <p:cNvSpPr/>
          <p:nvPr/>
        </p:nvSpPr>
        <p:spPr>
          <a:xfrm>
            <a:off x="8424013" y="4562741"/>
            <a:ext cx="1654243" cy="69185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선결제 후 환불 불가, 약 배송 지연. 여섯 토픽 중 만족도 최하위.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F60A406-F3E7-6319-C198-7168603589A1}"/>
              </a:ext>
            </a:extLst>
          </p:cNvPr>
          <p:cNvSpPr/>
          <p:nvPr/>
        </p:nvSpPr>
        <p:spPr>
          <a:xfrm>
            <a:off x="8424013" y="5325604"/>
            <a:ext cx="1654243" cy="43159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진료, 대면, 코로나, 처방, 처방전, 약국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9BDD746-4173-69C6-D20B-C611B83E54D6}"/>
              </a:ext>
            </a:extLst>
          </p:cNvPr>
          <p:cNvSpPr/>
          <p:nvPr/>
        </p:nvSpPr>
        <p:spPr>
          <a:xfrm>
            <a:off x="8424013" y="5826393"/>
            <a:ext cx="1654243" cy="4315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부정 (평균 3.17점)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6A5A9C8-51DB-A16A-18BA-EA7181D60013}"/>
              </a:ext>
            </a:extLst>
          </p:cNvPr>
          <p:cNvSpPr/>
          <p:nvPr/>
        </p:nvSpPr>
        <p:spPr>
          <a:xfrm>
            <a:off x="8424013" y="6327182"/>
            <a:ext cx="1654243" cy="43159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운영·물류 영역이라 범위 밖. 이번에 다시 만들지 않는다.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1" name="Google Shape;104;p1">
            <a:extLst>
              <a:ext uri="{FF2B5EF4-FFF2-40B4-BE49-F238E27FC236}">
                <a16:creationId xmlns:a16="http://schemas.microsoft.com/office/drawing/2014/main" id="{81CA9D82-68EF-9DCC-D706-D9840B57370F}"/>
              </a:ext>
            </a:extLst>
          </p:cNvPr>
          <p:cNvSpPr/>
          <p:nvPr/>
        </p:nvSpPr>
        <p:spPr>
          <a:xfrm>
            <a:off x="10264009" y="2496969"/>
            <a:ext cx="1654242" cy="265296"/>
          </a:xfrm>
          <a:prstGeom prst="roundRect">
            <a:avLst>
              <a:gd name="adj" fmla="val 16667"/>
            </a:avLst>
          </a:prstGeom>
          <a:solidFill>
            <a:schemeClr val="bg2">
              <a:lumMod val="25000"/>
            </a:schemeClr>
          </a:solidFill>
          <a:ln w="9525" cap="flat" cmpd="sng">
            <a:solidFill>
              <a:schemeClr val="bg1">
                <a:lumMod val="8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rgbClr val="2563EB"/>
                </a:solidFill>
                <a:latin typeface="맑은 고딕"/>
              </a:rPr>
              <a:t>Action 6 · LDA 토픽 6</a:t>
            </a:r>
            <a:endParaRPr sz="1000" b="1" dirty="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  <a:p>
            <a:pPr algn="ctr"/>
            <a:r>
              <a:rPr sz="800" b="1">
                <a:solidFill>
                  <a:srgbClr val="2563EB"/>
                </a:solidFill>
                <a:latin typeface="맑은 고딕"/>
              </a:rPr>
              <a:t>339건 (10.6%)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62554FE-E097-5F20-E166-FB98E1CFD491}"/>
              </a:ext>
            </a:extLst>
          </p:cNvPr>
          <p:cNvSpPr/>
          <p:nvPr/>
        </p:nvSpPr>
        <p:spPr>
          <a:xfrm>
            <a:off x="10262294" y="3801535"/>
            <a:ext cx="1654243" cy="69185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2563EB"/>
                </a:solidFill>
                <a:latin typeface="맑은 고딕"/>
              </a:rPr>
              <a:t>주말·야간에 연 곳</a:t>
            </a:r>
            <a:endParaRPr lang="ko-KR" altLang="en-US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49F9C51-F03B-3045-0742-F24EEA4C08D2}"/>
              </a:ext>
            </a:extLst>
          </p:cNvPr>
          <p:cNvSpPr/>
          <p:nvPr/>
        </p:nvSpPr>
        <p:spPr>
          <a:xfrm>
            <a:off x="10262294" y="4562741"/>
            <a:ext cx="1654243" cy="69185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주말·영업시간 문의가 모였다. 단 가입·리뷰 불만도 섞여 있어 해석에 주의.</a:t>
            </a:r>
            <a:endParaRPr lang="ko-KR" altLang="en-US" sz="90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B9711C4-EB8C-7A5D-3B8D-65BE53AED817}"/>
              </a:ext>
            </a:extLst>
          </p:cNvPr>
          <p:cNvSpPr/>
          <p:nvPr/>
        </p:nvSpPr>
        <p:spPr>
          <a:xfrm>
            <a:off x="10262294" y="5325604"/>
            <a:ext cx="1654243" cy="43159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약국, 주말, 리뷰, 영업, 가입, 시간</a:t>
            </a:r>
            <a:endParaRPr lang="ko-KR" altLang="en-US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A4D559-773F-3D0E-468A-2D09D3607A9D}"/>
              </a:ext>
            </a:extLst>
          </p:cNvPr>
          <p:cNvSpPr/>
          <p:nvPr/>
        </p:nvSpPr>
        <p:spPr>
          <a:xfrm>
            <a:off x="10262294" y="5826393"/>
            <a:ext cx="1654243" cy="4315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333333"/>
                </a:solidFill>
                <a:latin typeface="맑은 고딕"/>
              </a:rPr>
              <a:t>부정 (평균 3.65점)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C341BB5-5E16-E65B-32F7-6E8B278DAFA3}"/>
              </a:ext>
            </a:extLst>
          </p:cNvPr>
          <p:cNvSpPr/>
          <p:nvPr/>
        </p:nvSpPr>
        <p:spPr>
          <a:xfrm>
            <a:off x="10262294" y="6327182"/>
            <a:ext cx="1654243" cy="43159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2563EB"/>
                </a:solidFill>
                <a:latin typeface="맑은 고딕"/>
              </a:rPr>
              <a:t>심야약국·응급실 실시간 정보로 답한다. 네이버·카카오는 영업시간을 안 준다.</a:t>
            </a:r>
            <a:endParaRPr lang="en-US" altLang="ko-KR" sz="9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149" name="Picture 148" descr="topic_mini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452" y="2849490"/>
            <a:ext cx="1645967" cy="868705"/>
          </a:xfrm>
          <a:prstGeom prst="rect">
            <a:avLst/>
          </a:prstGeom>
        </p:spPr>
      </p:pic>
      <p:pic>
        <p:nvPicPr>
          <p:cNvPr id="150" name="Picture 149" descr="topic_mini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7765" y="2849490"/>
            <a:ext cx="1645967" cy="868705"/>
          </a:xfrm>
          <a:prstGeom prst="rect">
            <a:avLst/>
          </a:prstGeom>
        </p:spPr>
      </p:pic>
      <p:pic>
        <p:nvPicPr>
          <p:cNvPr id="151" name="Picture 150" descr="topic_mini_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1824" y="2849490"/>
            <a:ext cx="1645967" cy="868705"/>
          </a:xfrm>
          <a:prstGeom prst="rect">
            <a:avLst/>
          </a:prstGeom>
        </p:spPr>
      </p:pic>
      <p:pic>
        <p:nvPicPr>
          <p:cNvPr id="152" name="Picture 151" descr="topic_mini_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8317" y="2849490"/>
            <a:ext cx="1645967" cy="868705"/>
          </a:xfrm>
          <a:prstGeom prst="rect">
            <a:avLst/>
          </a:prstGeom>
        </p:spPr>
      </p:pic>
      <p:pic>
        <p:nvPicPr>
          <p:cNvPr id="153" name="Picture 152" descr="topic_mini_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3095" y="2849490"/>
            <a:ext cx="1645967" cy="868705"/>
          </a:xfrm>
          <a:prstGeom prst="rect">
            <a:avLst/>
          </a:prstGeom>
        </p:spPr>
      </p:pic>
      <p:pic>
        <p:nvPicPr>
          <p:cNvPr id="154" name="Picture 153" descr="topic_mini_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71376" y="2849490"/>
            <a:ext cx="1645967" cy="86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330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3">
            <a:extLst>
              <a:ext uri="{FF2B5EF4-FFF2-40B4-BE49-F238E27FC236}">
                <a16:creationId xmlns:a16="http://schemas.microsoft.com/office/drawing/2014/main" id="{7BF52AC6-1519-4C40-940E-66FC80C53780}"/>
              </a:ext>
            </a:extLst>
          </p:cNvPr>
          <p:cNvSpPr txBox="1"/>
          <p:nvPr/>
        </p:nvSpPr>
        <p:spPr>
          <a:xfrm>
            <a:off x="227348" y="116581"/>
            <a:ext cx="2060179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1400" b="1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Customer Action Map</a:t>
            </a:r>
            <a:endParaRPr lang="ko-KR" altLang="en-US" sz="14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4369DD6-EF81-4698-ABD5-E14C249702FE}"/>
              </a:ext>
            </a:extLst>
          </p:cNvPr>
          <p:cNvSpPr txBox="1"/>
          <p:nvPr/>
        </p:nvSpPr>
        <p:spPr>
          <a:xfrm>
            <a:off x="11175210" y="158418"/>
            <a:ext cx="864339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200" b="1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분석 결과</a:t>
            </a:r>
          </a:p>
        </p:txBody>
      </p:sp>
      <p:sp>
        <p:nvSpPr>
          <p:cNvPr id="4" name="Google Shape;104;p1">
            <a:extLst>
              <a:ext uri="{FF2B5EF4-FFF2-40B4-BE49-F238E27FC236}">
                <a16:creationId xmlns:a16="http://schemas.microsoft.com/office/drawing/2014/main" id="{368476E3-D1D9-C152-34BF-84890DA5FB3A}"/>
              </a:ext>
            </a:extLst>
          </p:cNvPr>
          <p:cNvSpPr/>
          <p:nvPr/>
        </p:nvSpPr>
        <p:spPr>
          <a:xfrm>
            <a:off x="227348" y="563633"/>
            <a:ext cx="1696045" cy="265296"/>
          </a:xfrm>
          <a:prstGeom prst="roundRect">
            <a:avLst>
              <a:gd name="adj" fmla="val 16667"/>
            </a:avLst>
          </a:prstGeom>
          <a:solidFill>
            <a:schemeClr val="bg2">
              <a:lumMod val="25000"/>
            </a:schemeClr>
          </a:solidFill>
          <a:ln w="12700" cap="flat" cmpd="sng">
            <a:solidFill>
              <a:schemeClr val="bg1">
                <a:lumMod val="8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LDA </a:t>
            </a:r>
            <a:r>
              <a:rPr lang="en-US" sz="1200" b="1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topic  </a:t>
            </a:r>
            <a:endParaRPr sz="1200" b="1" dirty="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5" name="Google Shape;104;p1">
            <a:extLst>
              <a:ext uri="{FF2B5EF4-FFF2-40B4-BE49-F238E27FC236}">
                <a16:creationId xmlns:a16="http://schemas.microsoft.com/office/drawing/2014/main" id="{7D3DA83E-D73F-88FD-E444-966CBB60C0E5}"/>
              </a:ext>
            </a:extLst>
          </p:cNvPr>
          <p:cNvSpPr/>
          <p:nvPr/>
        </p:nvSpPr>
        <p:spPr>
          <a:xfrm>
            <a:off x="1993085" y="520892"/>
            <a:ext cx="9971567" cy="350779"/>
          </a:xfrm>
          <a:prstGeom prst="roundRect">
            <a:avLst>
              <a:gd name="adj" fmla="val 16667"/>
            </a:avLst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sz="1100" b="1">
                <a:solidFill>
                  <a:srgbClr val="2563EB"/>
                </a:solidFill>
                <a:latin typeface="맑은 고딕"/>
              </a:rPr>
              <a:t>[Actor] 지금 갈 병원을 스스로 골라야 하는 이용자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6A2618-804B-C249-C838-67D2489DC11E}"/>
              </a:ext>
            </a:extLst>
          </p:cNvPr>
          <p:cNvSpPr txBox="1"/>
          <p:nvPr/>
        </p:nvSpPr>
        <p:spPr>
          <a:xfrm>
            <a:off x="1384417" y="1854333"/>
            <a:ext cx="1923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맑은 고딕"/>
              </a:rPr>
              <a:t/>
            </a:r>
            <a:endParaRPr kumimoji="1" lang="ko-Kore-KR" altLang="en-US" sz="1200" dirty="0">
              <a:highlight>
                <a:srgbClr val="FFFF00"/>
              </a:highlight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4" name="Google Shape;187;p2">
            <a:extLst>
              <a:ext uri="{FF2B5EF4-FFF2-40B4-BE49-F238E27FC236}">
                <a16:creationId xmlns:a16="http://schemas.microsoft.com/office/drawing/2014/main" id="{DD01EEA2-9AF6-82DB-31E7-A7A496022C20}"/>
              </a:ext>
            </a:extLst>
          </p:cNvPr>
          <p:cNvSpPr/>
          <p:nvPr/>
        </p:nvSpPr>
        <p:spPr>
          <a:xfrm>
            <a:off x="4776519" y="976805"/>
            <a:ext cx="1197957" cy="350780"/>
          </a:xfrm>
          <a:prstGeom prst="snip1Rect">
            <a:avLst>
              <a:gd name="adj" fmla="val 16667"/>
            </a:avLst>
          </a:prstGeom>
          <a:solidFill>
            <a:schemeClr val="bg1">
              <a:lumMod val="85000"/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altLang="ko-KR" sz="1200" b="1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Action</a:t>
            </a:r>
          </a:p>
        </p:txBody>
      </p:sp>
      <p:sp>
        <p:nvSpPr>
          <p:cNvPr id="21" name="Google Shape;187;p2">
            <a:extLst>
              <a:ext uri="{FF2B5EF4-FFF2-40B4-BE49-F238E27FC236}">
                <a16:creationId xmlns:a16="http://schemas.microsoft.com/office/drawing/2014/main" id="{7D9C8F0B-F5A8-5BDE-8BE8-D73E53735128}"/>
              </a:ext>
            </a:extLst>
          </p:cNvPr>
          <p:cNvSpPr/>
          <p:nvPr/>
        </p:nvSpPr>
        <p:spPr>
          <a:xfrm>
            <a:off x="6012139" y="976805"/>
            <a:ext cx="5952513" cy="35078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2563EB"/>
                </a:solidFill>
                <a:latin typeface="맑은 고딕"/>
              </a:rPr>
              <a:t>병원 찾기·비교 — 지역·진료과·진료시간을 하나씩 골라 목록을 훑는다  [토픽 4 · 588건(18.4%)]</a:t>
            </a:r>
            <a:endParaRPr sz="10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187;p2">
            <a:extLst>
              <a:ext uri="{FF2B5EF4-FFF2-40B4-BE49-F238E27FC236}">
                <a16:creationId xmlns:a16="http://schemas.microsoft.com/office/drawing/2014/main" id="{19B23A3B-2302-AF0E-3206-5F6AA86702C4}"/>
              </a:ext>
            </a:extLst>
          </p:cNvPr>
          <p:cNvSpPr/>
          <p:nvPr/>
        </p:nvSpPr>
        <p:spPr>
          <a:xfrm>
            <a:off x="6012139" y="1407729"/>
            <a:ext cx="5952513" cy="35078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sz="900" b="0">
                <a:solidFill>
                  <a:srgbClr val="333333"/>
                </a:solidFill>
                <a:latin typeface="맑은 고딕"/>
              </a:rPr>
              <a:t>병원, 정보, 약국, 검색, 전화, 위치, 진료, 연결   /   약국, 주말, 리뷰, 영업, 가입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3" name="Google Shape;187;p2">
            <a:extLst>
              <a:ext uri="{FF2B5EF4-FFF2-40B4-BE49-F238E27FC236}">
                <a16:creationId xmlns:a16="http://schemas.microsoft.com/office/drawing/2014/main" id="{705CF304-F6E3-F076-0563-65192E961A80}"/>
              </a:ext>
            </a:extLst>
          </p:cNvPr>
          <p:cNvSpPr/>
          <p:nvPr/>
        </p:nvSpPr>
        <p:spPr>
          <a:xfrm>
            <a:off x="6012139" y="2504157"/>
            <a:ext cx="5952513" cy="35078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3333"/>
                </a:solidFill>
                <a:latin typeface="맑은 고딕"/>
              </a:rPr>
              <a:t>토픽 4 혼재 (평균 3.92점)   ·   토픽 6 부정 (평균 3.65점)   ·   토픽 1 부정 (평균 3.28점)</a:t>
            </a:r>
            <a:endParaRPr sz="10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47" name="Google Shape;187;p2">
            <a:extLst>
              <a:ext uri="{FF2B5EF4-FFF2-40B4-BE49-F238E27FC236}">
                <a16:creationId xmlns:a16="http://schemas.microsoft.com/office/drawing/2014/main" id="{7F668BC3-A39D-CDFA-FCEF-2F40A2C0A287}"/>
              </a:ext>
            </a:extLst>
          </p:cNvPr>
          <p:cNvSpPr/>
          <p:nvPr/>
        </p:nvSpPr>
        <p:spPr>
          <a:xfrm>
            <a:off x="6012139" y="1851833"/>
            <a:ext cx="5952513" cy="57218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00" b="0">
                <a:solidFill>
                  <a:srgbClr val="333333"/>
                </a:solidFill>
                <a:latin typeface="맑은 고딕"/>
              </a:rPr>
              <a:t>굿닥 앱 병원 검색 화면 · 지역 설정 · '진료중' 필터 · 진료시간 표시</a:t>
            </a:r>
            <a:endParaRPr sz="10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대체재 : 네이버 지도·카카오맵(진료과로 못 찾음) · 포털 검색 · 전화 문의</a:t>
            </a:r>
          </a:p>
        </p:txBody>
      </p:sp>
      <p:cxnSp>
        <p:nvCxnSpPr>
          <p:cNvPr id="56" name="Google Shape;91;p1">
            <a:extLst>
              <a:ext uri="{FF2B5EF4-FFF2-40B4-BE49-F238E27FC236}">
                <a16:creationId xmlns:a16="http://schemas.microsoft.com/office/drawing/2014/main" id="{A015F0CB-1A16-84BA-B7CA-C30870A2E6BD}"/>
              </a:ext>
            </a:extLst>
          </p:cNvPr>
          <p:cNvCxnSpPr>
            <a:cxnSpLocks/>
          </p:cNvCxnSpPr>
          <p:nvPr/>
        </p:nvCxnSpPr>
        <p:spPr>
          <a:xfrm>
            <a:off x="5917324" y="1327585"/>
            <a:ext cx="6047328" cy="0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8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7C0AA6C-87E1-E8BE-BAC4-9DB1BE63A4F4}"/>
              </a:ext>
            </a:extLst>
          </p:cNvPr>
          <p:cNvGrpSpPr/>
          <p:nvPr/>
        </p:nvGrpSpPr>
        <p:grpSpPr>
          <a:xfrm>
            <a:off x="4790807" y="1450593"/>
            <a:ext cx="7245285" cy="354717"/>
            <a:chOff x="4719367" y="1407729"/>
            <a:chExt cx="7245285" cy="354717"/>
          </a:xfrm>
        </p:grpSpPr>
        <p:sp>
          <p:nvSpPr>
            <p:cNvPr id="15" name="Google Shape;187;p2">
              <a:extLst>
                <a:ext uri="{FF2B5EF4-FFF2-40B4-BE49-F238E27FC236}">
                  <a16:creationId xmlns:a16="http://schemas.microsoft.com/office/drawing/2014/main" id="{18A96237-DF2D-1E8E-2A2C-DE180CA3D7F0}"/>
                </a:ext>
              </a:extLst>
            </p:cNvPr>
            <p:cNvSpPr/>
            <p:nvPr/>
          </p:nvSpPr>
          <p:spPr>
            <a:xfrm>
              <a:off x="4719367" y="1407729"/>
              <a:ext cx="1197957" cy="350780"/>
            </a:xfrm>
            <a:prstGeom prst="snip1Rect">
              <a:avLst>
                <a:gd name="adj" fmla="val 16667"/>
              </a:avLst>
            </a:prstGeom>
            <a:solidFill>
              <a:schemeClr val="bg1">
                <a:lumMod val="85000"/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chemeClr val="bg2">
                      <a:lumMod val="25000"/>
                    </a:schemeClr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Arial"/>
                </a:rPr>
                <a:t>Keywords</a:t>
              </a:r>
              <a:endParaRPr sz="1200" b="1" dirty="0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endParaRPr>
            </a:p>
          </p:txBody>
        </p:sp>
        <p:cxnSp>
          <p:nvCxnSpPr>
            <p:cNvPr id="58" name="Google Shape;91;p1">
              <a:extLst>
                <a:ext uri="{FF2B5EF4-FFF2-40B4-BE49-F238E27FC236}">
                  <a16:creationId xmlns:a16="http://schemas.microsoft.com/office/drawing/2014/main" id="{75A47F17-E224-1AB7-C27F-0389535F7C27}"/>
                </a:ext>
              </a:extLst>
            </p:cNvPr>
            <p:cNvCxnSpPr>
              <a:cxnSpLocks/>
            </p:cNvCxnSpPr>
            <p:nvPr/>
          </p:nvCxnSpPr>
          <p:spPr>
            <a:xfrm>
              <a:off x="5917324" y="1762446"/>
              <a:ext cx="6047328" cy="0"/>
            </a:xfrm>
            <a:prstGeom prst="straightConnector1">
              <a:avLst/>
            </a:prstGeom>
            <a:noFill/>
            <a:ln w="12700" cap="flat" cmpd="sng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C8F3D1F-AD7D-1003-9E74-12A74493E18E}"/>
              </a:ext>
            </a:extLst>
          </p:cNvPr>
          <p:cNvGrpSpPr/>
          <p:nvPr/>
        </p:nvGrpSpPr>
        <p:grpSpPr>
          <a:xfrm>
            <a:off x="4805095" y="1881517"/>
            <a:ext cx="7245285" cy="585360"/>
            <a:chOff x="4719367" y="1838653"/>
            <a:chExt cx="7245285" cy="585360"/>
          </a:xfrm>
        </p:grpSpPr>
        <p:sp>
          <p:nvSpPr>
            <p:cNvPr id="45" name="Google Shape;187;p2">
              <a:extLst>
                <a:ext uri="{FF2B5EF4-FFF2-40B4-BE49-F238E27FC236}">
                  <a16:creationId xmlns:a16="http://schemas.microsoft.com/office/drawing/2014/main" id="{0550575B-043D-1557-BA7C-5A8E95507B50}"/>
                </a:ext>
              </a:extLst>
            </p:cNvPr>
            <p:cNvSpPr/>
            <p:nvPr/>
          </p:nvSpPr>
          <p:spPr>
            <a:xfrm>
              <a:off x="4719367" y="1838653"/>
              <a:ext cx="1197957" cy="585360"/>
            </a:xfrm>
            <a:prstGeom prst="snip1Rect">
              <a:avLst>
                <a:gd name="adj" fmla="val 16667"/>
              </a:avLst>
            </a:prstGeom>
            <a:solidFill>
              <a:schemeClr val="bg1">
                <a:lumMod val="85000"/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chemeClr val="bg2">
                      <a:lumMod val="25000"/>
                    </a:schemeClr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Arial"/>
                </a:rPr>
                <a:t>Artifact</a:t>
              </a:r>
              <a:endParaRPr sz="1200" b="1" dirty="0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endParaRPr>
            </a:p>
          </p:txBody>
        </p:sp>
        <p:cxnSp>
          <p:nvCxnSpPr>
            <p:cNvPr id="59" name="Google Shape;91;p1">
              <a:extLst>
                <a:ext uri="{FF2B5EF4-FFF2-40B4-BE49-F238E27FC236}">
                  <a16:creationId xmlns:a16="http://schemas.microsoft.com/office/drawing/2014/main" id="{754C2D88-80E8-5ABE-40C2-73E5AA934820}"/>
                </a:ext>
              </a:extLst>
            </p:cNvPr>
            <p:cNvCxnSpPr>
              <a:cxnSpLocks/>
            </p:cNvCxnSpPr>
            <p:nvPr/>
          </p:nvCxnSpPr>
          <p:spPr>
            <a:xfrm>
              <a:off x="5917324" y="2424013"/>
              <a:ext cx="6047328" cy="0"/>
            </a:xfrm>
            <a:prstGeom prst="straightConnector1">
              <a:avLst/>
            </a:prstGeom>
            <a:noFill/>
            <a:ln w="12700" cap="flat" cmpd="sng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6BCE79E-D035-061D-4F49-9116391B4E33}"/>
              </a:ext>
            </a:extLst>
          </p:cNvPr>
          <p:cNvGrpSpPr/>
          <p:nvPr/>
        </p:nvGrpSpPr>
        <p:grpSpPr>
          <a:xfrm>
            <a:off x="4805095" y="2535031"/>
            <a:ext cx="7245285" cy="350780"/>
            <a:chOff x="4719367" y="2935081"/>
            <a:chExt cx="7245285" cy="350780"/>
          </a:xfrm>
        </p:grpSpPr>
        <p:sp>
          <p:nvSpPr>
            <p:cNvPr id="19" name="Google Shape;187;p2">
              <a:extLst>
                <a:ext uri="{FF2B5EF4-FFF2-40B4-BE49-F238E27FC236}">
                  <a16:creationId xmlns:a16="http://schemas.microsoft.com/office/drawing/2014/main" id="{CC92C49F-0E41-196C-904D-9A9279328BA7}"/>
                </a:ext>
              </a:extLst>
            </p:cNvPr>
            <p:cNvSpPr/>
            <p:nvPr/>
          </p:nvSpPr>
          <p:spPr>
            <a:xfrm>
              <a:off x="4719367" y="2935081"/>
              <a:ext cx="1197957" cy="350780"/>
            </a:xfrm>
            <a:prstGeom prst="snip1Rect">
              <a:avLst>
                <a:gd name="adj" fmla="val 16667"/>
              </a:avLst>
            </a:prstGeom>
            <a:solidFill>
              <a:schemeClr val="bg1">
                <a:lumMod val="85000"/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chemeClr val="bg2">
                      <a:lumMod val="25000"/>
                    </a:schemeClr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Arial"/>
                </a:rPr>
                <a:t>Sentiment</a:t>
              </a:r>
              <a:endParaRPr sz="1200" b="1" dirty="0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endParaRPr>
            </a:p>
          </p:txBody>
        </p:sp>
        <p:cxnSp>
          <p:nvCxnSpPr>
            <p:cNvPr id="61" name="Google Shape;91;p1">
              <a:extLst>
                <a:ext uri="{FF2B5EF4-FFF2-40B4-BE49-F238E27FC236}">
                  <a16:creationId xmlns:a16="http://schemas.microsoft.com/office/drawing/2014/main" id="{285EEF22-FC9B-294F-4E86-950A51226185}"/>
                </a:ext>
              </a:extLst>
            </p:cNvPr>
            <p:cNvCxnSpPr>
              <a:cxnSpLocks/>
            </p:cNvCxnSpPr>
            <p:nvPr/>
          </p:nvCxnSpPr>
          <p:spPr>
            <a:xfrm>
              <a:off x="5917324" y="3282640"/>
              <a:ext cx="6047328" cy="0"/>
            </a:xfrm>
            <a:prstGeom prst="straightConnector1">
              <a:avLst/>
            </a:prstGeom>
            <a:noFill/>
            <a:ln w="12700" cap="flat" cmpd="sng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C24BA84F-1C09-67BA-69D7-5F4A51B5F624}"/>
              </a:ext>
            </a:extLst>
          </p:cNvPr>
          <p:cNvGrpSpPr/>
          <p:nvPr/>
        </p:nvGrpSpPr>
        <p:grpSpPr>
          <a:xfrm>
            <a:off x="4799353" y="3674554"/>
            <a:ext cx="7165299" cy="2979187"/>
            <a:chOff x="4799353" y="3452020"/>
            <a:chExt cx="7165299" cy="351182"/>
          </a:xfrm>
        </p:grpSpPr>
        <p:sp>
          <p:nvSpPr>
            <p:cNvPr id="62" name="Google Shape;187;p2">
              <a:extLst>
                <a:ext uri="{FF2B5EF4-FFF2-40B4-BE49-F238E27FC236}">
                  <a16:creationId xmlns:a16="http://schemas.microsoft.com/office/drawing/2014/main" id="{AE350BA6-AE55-1506-D8AC-86399A64D2A8}"/>
                </a:ext>
              </a:extLst>
            </p:cNvPr>
            <p:cNvSpPr/>
            <p:nvPr/>
          </p:nvSpPr>
          <p:spPr>
            <a:xfrm>
              <a:off x="4799353" y="3452020"/>
              <a:ext cx="1197957" cy="350780"/>
            </a:xfrm>
            <a:prstGeom prst="snip1Rect">
              <a:avLst>
                <a:gd name="adj" fmla="val 16667"/>
              </a:avLst>
            </a:prstGeom>
            <a:solidFill>
              <a:schemeClr val="bg1">
                <a:lumMod val="85000"/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chemeClr val="bg2">
                      <a:lumMod val="25000"/>
                    </a:schemeClr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Arial"/>
                </a:rPr>
                <a:t>Reviews</a:t>
              </a:r>
              <a:endParaRPr sz="1200" b="1" dirty="0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endParaRPr>
            </a:p>
          </p:txBody>
        </p:sp>
        <p:cxnSp>
          <p:nvCxnSpPr>
            <p:cNvPr id="63" name="Google Shape;91;p1">
              <a:extLst>
                <a:ext uri="{FF2B5EF4-FFF2-40B4-BE49-F238E27FC236}">
                  <a16:creationId xmlns:a16="http://schemas.microsoft.com/office/drawing/2014/main" id="{DD7EC376-0E71-37CD-FF4B-6CFD753977BD}"/>
                </a:ext>
              </a:extLst>
            </p:cNvPr>
            <p:cNvCxnSpPr>
              <a:cxnSpLocks/>
            </p:cNvCxnSpPr>
            <p:nvPr/>
          </p:nvCxnSpPr>
          <p:spPr>
            <a:xfrm>
              <a:off x="4799353" y="3803202"/>
              <a:ext cx="7165299" cy="0"/>
            </a:xfrm>
            <a:prstGeom prst="straightConnector1">
              <a:avLst/>
            </a:prstGeom>
            <a:noFill/>
            <a:ln w="12700" cap="flat" cmpd="sng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6" name="Google Shape;187;p2">
            <a:extLst>
              <a:ext uri="{FF2B5EF4-FFF2-40B4-BE49-F238E27FC236}">
                <a16:creationId xmlns:a16="http://schemas.microsoft.com/office/drawing/2014/main" id="{3EA6B22C-344B-74BE-2414-71155F56B968}"/>
              </a:ext>
            </a:extLst>
          </p:cNvPr>
          <p:cNvSpPr/>
          <p:nvPr/>
        </p:nvSpPr>
        <p:spPr>
          <a:xfrm>
            <a:off x="227348" y="3674557"/>
            <a:ext cx="11737304" cy="2399445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ko-KR" sz="1000" dirty="0">
              <a:solidFill>
                <a:schemeClr val="bg2">
                  <a:lumMod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1BC862-EA1F-6746-B55F-FF6F6B1A95F2}"/>
              </a:ext>
            </a:extLst>
          </p:cNvPr>
          <p:cNvGrpSpPr/>
          <p:nvPr/>
        </p:nvGrpSpPr>
        <p:grpSpPr>
          <a:xfrm>
            <a:off x="272509" y="3674557"/>
            <a:ext cx="4042316" cy="1484488"/>
            <a:chOff x="272509" y="3674557"/>
            <a:chExt cx="4042316" cy="585360"/>
          </a:xfrm>
        </p:grpSpPr>
        <p:sp>
          <p:nvSpPr>
            <p:cNvPr id="11" name="Google Shape;187;p2">
              <a:extLst>
                <a:ext uri="{FF2B5EF4-FFF2-40B4-BE49-F238E27FC236}">
                  <a16:creationId xmlns:a16="http://schemas.microsoft.com/office/drawing/2014/main" id="{553D144C-D0EA-BA64-399B-90BE5373F093}"/>
                </a:ext>
              </a:extLst>
            </p:cNvPr>
            <p:cNvSpPr/>
            <p:nvPr/>
          </p:nvSpPr>
          <p:spPr>
            <a:xfrm>
              <a:off x="272509" y="3674557"/>
              <a:ext cx="1197957" cy="585360"/>
            </a:xfrm>
            <a:prstGeom prst="snip1Rect">
              <a:avLst>
                <a:gd name="adj" fmla="val 16667"/>
              </a:avLst>
            </a:prstGeom>
            <a:solidFill>
              <a:schemeClr val="bg1">
                <a:lumMod val="85000"/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chemeClr val="bg2">
                      <a:lumMod val="25000"/>
                    </a:schemeClr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Arial"/>
                </a:rPr>
                <a:t>Needs</a:t>
              </a:r>
              <a:endParaRPr sz="1200" b="1" dirty="0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endParaRPr>
            </a:p>
          </p:txBody>
        </p:sp>
        <p:cxnSp>
          <p:nvCxnSpPr>
            <p:cNvPr id="12" name="Google Shape;91;p1">
              <a:extLst>
                <a:ext uri="{FF2B5EF4-FFF2-40B4-BE49-F238E27FC236}">
                  <a16:creationId xmlns:a16="http://schemas.microsoft.com/office/drawing/2014/main" id="{465F3BC0-6160-36B5-A691-C4E355385AA8}"/>
                </a:ext>
              </a:extLst>
            </p:cNvPr>
            <p:cNvCxnSpPr>
              <a:cxnSpLocks/>
            </p:cNvCxnSpPr>
            <p:nvPr/>
          </p:nvCxnSpPr>
          <p:spPr>
            <a:xfrm>
              <a:off x="272509" y="4259917"/>
              <a:ext cx="4042316" cy="0"/>
            </a:xfrm>
            <a:prstGeom prst="straightConnector1">
              <a:avLst/>
            </a:prstGeom>
            <a:noFill/>
            <a:ln w="12700" cap="flat" cmpd="sng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CC366C4-A672-0184-DE79-3E03135909D3}"/>
              </a:ext>
            </a:extLst>
          </p:cNvPr>
          <p:cNvGrpSpPr/>
          <p:nvPr/>
        </p:nvGrpSpPr>
        <p:grpSpPr>
          <a:xfrm>
            <a:off x="227348" y="5310029"/>
            <a:ext cx="4095058" cy="1340307"/>
            <a:chOff x="219767" y="3674557"/>
            <a:chExt cx="4095058" cy="585360"/>
          </a:xfrm>
        </p:grpSpPr>
        <p:sp>
          <p:nvSpPr>
            <p:cNvPr id="20" name="Google Shape;187;p2">
              <a:extLst>
                <a:ext uri="{FF2B5EF4-FFF2-40B4-BE49-F238E27FC236}">
                  <a16:creationId xmlns:a16="http://schemas.microsoft.com/office/drawing/2014/main" id="{8932A383-8165-31A9-937F-1DEE4496957B}"/>
                </a:ext>
              </a:extLst>
            </p:cNvPr>
            <p:cNvSpPr/>
            <p:nvPr/>
          </p:nvSpPr>
          <p:spPr>
            <a:xfrm>
              <a:off x="272509" y="3674557"/>
              <a:ext cx="1197957" cy="585360"/>
            </a:xfrm>
            <a:prstGeom prst="snip1Rect">
              <a:avLst>
                <a:gd name="adj" fmla="val 16667"/>
              </a:avLst>
            </a:prstGeom>
            <a:solidFill>
              <a:schemeClr val="bg1">
                <a:lumMod val="85000"/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chemeClr val="bg2">
                      <a:lumMod val="25000"/>
                    </a:schemeClr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Arial"/>
                </a:rPr>
                <a:t>Pain Points</a:t>
              </a:r>
              <a:endParaRPr sz="1200" b="1" dirty="0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endParaRPr>
            </a:p>
          </p:txBody>
        </p:sp>
        <p:cxnSp>
          <p:nvCxnSpPr>
            <p:cNvPr id="24" name="Google Shape;91;p1">
              <a:extLst>
                <a:ext uri="{FF2B5EF4-FFF2-40B4-BE49-F238E27FC236}">
                  <a16:creationId xmlns:a16="http://schemas.microsoft.com/office/drawing/2014/main" id="{5B081117-1223-7B65-FE46-FE8BCBD96A90}"/>
                </a:ext>
              </a:extLst>
            </p:cNvPr>
            <p:cNvCxnSpPr>
              <a:cxnSpLocks/>
            </p:cNvCxnSpPr>
            <p:nvPr/>
          </p:nvCxnSpPr>
          <p:spPr>
            <a:xfrm>
              <a:off x="219767" y="4259917"/>
              <a:ext cx="4095058" cy="0"/>
            </a:xfrm>
            <a:prstGeom prst="straightConnector1">
              <a:avLst/>
            </a:prstGeom>
            <a:noFill/>
            <a:ln w="12700" cap="flat" cmpd="sng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03E9A8F-13F5-212B-731A-57BA2424556A}"/>
              </a:ext>
            </a:extLst>
          </p:cNvPr>
          <p:cNvGrpSpPr/>
          <p:nvPr/>
        </p:nvGrpSpPr>
        <p:grpSpPr>
          <a:xfrm>
            <a:off x="4799353" y="2943025"/>
            <a:ext cx="7251024" cy="676879"/>
            <a:chOff x="4713628" y="2908690"/>
            <a:chExt cx="7251024" cy="377171"/>
          </a:xfrm>
        </p:grpSpPr>
        <p:sp>
          <p:nvSpPr>
            <p:cNvPr id="28" name="Google Shape;187;p2">
              <a:extLst>
                <a:ext uri="{FF2B5EF4-FFF2-40B4-BE49-F238E27FC236}">
                  <a16:creationId xmlns:a16="http://schemas.microsoft.com/office/drawing/2014/main" id="{A73C42D9-F276-6575-06C4-2C428C112CFB}"/>
                </a:ext>
              </a:extLst>
            </p:cNvPr>
            <p:cNvSpPr/>
            <p:nvPr/>
          </p:nvSpPr>
          <p:spPr>
            <a:xfrm>
              <a:off x="4719367" y="2908690"/>
              <a:ext cx="1197957" cy="377171"/>
            </a:xfrm>
            <a:prstGeom prst="snip1Rect">
              <a:avLst>
                <a:gd name="adj" fmla="val 16667"/>
              </a:avLst>
            </a:prstGeom>
            <a:solidFill>
              <a:srgbClr val="FBAE40">
                <a:alpha val="49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chemeClr val="bg2">
                      <a:lumMod val="25000"/>
                    </a:schemeClr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Arial"/>
                </a:rPr>
                <a:t>Key Insight</a:t>
              </a:r>
              <a:endParaRPr sz="1200" b="1" dirty="0">
                <a:solidFill>
                  <a:schemeClr val="bg2">
                    <a:lumMod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endParaRPr>
            </a:p>
          </p:txBody>
        </p:sp>
        <p:cxnSp>
          <p:nvCxnSpPr>
            <p:cNvPr id="29" name="Google Shape;91;p1">
              <a:extLst>
                <a:ext uri="{FF2B5EF4-FFF2-40B4-BE49-F238E27FC236}">
                  <a16:creationId xmlns:a16="http://schemas.microsoft.com/office/drawing/2014/main" id="{EC8A271A-0519-E0CA-7AA8-563772BC68C9}"/>
                </a:ext>
              </a:extLst>
            </p:cNvPr>
            <p:cNvCxnSpPr>
              <a:cxnSpLocks/>
            </p:cNvCxnSpPr>
            <p:nvPr/>
          </p:nvCxnSpPr>
          <p:spPr>
            <a:xfrm>
              <a:off x="4713628" y="3282640"/>
              <a:ext cx="7251024" cy="0"/>
            </a:xfrm>
            <a:prstGeom prst="straightConnector1">
              <a:avLst/>
            </a:prstGeom>
            <a:noFill/>
            <a:ln w="12700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76" name="Picture 75" descr="lda_topic_siz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230214"/>
            <a:ext cx="4379976" cy="180981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007608" y="2962656"/>
            <a:ext cx="5952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563EB"/>
                </a:solidFill>
                <a:latin typeface="맑은 고딕"/>
              </a:rPr>
              <a:t>· 조건을 네 번 나눠 고르게 하는 구조가 이탈을 만든다. 뒤로 가면 지역 설정이 풀린다는 지적이 반복된다.</a:t>
            </a:r>
          </a:p>
          <a:p>
            <a:r>
              <a:rPr sz="900" b="0">
                <a:solidFill>
                  <a:srgbClr val="2563EB"/>
                </a:solidFill>
                <a:latin typeface="맑은 고딕"/>
              </a:rPr>
              <a:t>· '진료중' 필터를 눌러도 먼 병원이 나온다 → 한 문장으로 받아 네 조건을 동시에 적용하면 사라지는 문제다.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07608" y="3694176"/>
            <a:ext cx="5952744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맑은 고딕"/>
              </a:rPr>
              <a:t>[토픽 4 · 별 1점]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  “가장 기본적인 기능인 검색부터 불편함. 장소 설정하고 병원보다가 뒤로가기하면 장소 설정해놨던거 초기화;;;; 그러면 다시 장소설정하고 검색해야함... 너무 불편. 병…”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/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[토픽 6 · 별 1점]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  “1. 회원가입 버튼 눌러서 가입완료 2. 로그인 실패라서 비번찾기 기능으로 비번 쉽게 초기화 함 3. 재로그인 하였으나 또 실패 4. 회원가입 다시 하니까 새로 회원…”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/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[토픽 1 · 별 1점]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  “병원 태블릿으로 굿닥 접수하고 왔는데 보호자 핸드폰 입력하고 애기들 한명당 왜 동의를 다 눌러야하고 거기다가 보호자 이름과 연락처를 또 넣어야합니까? 그리고 한 아이…”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554480" y="3694176"/>
            <a:ext cx="2743200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맑은 고딕"/>
              </a:rPr>
              <a:t>· 지금 문 연 곳을 한 번에 알고 싶다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· 증상만 말해도 어느 과인지 알려줬으면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· 왜 이 병원인지 근거를 보고 싶다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· 앱과 지도를 오가지 않았으면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554480" y="5330952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맑은 고딕"/>
              </a:rPr>
              <a:t>· 조건을 여러 번 고르다 지쳐 이탈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· 뒤로 가면 지역 설정이 초기화됨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· 갔는데 문이 닫혀 있음 (헛걸음)</a:t>
            </a:r>
          </a:p>
          <a:p>
            <a:r>
              <a:rPr sz="900" b="0">
                <a:solidFill>
                  <a:srgbClr val="333333"/>
                </a:solidFill>
                <a:latin typeface="맑은 고딕"/>
              </a:rPr>
              <a:t>· 진료시간이 아예 없는 병원이 많음</a:t>
            </a:r>
          </a:p>
        </p:txBody>
      </p:sp>
    </p:spTree>
    <p:extLst>
      <p:ext uri="{BB962C8B-B14F-4D97-AF65-F5344CB8AC3E}">
        <p14:creationId xmlns:p14="http://schemas.microsoft.com/office/powerpoint/2010/main" val="620988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전 과제 :: 고객 여정 분석">
            <a:extLst>
              <a:ext uri="{FF2B5EF4-FFF2-40B4-BE49-F238E27FC236}">
                <a16:creationId xmlns:a16="http://schemas.microsoft.com/office/drawing/2014/main" id="{0AFF42D0-50DD-1B84-00FD-3B2B68F19F56}"/>
              </a:ext>
            </a:extLst>
          </p:cNvPr>
          <p:cNvSpPr txBox="1"/>
          <p:nvPr/>
        </p:nvSpPr>
        <p:spPr>
          <a:xfrm>
            <a:off x="5291162" y="417834"/>
            <a:ext cx="1557051" cy="478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84402" tIns="84402" rIns="84402" bIns="84402">
            <a:spAutoFit/>
          </a:bodyPr>
          <a:lstStyle>
            <a:lvl1pPr>
              <a:defRPr sz="2000">
                <a:solidFill>
                  <a:srgbClr val="FFFFFF"/>
                </a:solidFill>
                <a:latin typeface="KB금융 제목체 Medium"/>
                <a:ea typeface="KB금융 제목체 Medium"/>
                <a:cs typeface="KB금융 제목체 Medium"/>
                <a:sym typeface="KB금융 제목체 Medium"/>
              </a:defRPr>
            </a:lvl1pPr>
          </a:lstStyle>
          <a:p>
            <a:pPr defTabSz="914347">
              <a:defRPr/>
            </a:pP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서비스 정의서</a:t>
            </a:r>
            <a:endParaRPr>
              <a:solidFill>
                <a:schemeClr val="tx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0F5AEC-A2C4-A2EE-1AE0-F2575C191259}"/>
              </a:ext>
            </a:extLst>
          </p:cNvPr>
          <p:cNvSpPr txBox="1"/>
          <p:nvPr/>
        </p:nvSpPr>
        <p:spPr>
          <a:xfrm>
            <a:off x="1717721" y="1271098"/>
            <a:ext cx="8887878" cy="307777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 defTabSz="900597" hangingPunct="0"/>
            <a:r>
              <a:rPr sz="1100" b="1">
                <a:solidFill>
                  <a:srgbClr val="333333"/>
                </a:solidFill>
                <a:latin typeface="맑은 고딕"/>
              </a:rPr>
              <a:t>굿닥 AI 병원 선택 어시스턴트   |   독수리5형제   |   근거: LDA 토픽 4 588건(18.4%), 평균 3.92점</a:t>
            </a:r>
            <a:endParaRPr kumimoji="1" lang="ko-Kore-KR" altLang="en-US" sz="1400" kern="0">
              <a:solidFill>
                <a:srgbClr val="00000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E598625-8FC5-76A3-025D-6A552908D457}"/>
              </a:ext>
            </a:extLst>
          </p:cNvPr>
          <p:cNvSpPr txBox="1"/>
          <p:nvPr/>
        </p:nvSpPr>
        <p:spPr>
          <a:xfrm>
            <a:off x="1717723" y="2083340"/>
            <a:ext cx="3553741" cy="3057372"/>
          </a:xfrm>
          <a:prstGeom prst="rect">
            <a:avLst/>
          </a:prstGeom>
          <a:noFill/>
          <a:ln w="12700">
            <a:solidFill>
              <a:srgbClr val="2C5A79">
                <a:alpha val="63529"/>
              </a:srgbClr>
            </a:solidFill>
          </a:ln>
        </p:spPr>
        <p:txBody>
          <a:bodyPr wrap="square" rtlCol="0">
            <a:noAutofit/>
          </a:bodyPr>
          <a:lstStyle/>
          <a:p>
            <a:pPr algn="ctr" defTabSz="900597" hangingPunct="0"/>
            <a:endParaRPr kumimoji="1" lang="en-US" altLang="ko-Kore-KR" sz="1400" kern="0">
              <a:solidFill>
                <a:srgbClr val="00000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>
              <a:solidFill>
                <a:srgbClr val="00000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>
              <a:solidFill>
                <a:srgbClr val="00000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>
              <a:solidFill>
                <a:srgbClr val="00000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>
              <a:solidFill>
                <a:srgbClr val="00000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>
              <a:solidFill>
                <a:srgbClr val="00000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>
              <a:solidFill>
                <a:srgbClr val="00000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>
              <a:solidFill>
                <a:srgbClr val="00000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>
              <a:solidFill>
                <a:srgbClr val="00000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>
              <a:solidFill>
                <a:srgbClr val="00000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>
              <a:solidFill>
                <a:srgbClr val="00000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>
              <a:solidFill>
                <a:srgbClr val="00000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>
              <a:solidFill>
                <a:srgbClr val="00000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  <a:p>
            <a:pPr algn="ctr" defTabSz="900597" hangingPunct="0"/>
            <a:endParaRPr kumimoji="1" lang="en-US" altLang="ko-Kore-KR" sz="1400" kern="0">
              <a:solidFill>
                <a:srgbClr val="00000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  <a:p>
            <a:pPr algn="ctr" defTabSz="900597" hangingPunct="0"/>
            <a:endParaRPr kumimoji="1" lang="ko-Kore-KR" altLang="en-US" sz="1400" kern="0">
              <a:solidFill>
                <a:srgbClr val="00000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6AE0AEF-B27D-09BD-D13A-818A1D62F5FA}"/>
              </a:ext>
            </a:extLst>
          </p:cNvPr>
          <p:cNvGrpSpPr/>
          <p:nvPr/>
        </p:nvGrpSpPr>
        <p:grpSpPr>
          <a:xfrm>
            <a:off x="2033138" y="5546083"/>
            <a:ext cx="2934931" cy="199958"/>
            <a:chOff x="939195" y="6048922"/>
            <a:chExt cx="3687904" cy="251258"/>
          </a:xfrm>
          <a:solidFill>
            <a:schemeClr val="bg1">
              <a:lumMod val="95000"/>
            </a:schemeClr>
          </a:solidFill>
        </p:grpSpPr>
        <p:sp>
          <p:nvSpPr>
            <p:cNvPr id="44" name="모서리가 둥근 직사각형 43">
              <a:extLst>
                <a:ext uri="{FF2B5EF4-FFF2-40B4-BE49-F238E27FC236}">
                  <a16:creationId xmlns:a16="http://schemas.microsoft.com/office/drawing/2014/main" id="{380A2C2E-3B48-18A3-19EA-B239536D4559}"/>
                </a:ext>
              </a:extLst>
            </p:cNvPr>
            <p:cNvSpPr/>
            <p:nvPr/>
          </p:nvSpPr>
          <p:spPr>
            <a:xfrm>
              <a:off x="939195" y="6048923"/>
              <a:ext cx="1719306" cy="251257"/>
            </a:xfrm>
            <a:prstGeom prst="roundRect">
              <a:avLst>
                <a:gd name="adj" fmla="val 49016"/>
              </a:avLst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 defTabSz="727721">
                <a:defRPr/>
              </a:pPr>
              <a:r>
                <a:rPr sz="900" b="1">
                  <a:solidFill>
                    <a:srgbClr val="2563EB"/>
                  </a:solidFill>
                  <a:latin typeface="맑은 고딕"/>
                </a:rPr>
                <a:t>#전국_79,819곳</a:t>
              </a:r>
              <a:endParaRPr kumimoji="1" lang="ko-Kore-KR" altLang="en-US" sz="900" kern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</p:txBody>
        </p:sp>
        <p:sp>
          <p:nvSpPr>
            <p:cNvPr id="46" name="모서리가 둥근 직사각형 45">
              <a:extLst>
                <a:ext uri="{FF2B5EF4-FFF2-40B4-BE49-F238E27FC236}">
                  <a16:creationId xmlns:a16="http://schemas.microsoft.com/office/drawing/2014/main" id="{3ECAE418-E586-BE5E-1430-48952164F96D}"/>
                </a:ext>
              </a:extLst>
            </p:cNvPr>
            <p:cNvSpPr/>
            <p:nvPr/>
          </p:nvSpPr>
          <p:spPr>
            <a:xfrm>
              <a:off x="2907793" y="6048922"/>
              <a:ext cx="1719306" cy="251257"/>
            </a:xfrm>
            <a:prstGeom prst="roundRect">
              <a:avLst>
                <a:gd name="adj" fmla="val 49016"/>
              </a:avLst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 defTabSz="727721">
                <a:defRPr/>
              </a:pPr>
              <a:r>
                <a:rPr sz="900" b="1">
                  <a:solidFill>
                    <a:srgbClr val="2563EB"/>
                  </a:solidFill>
                  <a:latin typeface="맑은 고딕"/>
                </a:rPr>
                <a:t>#길찾기까지_연결</a:t>
              </a:r>
              <a:endParaRPr kumimoji="1" lang="ko-Kore-KR" altLang="en-US" sz="90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</p:txBody>
        </p:sp>
      </p:grp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EA828D97-AF1D-4A62-2C00-B6050C39CB5C}"/>
              </a:ext>
            </a:extLst>
          </p:cNvPr>
          <p:cNvSpPr/>
          <p:nvPr/>
        </p:nvSpPr>
        <p:spPr>
          <a:xfrm>
            <a:off x="5559052" y="1740128"/>
            <a:ext cx="948800" cy="282844"/>
          </a:xfrm>
          <a:prstGeom prst="roundRect">
            <a:avLst>
              <a:gd name="adj" fmla="val 49016"/>
            </a:avLst>
          </a:prstGeom>
          <a:solidFill>
            <a:srgbClr val="2C5B7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27721">
              <a:defRPr/>
            </a:pPr>
            <a:r>
              <a:rPr kumimoji="1" lang="en-US" altLang="ko-Kore-KR" sz="1000" kern="0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rPr>
              <a:t>Target</a:t>
            </a:r>
            <a:endParaRPr kumimoji="1" lang="ko-Kore-KR" altLang="en-US" sz="1000">
              <a:solidFill>
                <a:srgbClr val="FFFFF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7F243FEE-951B-53AB-9298-1D3C102FE5A7}"/>
              </a:ext>
            </a:extLst>
          </p:cNvPr>
          <p:cNvSpPr/>
          <p:nvPr/>
        </p:nvSpPr>
        <p:spPr>
          <a:xfrm>
            <a:off x="5559052" y="2832532"/>
            <a:ext cx="948800" cy="282844"/>
          </a:xfrm>
          <a:prstGeom prst="roundRect">
            <a:avLst>
              <a:gd name="adj" fmla="val 49016"/>
            </a:avLst>
          </a:prstGeom>
          <a:solidFill>
            <a:srgbClr val="2C5B7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27721">
              <a:defRPr/>
            </a:pPr>
            <a:r>
              <a:rPr kumimoji="1" lang="en-US" altLang="ko-Kore-KR" sz="1000" kern="0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rPr>
              <a:t>Concept</a:t>
            </a:r>
            <a:endParaRPr kumimoji="1" lang="ko-Kore-KR" altLang="en-US" sz="1000">
              <a:solidFill>
                <a:srgbClr val="FFFFF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09A203D-0785-7884-624D-E1B0DBE06991}"/>
              </a:ext>
            </a:extLst>
          </p:cNvPr>
          <p:cNvSpPr txBox="1"/>
          <p:nvPr/>
        </p:nvSpPr>
        <p:spPr>
          <a:xfrm>
            <a:off x="6586747" y="1685155"/>
            <a:ext cx="3984706" cy="259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597" hangingPunct="0">
              <a:lnSpc>
                <a:spcPct val="150000"/>
              </a:lnSpc>
            </a:pPr>
            <a:r>
              <a:rPr sz="850" b="0">
                <a:solidFill>
                  <a:srgbClr val="333333"/>
                </a:solidFill>
                <a:latin typeface="맑은 고딕"/>
              </a:rPr>
              <a:t>지금 당장 갈 병원을 스스로 골라야 하는 이용자 (특히 저녁·주말에 아이를 데려갈 곳을 찾는 보호자)</a:t>
            </a:r>
            <a:endParaRPr kumimoji="1" lang="ko-Kore-KR" altLang="en-US" sz="800" kern="0">
              <a:solidFill>
                <a:srgbClr val="00000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FA770993-BF91-E0BC-B04C-699D3517406E}"/>
              </a:ext>
            </a:extLst>
          </p:cNvPr>
          <p:cNvSpPr/>
          <p:nvPr/>
        </p:nvSpPr>
        <p:spPr>
          <a:xfrm>
            <a:off x="5559052" y="4407337"/>
            <a:ext cx="948800" cy="335739"/>
          </a:xfrm>
          <a:prstGeom prst="roundRect">
            <a:avLst>
              <a:gd name="adj" fmla="val 49016"/>
            </a:avLst>
          </a:prstGeom>
          <a:solidFill>
            <a:srgbClr val="2C5B7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27721">
              <a:defRPr/>
            </a:pPr>
            <a:r>
              <a:rPr kumimoji="1" lang="ko-KR" altLang="en-US" sz="1000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rPr>
              <a:t>터치 포인트</a:t>
            </a:r>
            <a:endParaRPr kumimoji="1" lang="ko-Kore-KR" altLang="en-US" sz="1000">
              <a:solidFill>
                <a:srgbClr val="FFFFF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E9F6E428-6F89-1E1D-55E8-458586301CA0}"/>
              </a:ext>
            </a:extLst>
          </p:cNvPr>
          <p:cNvSpPr/>
          <p:nvPr/>
        </p:nvSpPr>
        <p:spPr>
          <a:xfrm>
            <a:off x="5559052" y="2165344"/>
            <a:ext cx="948800" cy="335739"/>
          </a:xfrm>
          <a:prstGeom prst="roundRect">
            <a:avLst>
              <a:gd name="adj" fmla="val 49016"/>
            </a:avLst>
          </a:prstGeom>
          <a:solidFill>
            <a:srgbClr val="2C5B7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27721">
              <a:defRPr/>
            </a:pPr>
            <a:r>
              <a:rPr kumimoji="1" lang="en-US" altLang="ko-Kore-KR" sz="1000" kern="0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rPr>
              <a:t>Key Value</a:t>
            </a:r>
            <a:endParaRPr kumimoji="1" lang="ko-Kore-KR" altLang="en-US" sz="1000">
              <a:solidFill>
                <a:srgbClr val="FFFFF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59B168A1-FCE0-AC03-D582-80DF6142C31C}"/>
              </a:ext>
            </a:extLst>
          </p:cNvPr>
          <p:cNvGrpSpPr/>
          <p:nvPr/>
        </p:nvGrpSpPr>
        <p:grpSpPr>
          <a:xfrm>
            <a:off x="2033139" y="5243419"/>
            <a:ext cx="2934930" cy="199958"/>
            <a:chOff x="843487" y="5419865"/>
            <a:chExt cx="3687903" cy="251258"/>
          </a:xfrm>
          <a:solidFill>
            <a:schemeClr val="bg1">
              <a:lumMod val="95000"/>
            </a:schemeClr>
          </a:solidFill>
        </p:grpSpPr>
        <p:sp>
          <p:nvSpPr>
            <p:cNvPr id="59" name="모서리가 둥근 직사각형 58">
              <a:extLst>
                <a:ext uri="{FF2B5EF4-FFF2-40B4-BE49-F238E27FC236}">
                  <a16:creationId xmlns:a16="http://schemas.microsoft.com/office/drawing/2014/main" id="{40CD7E6F-32F1-9D8B-076E-9A85867B920B}"/>
                </a:ext>
              </a:extLst>
            </p:cNvPr>
            <p:cNvSpPr/>
            <p:nvPr/>
          </p:nvSpPr>
          <p:spPr>
            <a:xfrm>
              <a:off x="843487" y="5419866"/>
              <a:ext cx="1118592" cy="251257"/>
            </a:xfrm>
            <a:prstGeom prst="roundRect">
              <a:avLst>
                <a:gd name="adj" fmla="val 49016"/>
              </a:avLst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 defTabSz="727721">
                <a:defRPr/>
              </a:pPr>
              <a:r>
                <a:rPr sz="700" b="1">
                  <a:solidFill>
                    <a:srgbClr val="2563EB"/>
                  </a:solidFill>
                  <a:latin typeface="맑은 고딕"/>
                </a:rPr>
                <a:t>#말로_찾는_병원</a:t>
              </a:r>
              <a:endParaRPr kumimoji="1" lang="ko-Kore-KR" altLang="en-US" sz="90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</p:txBody>
        </p:sp>
        <p:sp>
          <p:nvSpPr>
            <p:cNvPr id="60" name="모서리가 둥근 직사각형 59">
              <a:extLst>
                <a:ext uri="{FF2B5EF4-FFF2-40B4-BE49-F238E27FC236}">
                  <a16:creationId xmlns:a16="http://schemas.microsoft.com/office/drawing/2014/main" id="{8C38B55E-07E1-06F1-2EAC-8BE0483A5A4C}"/>
                </a:ext>
              </a:extLst>
            </p:cNvPr>
            <p:cNvSpPr/>
            <p:nvPr/>
          </p:nvSpPr>
          <p:spPr>
            <a:xfrm>
              <a:off x="2128141" y="5419866"/>
              <a:ext cx="1118593" cy="251257"/>
            </a:xfrm>
            <a:prstGeom prst="roundRect">
              <a:avLst>
                <a:gd name="adj" fmla="val 49016"/>
              </a:avLst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 defTabSz="727721">
                <a:defRPr/>
              </a:pPr>
              <a:r>
                <a:rPr sz="700" b="1">
                  <a:solidFill>
                    <a:srgbClr val="2563EB"/>
                  </a:solidFill>
                  <a:latin typeface="맑은 고딕"/>
                </a:rPr>
                <a:t>#지금_문_연_곳</a:t>
              </a:r>
              <a:endParaRPr kumimoji="1" lang="ko-Kore-KR" altLang="en-US" sz="9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</p:txBody>
        </p:sp>
        <p:sp>
          <p:nvSpPr>
            <p:cNvPr id="61" name="모서리가 둥근 직사각형 60">
              <a:extLst>
                <a:ext uri="{FF2B5EF4-FFF2-40B4-BE49-F238E27FC236}">
                  <a16:creationId xmlns:a16="http://schemas.microsoft.com/office/drawing/2014/main" id="{31196802-4EAD-279E-0EC7-16E6C4B7E63F}"/>
                </a:ext>
              </a:extLst>
            </p:cNvPr>
            <p:cNvSpPr/>
            <p:nvPr/>
          </p:nvSpPr>
          <p:spPr>
            <a:xfrm>
              <a:off x="3412796" y="5419865"/>
              <a:ext cx="1118594" cy="251257"/>
            </a:xfrm>
            <a:prstGeom prst="roundRect">
              <a:avLst>
                <a:gd name="adj" fmla="val 49016"/>
              </a:avLst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 defTabSz="727721">
                <a:defRPr/>
              </a:pPr>
              <a:r>
                <a:rPr sz="700" b="1">
                  <a:solidFill>
                    <a:srgbClr val="2563EB"/>
                  </a:solidFill>
                  <a:latin typeface="맑은 고딕"/>
                </a:rPr>
                <a:t>#실시간_응급실_병상</a:t>
              </a:r>
              <a:endParaRPr kumimoji="1" lang="ko-Kore-KR" altLang="en-US" sz="90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</p:txBody>
        </p:sp>
      </p:grpSp>
      <p:sp>
        <p:nvSpPr>
          <p:cNvPr id="64" name="모서리가 둥근 직사각형 63">
            <a:extLst>
              <a:ext uri="{FF2B5EF4-FFF2-40B4-BE49-F238E27FC236}">
                <a16:creationId xmlns:a16="http://schemas.microsoft.com/office/drawing/2014/main" id="{EE0FDAA5-B265-BAC2-5201-AA934008984D}"/>
              </a:ext>
            </a:extLst>
          </p:cNvPr>
          <p:cNvSpPr/>
          <p:nvPr/>
        </p:nvSpPr>
        <p:spPr>
          <a:xfrm>
            <a:off x="1765207" y="1685156"/>
            <a:ext cx="1158137" cy="282844"/>
          </a:xfrm>
          <a:prstGeom prst="roundRect">
            <a:avLst>
              <a:gd name="adj" fmla="val 49016"/>
            </a:avLst>
          </a:prstGeom>
          <a:solidFill>
            <a:srgbClr val="2C5B7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27721">
              <a:defRPr/>
            </a:pPr>
            <a:r>
              <a:rPr kumimoji="1" lang="ko-KR" altLang="en-US" sz="1100" kern="0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rPr>
              <a:t>서비스 이미지</a:t>
            </a:r>
            <a:endParaRPr kumimoji="1" lang="ko-Kore-KR" altLang="en-US" sz="1100">
              <a:solidFill>
                <a:srgbClr val="FFFFF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8FF07776-515A-B1AA-F27D-F007DE6F45FF}"/>
              </a:ext>
            </a:extLst>
          </p:cNvPr>
          <p:cNvSpPr/>
          <p:nvPr/>
        </p:nvSpPr>
        <p:spPr>
          <a:xfrm>
            <a:off x="5553924" y="5140712"/>
            <a:ext cx="1169384" cy="335739"/>
          </a:xfrm>
          <a:prstGeom prst="roundRect">
            <a:avLst>
              <a:gd name="adj" fmla="val 49016"/>
            </a:avLst>
          </a:prstGeom>
          <a:solidFill>
            <a:srgbClr val="2C5B7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27721">
              <a:defRPr/>
            </a:pPr>
            <a:r>
              <a:rPr kumimoji="1" lang="en-US" altLang="ko-KR" sz="1000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rPr>
              <a:t>Key Accelerator</a:t>
            </a:r>
            <a:endParaRPr kumimoji="1" lang="ko-Kore-KR" altLang="en-US" sz="1000">
              <a:solidFill>
                <a:srgbClr val="FFFFF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617580" y="2786812"/>
            <a:ext cx="39867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맑은 고딕"/>
              </a:rPr>
              <a:t>진단하는 AI가 아니라 '병원 선택을 도와주는 AI'. 자연어 → 조건 추출 → 공공데이터 검색 → 근거 있는 추천.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17580" y="4361617"/>
            <a:ext cx="39867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맑은 고딕"/>
              </a:rPr>
              <a:t>웹·모바일 대화창 / 음성 입력 / 목소리 안내 / 네이버지도·카카오맵 길찾기 연결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17580" y="2119624"/>
            <a:ext cx="39867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맑은 고딕"/>
              </a:rPr>
              <a:t>묻는 말 그대로 답이 나오는 병원 찾기. 왜 이 병원인지 근거까지 함께 보여준다.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33036" y="5094992"/>
            <a:ext cx="39867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33333"/>
                </a:solidFill>
                <a:latin typeface="맑은 고딕"/>
              </a:rPr>
              <a:t>전국 병원 79,819곳·약국 25,757곳 공공데이터, 진료시간 58,909곳(73.8%) 확보. 네이버·카카오 API가 주지 않는 정보라 따라오기 어렵다.</a:t>
            </a:r>
          </a:p>
        </p:txBody>
      </p:sp>
      <p:pic>
        <p:nvPicPr>
          <p:cNvPr id="69" name="Picture 68" descr="service_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2148840"/>
            <a:ext cx="2876679" cy="28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803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63">
            <a:extLst>
              <a:ext uri="{FF2B5EF4-FFF2-40B4-BE49-F238E27FC236}">
                <a16:creationId xmlns:a16="http://schemas.microsoft.com/office/drawing/2014/main" id="{5ECED1E9-32F6-870F-1845-46995DCC7272}"/>
              </a:ext>
            </a:extLst>
          </p:cNvPr>
          <p:cNvSpPr/>
          <p:nvPr/>
        </p:nvSpPr>
        <p:spPr>
          <a:xfrm>
            <a:off x="5289758" y="3264309"/>
            <a:ext cx="1598412" cy="1339065"/>
          </a:xfrm>
          <a:prstGeom prst="roundRect">
            <a:avLst>
              <a:gd name="adj" fmla="val 18727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27721">
              <a:defRPr/>
            </a:pPr>
            <a:endParaRPr kumimoji="1" lang="ko-Kore-KR" altLang="en-US" sz="1100">
              <a:solidFill>
                <a:srgbClr val="FFFFF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</p:txBody>
      </p:sp>
      <p:sp>
        <p:nvSpPr>
          <p:cNvPr id="2" name="사전 과제 :: 고객 여정 분석">
            <a:extLst>
              <a:ext uri="{FF2B5EF4-FFF2-40B4-BE49-F238E27FC236}">
                <a16:creationId xmlns:a16="http://schemas.microsoft.com/office/drawing/2014/main" id="{0AFF42D0-50DD-1B84-00FD-3B2B68F19F56}"/>
              </a:ext>
            </a:extLst>
          </p:cNvPr>
          <p:cNvSpPr txBox="1"/>
          <p:nvPr/>
        </p:nvSpPr>
        <p:spPr>
          <a:xfrm>
            <a:off x="5291162" y="417834"/>
            <a:ext cx="1555447" cy="478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84402" tIns="84402" rIns="84402" bIns="84402">
            <a:spAutoFit/>
          </a:bodyPr>
          <a:lstStyle>
            <a:lvl1pPr>
              <a:defRPr sz="2000">
                <a:solidFill>
                  <a:srgbClr val="FFFFFF"/>
                </a:solidFill>
                <a:latin typeface="KB금융 제목체 Medium"/>
                <a:ea typeface="KB금융 제목체 Medium"/>
                <a:cs typeface="KB금융 제목체 Medium"/>
                <a:sym typeface="KB금융 제목체 Medium"/>
              </a:defRPr>
            </a:lvl1pPr>
          </a:lstStyle>
          <a:p>
            <a:pPr defTabSz="914347">
              <a:defRPr/>
            </a:pPr>
            <a:r>
              <a:rPr lang="ko-KR" altLang="en-US" sz="12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서비스 정의서</a:t>
            </a:r>
            <a:endParaRPr>
              <a:solidFill>
                <a:schemeClr val="tx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0F5AEC-A2C4-A2EE-1AE0-F2575C191259}"/>
              </a:ext>
            </a:extLst>
          </p:cNvPr>
          <p:cNvSpPr txBox="1"/>
          <p:nvPr/>
        </p:nvSpPr>
        <p:spPr>
          <a:xfrm>
            <a:off x="1717721" y="1271098"/>
            <a:ext cx="8887878" cy="307777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 defTabSz="900597" hangingPunct="0"/>
            <a:r>
              <a:rPr sz="1100" b="1">
                <a:solidFill>
                  <a:srgbClr val="333333"/>
                </a:solidFill>
                <a:latin typeface="맑은 고딕"/>
              </a:rPr>
              <a:t>4D-CX 측면의 서비스   |   독수리5형제</a:t>
            </a:r>
            <a:endParaRPr kumimoji="1" lang="ko-Kore-KR" altLang="en-US" sz="1400" kern="0">
              <a:solidFill>
                <a:srgbClr val="00000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</p:txBody>
      </p:sp>
      <p:sp>
        <p:nvSpPr>
          <p:cNvPr id="64" name="모서리가 둥근 직사각형 63">
            <a:extLst>
              <a:ext uri="{FF2B5EF4-FFF2-40B4-BE49-F238E27FC236}">
                <a16:creationId xmlns:a16="http://schemas.microsoft.com/office/drawing/2014/main" id="{EE0FDAA5-B265-BAC2-5201-AA934008984D}"/>
              </a:ext>
            </a:extLst>
          </p:cNvPr>
          <p:cNvSpPr/>
          <p:nvPr/>
        </p:nvSpPr>
        <p:spPr>
          <a:xfrm>
            <a:off x="1765207" y="1685156"/>
            <a:ext cx="1774406" cy="282844"/>
          </a:xfrm>
          <a:prstGeom prst="roundRect">
            <a:avLst>
              <a:gd name="adj" fmla="val 49016"/>
            </a:avLst>
          </a:prstGeom>
          <a:solidFill>
            <a:srgbClr val="2C5B7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27721">
              <a:defRPr/>
            </a:pPr>
            <a:r>
              <a:rPr kumimoji="1" lang="en-US" altLang="ko-KR" sz="1100" kern="0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rPr>
              <a:t>4D-CX </a:t>
            </a:r>
            <a:r>
              <a:rPr kumimoji="1" lang="ko-KR" altLang="en-US" sz="1100" kern="0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rPr>
              <a:t>측면의 서비스 </a:t>
            </a:r>
            <a:endParaRPr kumimoji="1" lang="ko-Kore-KR" altLang="en-US" sz="1100">
              <a:solidFill>
                <a:srgbClr val="FFFFF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KB금융 본문체 Medium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7C50CBE-E5CA-3A1B-211B-E04CF51BDD45}"/>
              </a:ext>
            </a:extLst>
          </p:cNvPr>
          <p:cNvGrpSpPr/>
          <p:nvPr/>
        </p:nvGrpSpPr>
        <p:grpSpPr>
          <a:xfrm>
            <a:off x="1717723" y="2083340"/>
            <a:ext cx="8887876" cy="3924170"/>
            <a:chOff x="1717723" y="2083340"/>
            <a:chExt cx="8887876" cy="392417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E598625-8FC5-76A3-025D-6A552908D457}"/>
                </a:ext>
              </a:extLst>
            </p:cNvPr>
            <p:cNvSpPr txBox="1"/>
            <p:nvPr/>
          </p:nvSpPr>
          <p:spPr>
            <a:xfrm>
              <a:off x="1717723" y="2083340"/>
              <a:ext cx="8887876" cy="3924170"/>
            </a:xfrm>
            <a:prstGeom prst="rect">
              <a:avLst/>
            </a:prstGeom>
            <a:noFill/>
            <a:ln w="12700">
              <a:solidFill>
                <a:srgbClr val="2C5A79">
                  <a:alpha val="63529"/>
                </a:srgbClr>
              </a:solidFill>
            </a:ln>
          </p:spPr>
          <p:txBody>
            <a:bodyPr wrap="square" rtlCol="0">
              <a:noAutofit/>
            </a:bodyPr>
            <a:lstStyle/>
            <a:p>
              <a:pPr algn="ctr" defTabSz="900597" hangingPunct="0"/>
              <a:endParaRPr kumimoji="1" lang="en-US" altLang="ko-Kore-KR" sz="1400" kern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  <a:p>
              <a:pPr algn="ctr" defTabSz="900597" hangingPunct="0"/>
              <a:endParaRPr kumimoji="1" lang="en-US" altLang="ko-Kore-KR" sz="1400" kern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  <a:p>
              <a:pPr algn="ctr" defTabSz="900597" hangingPunct="0"/>
              <a:endParaRPr kumimoji="1" lang="ko-Kore-KR" altLang="en-US" sz="1400" kern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</p:txBody>
        </p: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8A85EDB9-7EFF-B7D4-F93C-C6F5B4D18AF3}"/>
                </a:ext>
              </a:extLst>
            </p:cNvPr>
            <p:cNvCxnSpPr/>
            <p:nvPr/>
          </p:nvCxnSpPr>
          <p:spPr>
            <a:xfrm>
              <a:off x="2310581" y="3972232"/>
              <a:ext cx="80722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7C7665D8-5F92-9439-73A9-5BCEDF522A59}"/>
                </a:ext>
              </a:extLst>
            </p:cNvPr>
            <p:cNvCxnSpPr/>
            <p:nvPr/>
          </p:nvCxnSpPr>
          <p:spPr>
            <a:xfrm>
              <a:off x="6096000" y="2310581"/>
              <a:ext cx="0" cy="34019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840018E-5B6A-135C-9262-7B55DE76ABA4}"/>
              </a:ext>
            </a:extLst>
          </p:cNvPr>
          <p:cNvGrpSpPr/>
          <p:nvPr/>
        </p:nvGrpSpPr>
        <p:grpSpPr>
          <a:xfrm>
            <a:off x="5447835" y="3380592"/>
            <a:ext cx="1309449" cy="1179699"/>
            <a:chOff x="5447835" y="3380592"/>
            <a:chExt cx="1309449" cy="1179699"/>
          </a:xfrm>
        </p:grpSpPr>
        <p:sp>
          <p:nvSpPr>
            <p:cNvPr id="9" name="TextBox 33">
              <a:extLst>
                <a:ext uri="{FF2B5EF4-FFF2-40B4-BE49-F238E27FC236}">
                  <a16:creationId xmlns:a16="http://schemas.microsoft.com/office/drawing/2014/main" id="{5C9330A2-5632-99F5-4BDF-FAE0FC5E3CAB}"/>
                </a:ext>
              </a:extLst>
            </p:cNvPr>
            <p:cNvSpPr txBox="1"/>
            <p:nvPr/>
          </p:nvSpPr>
          <p:spPr>
            <a:xfrm>
              <a:off x="5447835" y="3380592"/>
              <a:ext cx="648165" cy="5641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42493" rIns="42493">
              <a:spAutoFit/>
            </a:bodyPr>
            <a:lstStyle/>
            <a:p>
              <a:pPr algn="ctr" defTabSz="900703" latinLnBrk="0" hangingPunct="0">
                <a:defRPr sz="1100"/>
              </a:pPr>
              <a:r>
                <a:rPr sz="850" kern="0" err="1">
                  <a:solidFill>
                    <a:srgbClr val="000000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KB금융 본문체 Medium"/>
                </a:rPr>
                <a:t>더</a:t>
              </a:r>
              <a:r>
                <a:rPr sz="850" kern="0">
                  <a:solidFill>
                    <a:srgbClr val="000000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KB금융 본문체 Medium"/>
                </a:rPr>
                <a:t> </a:t>
              </a:r>
              <a:r>
                <a:rPr sz="850" kern="0" err="1">
                  <a:solidFill>
                    <a:srgbClr val="000000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KB금융 본문체 Medium"/>
                </a:rPr>
                <a:t>깊은</a:t>
              </a:r>
              <a:endParaRPr sz="1022" kern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  <a:p>
              <a:pPr algn="ctr" defTabSz="900703" latinLnBrk="0" hangingPunct="0">
                <a:defRPr sz="1100"/>
              </a:pPr>
              <a:r>
                <a:rPr sz="850" kern="0" err="1">
                  <a:solidFill>
                    <a:srgbClr val="000000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KB금융 본문체 Medium"/>
                </a:rPr>
                <a:t>사용자</a:t>
              </a:r>
              <a:endParaRPr sz="1022" kern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  <a:p>
              <a:pPr algn="ctr" defTabSz="900703" latinLnBrk="0" hangingPunct="0">
                <a:defRPr sz="1100"/>
              </a:pPr>
              <a:r>
                <a:rPr sz="850" kern="0">
                  <a:solidFill>
                    <a:srgbClr val="000000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KB금융 본문체 Medium"/>
                </a:rPr>
                <a:t>경험</a:t>
              </a:r>
            </a:p>
          </p:txBody>
        </p:sp>
        <p:sp>
          <p:nvSpPr>
            <p:cNvPr id="11" name="TextBox 33">
              <a:extLst>
                <a:ext uri="{FF2B5EF4-FFF2-40B4-BE49-F238E27FC236}">
                  <a16:creationId xmlns:a16="http://schemas.microsoft.com/office/drawing/2014/main" id="{5AA8FA73-56C4-FF08-4446-C870758E49CE}"/>
                </a:ext>
              </a:extLst>
            </p:cNvPr>
            <p:cNvSpPr txBox="1"/>
            <p:nvPr/>
          </p:nvSpPr>
          <p:spPr>
            <a:xfrm>
              <a:off x="5447835" y="3996098"/>
              <a:ext cx="648165" cy="5641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42493" rIns="42493">
              <a:spAutoFit/>
            </a:bodyPr>
            <a:lstStyle/>
            <a:p>
              <a:pPr algn="ctr" defTabSz="900703" latinLnBrk="0" hangingPunct="0">
                <a:defRPr sz="1100"/>
              </a:pPr>
              <a:r>
                <a:rPr sz="850" kern="0" err="1">
                  <a:solidFill>
                    <a:srgbClr val="000000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KB금융 본문체 Medium"/>
                </a:rPr>
                <a:t>더</a:t>
              </a:r>
              <a:r>
                <a:rPr sz="850" kern="0">
                  <a:solidFill>
                    <a:srgbClr val="000000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KB금융 본문체 Medium"/>
                </a:rPr>
                <a:t> </a:t>
              </a:r>
              <a:r>
                <a:rPr sz="850" kern="0" err="1">
                  <a:solidFill>
                    <a:srgbClr val="000000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KB금융 본문체 Medium"/>
                </a:rPr>
                <a:t>넓은</a:t>
              </a:r>
              <a:endParaRPr sz="1022" kern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  <a:p>
              <a:pPr algn="ctr" defTabSz="900703" latinLnBrk="0" hangingPunct="0">
                <a:defRPr sz="1100"/>
              </a:pPr>
              <a:r>
                <a:rPr sz="850" kern="0" err="1">
                  <a:solidFill>
                    <a:srgbClr val="000000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KB금융 본문체 Medium"/>
                </a:rPr>
                <a:t>사용자</a:t>
              </a:r>
              <a:endParaRPr sz="1022" kern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  <a:p>
              <a:pPr algn="ctr" defTabSz="900703" latinLnBrk="0" hangingPunct="0">
                <a:defRPr sz="1100"/>
              </a:pPr>
              <a:r>
                <a:rPr sz="850" kern="0">
                  <a:solidFill>
                    <a:srgbClr val="000000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KB금융 본문체 Medium"/>
                </a:rPr>
                <a:t>경험</a:t>
              </a:r>
            </a:p>
          </p:txBody>
        </p:sp>
        <p:sp>
          <p:nvSpPr>
            <p:cNvPr id="12" name="TextBox 33">
              <a:extLst>
                <a:ext uri="{FF2B5EF4-FFF2-40B4-BE49-F238E27FC236}">
                  <a16:creationId xmlns:a16="http://schemas.microsoft.com/office/drawing/2014/main" id="{07CE1EDB-CB3F-4F19-FF89-00C897A50AC6}"/>
                </a:ext>
              </a:extLst>
            </p:cNvPr>
            <p:cNvSpPr txBox="1"/>
            <p:nvPr/>
          </p:nvSpPr>
          <p:spPr>
            <a:xfrm>
              <a:off x="6096001" y="3380592"/>
              <a:ext cx="648164" cy="5641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42493" rIns="42493">
              <a:spAutoFit/>
            </a:bodyPr>
            <a:lstStyle/>
            <a:p>
              <a:pPr algn="ctr" defTabSz="900703" latinLnBrk="0" hangingPunct="0">
                <a:defRPr sz="1100"/>
              </a:pPr>
              <a:r>
                <a:rPr sz="850" kern="0" err="1">
                  <a:solidFill>
                    <a:srgbClr val="000000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KB금융 본문체 Medium"/>
                </a:rPr>
                <a:t>더</a:t>
              </a:r>
              <a:r>
                <a:rPr sz="850" kern="0">
                  <a:solidFill>
                    <a:srgbClr val="000000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KB금융 본문체 Medium"/>
                </a:rPr>
                <a:t> </a:t>
              </a:r>
              <a:r>
                <a:rPr sz="850" kern="0" err="1">
                  <a:solidFill>
                    <a:srgbClr val="000000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KB금융 본문체 Medium"/>
                </a:rPr>
                <a:t>선명한</a:t>
              </a:r>
              <a:endParaRPr sz="1022" kern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  <a:p>
              <a:pPr algn="ctr" defTabSz="900703" latinLnBrk="0" hangingPunct="0">
                <a:defRPr sz="1100"/>
              </a:pPr>
              <a:r>
                <a:rPr sz="850" kern="0" err="1">
                  <a:solidFill>
                    <a:srgbClr val="000000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KB금융 본문체 Medium"/>
                </a:rPr>
                <a:t>사용자</a:t>
              </a:r>
              <a:endParaRPr sz="1022" kern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  <a:p>
              <a:pPr algn="ctr" defTabSz="900703" latinLnBrk="0" hangingPunct="0">
                <a:defRPr sz="1100"/>
              </a:pPr>
              <a:r>
                <a:rPr sz="850" kern="0">
                  <a:solidFill>
                    <a:srgbClr val="000000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KB금융 본문체 Medium"/>
                </a:rPr>
                <a:t>경험</a:t>
              </a:r>
            </a:p>
          </p:txBody>
        </p:sp>
        <p:sp>
          <p:nvSpPr>
            <p:cNvPr id="13" name="TextBox 33">
              <a:extLst>
                <a:ext uri="{FF2B5EF4-FFF2-40B4-BE49-F238E27FC236}">
                  <a16:creationId xmlns:a16="http://schemas.microsoft.com/office/drawing/2014/main" id="{E15630A6-1042-A716-F29C-2575E90D3B8F}"/>
                </a:ext>
              </a:extLst>
            </p:cNvPr>
            <p:cNvSpPr txBox="1"/>
            <p:nvPr/>
          </p:nvSpPr>
          <p:spPr>
            <a:xfrm>
              <a:off x="6109120" y="3974333"/>
              <a:ext cx="648164" cy="5641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42493" rIns="42493">
              <a:spAutoFit/>
            </a:bodyPr>
            <a:lstStyle/>
            <a:p>
              <a:pPr algn="ctr" defTabSz="900703" latinLnBrk="0" hangingPunct="0">
                <a:defRPr sz="1100"/>
              </a:pPr>
              <a:r>
                <a:rPr sz="850" kern="0" err="1">
                  <a:solidFill>
                    <a:srgbClr val="000000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KB금융 본문체 Medium"/>
                </a:rPr>
                <a:t>더</a:t>
              </a:r>
              <a:r>
                <a:rPr sz="850" kern="0">
                  <a:solidFill>
                    <a:srgbClr val="000000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KB금융 본문체 Medium"/>
                </a:rPr>
                <a:t> </a:t>
              </a:r>
              <a:r>
                <a:rPr sz="850" kern="0" err="1">
                  <a:solidFill>
                    <a:srgbClr val="000000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KB금융 본문체 Medium"/>
                </a:rPr>
                <a:t>큰</a:t>
              </a:r>
              <a:endParaRPr sz="1022" kern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  <a:p>
              <a:pPr algn="ctr" defTabSz="900703" latinLnBrk="0" hangingPunct="0">
                <a:defRPr sz="1100"/>
              </a:pPr>
              <a:r>
                <a:rPr sz="850" kern="0" err="1">
                  <a:solidFill>
                    <a:srgbClr val="000000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KB금융 본문체 Medium"/>
                </a:rPr>
                <a:t>사용자</a:t>
              </a:r>
              <a:endParaRPr sz="1022" kern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KB금융 본문체 Medium"/>
              </a:endParaRPr>
            </a:p>
            <a:p>
              <a:pPr algn="ctr" defTabSz="900703" latinLnBrk="0" hangingPunct="0">
                <a:defRPr sz="1100"/>
              </a:pPr>
              <a:r>
                <a:rPr sz="850" kern="0">
                  <a:solidFill>
                    <a:srgbClr val="000000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  <a:sym typeface="KB금융 본문체 Medium"/>
                </a:rPr>
                <a:t>경험</a:t>
              </a:r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2331720" y="23774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563EB"/>
                </a:solidFill>
                <a:latin typeface="맑은 고딕"/>
              </a:rPr>
              <a:t>더 깊은 사용자 경험</a:t>
            </a:r>
          </a:p>
          <a:p>
            <a:r>
              <a:rPr sz="850" b="0">
                <a:solidFill>
                  <a:srgbClr val="2563EB"/>
                </a:solidFill>
                <a:latin typeface="맑은 고딕"/>
              </a:rPr>
              <a:t>· 추천 이유와 근거 리뷰를 함께 제시</a:t>
            </a:r>
          </a:p>
          <a:p>
            <a:r>
              <a:rPr sz="850" b="0">
                <a:solidFill>
                  <a:srgbClr val="2563EB"/>
                </a:solidFill>
                <a:latin typeface="맑은 고딕"/>
              </a:rPr>
              <a:t>· 모르는 값은 '미확인'으로 정직하게 표시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03720" y="2377440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563EB"/>
                </a:solidFill>
                <a:latin typeface="맑은 고딕"/>
              </a:rPr>
              <a:t>더 선명한 사용자 경험</a:t>
            </a:r>
          </a:p>
          <a:p>
            <a:r>
              <a:rPr sz="850" b="0">
                <a:solidFill>
                  <a:srgbClr val="2563EB"/>
                </a:solidFill>
                <a:latin typeface="맑은 고딕"/>
              </a:rPr>
              <a:t>· 말로 묻고 목소리로 듣는 입출력</a:t>
            </a:r>
          </a:p>
          <a:p>
            <a:r>
              <a:rPr sz="850" b="0">
                <a:solidFill>
                  <a:srgbClr val="2563EB"/>
                </a:solidFill>
                <a:latin typeface="맑은 고딕"/>
              </a:rPr>
              <a:t>· 고령자·급한 상황에서도 쓸 수 있게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31720" y="41605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333333"/>
                </a:solidFill>
                <a:latin typeface="맑은 고딕"/>
              </a:rPr>
              <a:t>더 넓은 사용자 경험</a:t>
            </a:r>
          </a:p>
          <a:p>
            <a:r>
              <a:rPr sz="850" b="0">
                <a:solidFill>
                  <a:srgbClr val="333333"/>
                </a:solidFill>
                <a:latin typeface="맑은 고딕"/>
              </a:rPr>
              <a:t>· 병원에서 약국·응급실까지 한 흐름</a:t>
            </a:r>
          </a:p>
          <a:p>
            <a:r>
              <a:rPr sz="850" b="0">
                <a:solidFill>
                  <a:srgbClr val="333333"/>
                </a:solidFill>
                <a:latin typeface="맑은 고딕"/>
              </a:rPr>
              <a:t>· 길찾기까지 이어서 연결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03720" y="4160520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333333"/>
                </a:solidFill>
                <a:latin typeface="맑은 고딕"/>
              </a:rPr>
              <a:t>더 큰 사용자 경험</a:t>
            </a:r>
          </a:p>
          <a:p>
            <a:r>
              <a:rPr sz="850" b="0">
                <a:solidFill>
                  <a:srgbClr val="333333"/>
                </a:solidFill>
                <a:latin typeface="맑은 고딕"/>
              </a:rPr>
              <a:t>· 전국 단위 공공데이터로 지역 제한 없음</a:t>
            </a:r>
          </a:p>
          <a:p>
            <a:r>
              <a:rPr sz="850" b="0">
                <a:solidFill>
                  <a:srgbClr val="333333"/>
                </a:solidFill>
                <a:latin typeface="맑은 고딕"/>
              </a:rPr>
              <a:t>· 실시간 응급실 병상까지 확장</a:t>
            </a:r>
          </a:p>
        </p:txBody>
      </p:sp>
    </p:spTree>
    <p:extLst>
      <p:ext uri="{BB962C8B-B14F-4D97-AF65-F5344CB8AC3E}">
        <p14:creationId xmlns:p14="http://schemas.microsoft.com/office/powerpoint/2010/main" val="2735117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14925</TotalTime>
  <Words>286</Words>
  <Application>Microsoft Office PowerPoint</Application>
  <PresentationFormat>와이드스크린</PresentationFormat>
  <Paragraphs>137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Arial</vt:lpstr>
      <vt:lpstr>맑은 고딕</vt:lpstr>
      <vt:lpstr>Pretendard ExtraBold</vt:lpstr>
      <vt:lpstr>Office 테마</vt:lpstr>
      <vt:lpstr>PowerPoint 프레젠테이션</vt:lpstr>
      <vt:lpstr>대표 페르소나 정의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JYW</dc:creator>
  <cp:lastModifiedBy>smhrd</cp:lastModifiedBy>
  <cp:revision>421</cp:revision>
  <dcterms:created xsi:type="dcterms:W3CDTF">2019-05-17T08:38:22Z</dcterms:created>
  <dcterms:modified xsi:type="dcterms:W3CDTF">2026-09-02T01:59:59Z</dcterms:modified>
</cp:coreProperties>
</file>