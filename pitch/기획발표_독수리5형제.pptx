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안녕하십니까, 독수리5형제 팀장 이영훈입니다.</a:t>
            </a:r>
          </a:p>
          <a:p>
            <a:r>
              <a:t>저희는 굿닥 앱에 "말하면, 갈 병원이 나오는" 기능을 제안합니다.</a:t>
            </a:r>
          </a:p>
          <a:p>
            <a:r>
              <a:t>(쉼)</a:t>
            </a:r>
          </a:p>
          <a:p>
            <a:r>
              <a:t>먼저 한 가지 약속드리겠습니다. 저희 서비스는 진단하지 않습니다. 병원 선택만 돕습니다.</a:t>
            </a:r>
          </a:p>
          <a:p>
            <a:r>
              <a:t>이 말이 오늘 발표 전체를 관통하는 원칙입니다.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저녁 7시, 아이가 갑자기 열이 납니다. 지금 문 연 소아과, 어디일까요?</a:t>
            </a:r>
          </a:p>
          <a:p>
            <a:r>
              <a:t>[왼쪽 그림 가리키며]</a:t>
            </a:r>
          </a:p>
          <a:p>
            <a:r>
              <a:t>저희 대표 고객 박서연 님은 30대 맞벌이, 아이가 둘입니다. 이럴 때 검색 앱, 지도 앱, 전화를 오가며 조건을 맞추느라 15분에서 20분이 걸립니다.</a:t>
            </a:r>
          </a:p>
          <a:p>
            <a:r>
              <a:t>[오른쪽 숫자 카드]</a:t>
            </a:r>
          </a:p>
          <a:p>
            <a:r>
              <a:t>실제로 밤과 휴일에 아이를 봐주는 달빛어린이병원은 전국에 156곳뿐이고,</a:t>
            </a:r>
          </a:p>
          <a:p>
            <a:r>
              <a:t>작년엔 소아과가 새로 연 곳보다 문 닫은 곳이 더 많았습니다.</a:t>
            </a:r>
          </a:p>
          <a:p>
            <a:r>
              <a:t>응급실 환자의 절반 이상(53.3%)은 경증 환자입니다.</a:t>
            </a:r>
          </a:p>
          <a:p>
            <a:r>
              <a:t>(쉼)</a:t>
            </a:r>
          </a:p>
          <a:p>
            <a:r>
              <a:t>게다가 아이를 안고 있으면 손이 바쁘고, 어르신들은 작은 필터 버튼을 누르기 어렵습니다.</a:t>
            </a:r>
          </a:p>
          <a:p>
            <a:r>
              <a:t>그래서 저희는 "말"이 답이라고 생각했습니다.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문제가 진짜인지 확인하려고, 굿닥 리뷰 4,311건을 모두 모아 읽었습니다.</a:t>
            </a:r>
          </a:p>
          <a:p>
            <a:r>
              <a:t>그중 별점 1~2점짜리 부정 리뷰 837건을, 한 리뷰는 한 항목에만 넣는 방식으로 나눴습니다.</a:t>
            </a:r>
          </a:p>
          <a:p>
            <a:r>
              <a:t>[그래프]</a:t>
            </a:r>
          </a:p>
          <a:p>
            <a:r>
              <a:t>가장 큰 불만은 앱 오류였습니다. 하지만 이건 개발팀이 고칠 버그이고, 비대면 배송은 운영 문제입니다.</a:t>
            </a:r>
          </a:p>
          <a:p>
            <a:r>
              <a:t>저희는 AI가 고객 경험을 바꿀 수 있는 곳에 집중했습니다. 그게 파란 막대, "병원을 못 찾겠다", "정보가 틀리다"는 불만입니다.</a:t>
            </a:r>
          </a:p>
          <a:p>
            <a:r>
              <a:t>[오른쪽 인용]</a:t>
            </a:r>
          </a:p>
          <a:p>
            <a:r>
              <a:t>공감 209개를 받은 리뷰입니다. "현재 위치가 서울 중구로 고정돼서 병원을 찾느라 시간을 소비했다."</a:t>
            </a:r>
          </a:p>
          <a:p>
            <a:r>
              <a:t>고객은 이미 답답함을 말하고 있었습니다.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이번엔 리뷰를 주제별로 자동으로 묶어 봤습니다. LDA라는 토픽 분석으로 3,194건을 6개 주제로 나눴습니다.</a:t>
            </a:r>
          </a:p>
          <a:p>
            <a:r>
              <a:t>[그래프]</a:t>
            </a:r>
          </a:p>
          <a:p>
            <a:r>
              <a:t>가장 큰 주제는 '예약'이었지만, 이건 접속 안정성 같은 시스템 문제라 범위 밖입니다.</a:t>
            </a:r>
          </a:p>
          <a:p>
            <a:r>
              <a:t>AI로 풀 수 있는 주제 중 가장 큰 것이 바로 토픽 4, '병원 검색·정보' 588건입니다.</a:t>
            </a:r>
          </a:p>
          <a:p>
            <a:r>
              <a:t>별점이 3.92점으로, 만족하는 사람과 불만인 사람이 갈리는 곳입니다.</a:t>
            </a:r>
          </a:p>
          <a:p>
            <a:r>
              <a:t>"지역을 설정해도 뒤로 가면 초기화된다", "지도 앱은 진료과로 못 찾는다" — 실제로 나온 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고객이 병원을 찾는 과정을 따라가 봤습니다.</a:t>
            </a:r>
          </a:p>
          <a:p>
            <a:r>
              <a:t>[주황색 선]</a:t>
            </a:r>
          </a:p>
          <a:p>
            <a:r>
              <a:t>병원 찾기, 비교, 전화 확인. 이 세 단계에서 사람이 지역, 진료과, 시간, 거리 — 조건 4개를 직접 맞춥니다. 여기서 시간이 샙니다.</a:t>
            </a:r>
          </a:p>
          <a:p>
            <a:r>
              <a:t>[아래 상자]</a:t>
            </a:r>
          </a:p>
          <a:p>
            <a:r>
              <a:t>그래서 고객이 원하는 건 이겁니다.</a:t>
            </a:r>
          </a:p>
          <a:p>
            <a:r>
              <a:t>"말 한마디로 지금 문 연, 가까운, 맞는 진료과 병원을 찾고, 왜 그 병원인지 근거와 길찾기까지 한 번에."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저희의 답입니다. 진단하지 않습니다. 병원 선택만 돕습니다.</a:t>
            </a:r>
          </a:p>
          <a:p>
            <a:r>
              <a:t>예를 들어 이렇게 말합니다. "비염인데 일요일에 하고 주차되는 가까운 병원."</a:t>
            </a:r>
          </a:p>
          <a:p>
            <a:r>
              <a:t>[네 칸]</a:t>
            </a:r>
          </a:p>
          <a:p>
            <a:r>
              <a:t>이 한 문장에서 진료과 이비인후과, 일요일 진료, 주차 가능, 가까운 순 — 조건 4개를 한 번에 뽑아냅니다.</a:t>
            </a:r>
          </a:p>
          <a:p>
            <a:r>
              <a:t>[아래 예시]</a:t>
            </a:r>
          </a:p>
          <a:p>
            <a:r>
              <a:t>그리고 결과마다 이유를 붙입니다. 0.42km, 이비인후과, 전문의 2명, 주차 20대, 평가 2.5등급.</a:t>
            </a:r>
          </a:p>
          <a:p>
            <a:r>
              <a:t>공공데이터에 없는 정보는 지어내지 않고 '미확인'이라고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음성, 지도, 공공데이터. 셋 다 이유가 있습니다.</a:t>
            </a:r>
          </a:p>
          <a:p>
            <a:r>
              <a:t>첫째, 음성. 고령층의 디지털 역량은 일반 국민의 56.2% 수준이고, 65세 이상 인구는 이미 20%를 넘었습니다. 화면 필터보다 말이 쉽습니다.</a:t>
            </a:r>
          </a:p>
          <a:p>
            <a:r>
              <a:t>둘째, 네이버 지도. 국민이 가장 많이 쓰는 지도 앱(이용률 68.3%)이라, 이미 익숙한 앱으로 바로 넘겨 길을 안내합니다.</a:t>
            </a:r>
          </a:p>
          <a:p>
            <a:r>
              <a:t>셋째, 공공데이터. 네이버·카카오 검색 API에는 영업시간 항목이 없습니다. 저희가 직접 확인했습니다. 진료시간은 심평원과 응급의료정보에만 있습니다. 그래서 오히려 남들이 따라오기 어려운 강점이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작동 순서입니다.</a:t>
            </a:r>
          </a:p>
          <a:p>
            <a:r>
              <a:t>[오른쪽 1~5번 순서대로]</a:t>
            </a:r>
          </a:p>
          <a:p>
            <a:r>
              <a:t>하나, 음성으로 말합니다. 브라우저에 들어 있는 음성인식을 써서 추가 서버나 비용이 없습니다.</a:t>
            </a:r>
          </a:p>
          <a:p>
            <a:r>
              <a:t>둘, 말에서 조건을 뽑습니다. 기본은 저희가 만든 규칙 사전이고, 서버에 LLM이 연결돼 있으면 LLM이 먼저 시도합니다. LLM이 실패해도 규칙 방식으로 바로 이어집니다.</a:t>
            </a:r>
          </a:p>
          <a:p>
            <a:r>
              <a:t>셋, 심평원 병원정보와 국립중앙의료원 응급의료정보에서 찾습니다.</a:t>
            </a:r>
          </a:p>
          <a:p>
            <a:r>
              <a:t>넷, 거리·진료시간·전문의·주차·평가등급을 근거로 3곳을 고릅니다. 기본은 가까운 순이고, "평가 좋은 곳"이라고 하면 평가순으로 바뀝니다.</a:t>
            </a:r>
          </a:p>
          <a:p>
            <a:r>
              <a:t>다섯, 네이버 지도 길찾기로 바로 연결합니다.</a:t>
            </a:r>
          </a:p>
          <a:p>
            <a:r>
              <a:t>[왼쪽 주황 글씨]</a:t>
            </a:r>
          </a:p>
          <a:p>
            <a:r>
              <a:t>중요한 건 이겁니다. LLM은 말을 조건으로 바꾸는 일만 합니다. 병원 이름과 진료시간은 절대 만들지 않고, 전부 공공데이터에서 가져옵니다.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데이터는 전부 저희가 직접 모았습니다.</a:t>
            </a:r>
          </a:p>
          <a:p>
            <a:r>
              <a:t>전국 병원 79,819곳, 약국 25,757곳.</a:t>
            </a:r>
          </a:p>
          <a:p>
            <a:r>
              <a:t>처음엔 심평원 데이터만으로 진료시간을 아는 병원이 7,297곳뿐이었습니다. 응급의료정보를 붙여서 58,909곳, 73.8%까지 늘렸습니다.</a:t>
            </a:r>
          </a:p>
          <a:p>
            <a:r>
              <a:t>[아래 상자]</a:t>
            </a:r>
          </a:p>
          <a:p>
            <a:r>
              <a:t>나머지 26%는 추측하지 않고 '미확인'으로 표시합니다.</a:t>
            </a:r>
          </a:p>
          <a:p>
            <a:r>
              <a:t>응급실 병상은 저장하지 않고 조회하는 순간 실시간으로 받아옵니다.</a:t>
            </a:r>
          </a:p>
          <a:p>
            <a:r>
              <a:t>그리고 광주가 '전남광주통합특별시'로 바뀐 것까지 17개 시도 코드를 전부 검증했습니다.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기존 서비스와 비교해 보겠습니다.</a:t>
            </a:r>
          </a:p>
          <a:p>
            <a:r>
              <a:t>[표를 위에서 아래로]</a:t>
            </a:r>
          </a:p>
          <a:p>
            <a:r>
              <a:t>굿닥은 조건을 사람이 직접 고르고, 네이버는 이름을 알아야 찾습니다. 저희는 말 한 문장이면 됩니다.</a:t>
            </a:r>
          </a:p>
          <a:p>
            <a:r>
              <a:t>여러 조건을 한 번에, 증상은 병명 없이 진료과로, 추천에는 항상 이유를, 없는 정보는 '미확인'으로.</a:t>
            </a:r>
          </a:p>
          <a:p>
            <a:r>
              <a:t>그리고 굿닥 상세 화면에는 지도 그림과 주소만 있지만, 저희는 길찾기로 바로 연결하고 응급실 병상도 실시간으로 보여 드립니다.</a:t>
            </a:r>
          </a:p>
          <a:p>
            <a:r>
              <a:t>한 줄로 말하면, 고르는 검색에서 말하는 검색으로 바꾸는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이건 그림이 아니라 지금 실제로 동작하는 시제품입니다. 휴대폰으로 바로 써보실 수 있습니다.</a:t>
            </a:r>
          </a:p>
          <a:p>
            <a:r>
              <a:t>[오른쪽 '해볼 말']</a:t>
            </a:r>
          </a:p>
          <a:p>
            <a:r>
              <a:t>"광주 남구 이비인후과", "감기 걸린 것 같아", "지금 문 연 병원" — 이렇게 말하면 됩니다.</a:t>
            </a:r>
          </a:p>
          <a:p>
            <a:r>
              <a:t>음성 입력, 조건 추출, 전국 검색, 추천 이유, 약국, 응급실 병상, 길찾기까지 구현했고,</a:t>
            </a:r>
          </a:p>
          <a:p>
            <a:r>
              <a:t>병명이 나오지 않는지는 자동 시험 172건으로 매번 검사하고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기대효과입니다.</a:t>
            </a:r>
          </a:p>
          <a:p>
            <a:r>
              <a:t>이용자는 조건 4개를 한두 번 대화로 끝내고, 진료시간을 공공데이터로 확인해 헛걸음이 줄어듭니다.</a:t>
            </a:r>
          </a:p>
          <a:p>
            <a:r>
              <a:t>굿닥은 찾기에서 예약·접수로 바로 이어지는 흐름을 얻고, "네이버가 더 편하다"며 떠나는 고객을 붙잡을 수 있습니다.</a:t>
            </a:r>
          </a:p>
          <a:p>
            <a:r>
              <a:t>앞으로 약국, 비급여 진료비 비교, 지자체·보건소 안내로 넓혀 가겠습니다.</a:t>
            </a:r>
          </a:p>
          <a:p>
            <a:r>
              <a:t>10월 16일 최종 발표에서는 직접 시연으로 보여드리겠습니다.</a:t>
            </a:r>
          </a:p>
          <a:p>
            <a:r>
              <a:t>(쉼)</a:t>
            </a:r>
          </a:p>
          <a:p>
            <a:r>
              <a:t>마지막으로 한 문장만 남기겠습니다.</a:t>
            </a:r>
          </a:p>
          <a:p>
            <a:r>
              <a:t>"지어내지 않는 AI."</a:t>
            </a:r>
          </a:p>
          <a:p>
            <a:r>
              <a:t>AI는 말을 알아듣고, 사실은 공공데이터가 말합니다.</a:t>
            </a:r>
          </a:p>
          <a:p>
            <a:r>
              <a:t>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0F172A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49377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DBEAFE"/>
                </a:solidFill>
                <a:latin typeface="맑은 고딕"/>
              </a:rPr>
              <a:t>2026 K-Digital Training · AX 서비스 기획발표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493776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말하면,</a:t>
            </a:r>
          </a:p>
          <a:p>
            <a:pPr algn="l">
              <a:lnSpc>
                <a:spcPct val="105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갈 병원이 나온다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11880"/>
            <a:ext cx="49377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DBEAFE"/>
                </a:solidFill>
                <a:latin typeface="맑은 고딕"/>
              </a:rPr>
              <a:t>굿닥 AI 병원 선택 어시스턴트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49377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맑은 고딕"/>
              </a:rPr>
              <a:t>진단하지 않습니다. 병원 선택만 돕습니다.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49377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</a:rPr>
              <a:t>팀 독수리5형제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DBEAFE"/>
                </a:solidFill>
                <a:latin typeface="맑은 고딕"/>
              </a:rPr>
              <a:t>이영훈 · 김강민 · 조성종 · 류제형 · 박찬균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맑은 고딕"/>
              </a:rPr>
              <a:t>문제 제기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맑은 고딕"/>
              </a:rPr>
              <a:t>저녁 7시, 아이가 열이 납니다. 지금 문 연 소아과는 어디일까요?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맑은 고딕"/>
              </a:rPr>
              <a:t>독수리5형제 · 굿닥 AI 병원 선택 어시스턴트 · 2026 기획발표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맑은 고딕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맑은 고딕"/>
              </a:rPr>
              <a:t>출처 : 국립중앙의료원 E-Gen(2026.9) · 심평원 요양기관 개·폐업 현황(2025, 언론 재인용) · 국립중앙의료원 KTAS 통계(2020~23, 언론 재인용)</a:t>
            </a:r>
          </a:p>
        </p:txBody>
      </p:sp>
      <p:pic>
        <p:nvPicPr>
          <p:cNvPr id="10" name="Picture 9" descr="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5120640" cy="288189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553712"/>
            <a:ext cx="5577840" cy="1417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맑은 고딕"/>
              </a:rPr>
              <a:t>박서연(가명) · 30대 맞벌이 · 미취학 자녀 2명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172A"/>
                </a:solidFill>
                <a:latin typeface="맑은 고딕"/>
              </a:rPr>
              <a:t>검색 앱 → 지도 앱 → 전화 확인을 오가며 조건 비교에만 15~20분 (리뷰 증언)</a:t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EA580C"/>
                </a:solidFill>
                <a:latin typeface="맑은 고딕"/>
              </a:rPr>
              <a:t>아이를 안아 손이 바쁜 보호자, 화면 필터가 어려운 고령층 — 둘 다 '말'이 필요하다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600200"/>
            <a:ext cx="484632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1600200"/>
            <a:ext cx="64008" cy="1325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737360"/>
            <a:ext cx="45262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63EB"/>
                </a:solidFill>
                <a:latin typeface="맑은 고딕"/>
              </a:rPr>
              <a:t>156곳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468880"/>
            <a:ext cx="4526280" cy="41147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맑은 고딕"/>
              </a:rPr>
              <a:t>전국 달빛어린이병원 (야간·휴일 소아 진료)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3063240"/>
            <a:ext cx="484632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0" y="3063240"/>
            <a:ext cx="64008" cy="132588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3200400"/>
            <a:ext cx="45262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A580C"/>
                </a:solidFill>
                <a:latin typeface="맑은 고딕"/>
              </a:rPr>
              <a:t>폐업 89 &gt; 개업 59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3931920"/>
            <a:ext cx="4526280" cy="41147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맑은 고딕"/>
              </a:rPr>
              <a:t>2025년 소아청소년과 의원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4526280"/>
            <a:ext cx="4846320" cy="13258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0" y="4526280"/>
            <a:ext cx="64008" cy="1325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4663440"/>
            <a:ext cx="45262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63EB"/>
                </a:solidFill>
                <a:latin typeface="맑은 고딕"/>
              </a:rPr>
              <a:t>53.3%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5394960"/>
            <a:ext cx="4526280" cy="41147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맑은 고딕"/>
              </a:rPr>
              <a:t>응급실 환자 중 경증 비율 (2020~23 평균)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맑은 고딕"/>
              </a:rPr>
              <a:t>고객의 목소리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맑은 고딕"/>
              </a:rPr>
              <a:t>굿닥 리뷰 4,311건을 모두 읽었습니다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맑은 고딕"/>
              </a:rPr>
              <a:t>부정 리뷰(별 1~2점) 837건을 한 리뷰 = 한 항목으로 나눴습니다 (합계 100%)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맑은 고딕"/>
              </a:rPr>
              <a:t>독수리5형제 · 굿닥 AI 병원 선택 어시스턴트 · 2026 기획발표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맑은 고딕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맑은 고딕"/>
              </a:rPr>
              <a:t>출처 : Google Play 굿닥 앱 리뷰 4,311건 (2017-05~2026-08, google-play-scraper로 직접 수집)</a:t>
            </a:r>
          </a:p>
        </p:txBody>
      </p:sp>
      <p:pic>
        <p:nvPicPr>
          <p:cNvPr id="11" name="Picture 10" descr="chart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6400800" cy="367646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15200" y="1965960"/>
            <a:ext cx="4297680" cy="3886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103120"/>
            <a:ext cx="3931920" cy="3657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2563EB"/>
                </a:solidFill>
                <a:latin typeface="맑은 고딕"/>
              </a:rPr>
              <a:t>“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맑은 고딕"/>
              </a:rPr>
              <a:t>병원이 찾을 수 없는 점과 거리와 현재위치는 서울 중구에서 고정이 되서 병원이 항목에 없다는 걸 찾느라 시간을 소비했습니다</a:t>
            </a:r>
          </a:p>
          <a:p>
            <a:pPr algn="l">
              <a:lnSpc>
                <a:spcPct val="115000"/>
              </a:lnSpc>
            </a:pPr>
            <a:r>
              <a:rPr sz="800" b="0">
                <a:solidFill>
                  <a:srgbClr val="0F172A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맑은 고딕"/>
              </a:rPr>
              <a:t>— 별 1점 · 공감 209 (실제 리뷰, 맞춤법 일부 교정)</a:t>
            </a:r>
          </a:p>
          <a:p>
            <a:pPr algn="l">
              <a:lnSpc>
                <a:spcPct val="115000"/>
              </a:lnSpc>
            </a:pPr>
            <a:r>
              <a:rPr sz="1000" b="0">
                <a:solidFill>
                  <a:srgbClr val="0F172A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맑은 고딕"/>
              </a:rPr>
              <a:t>파란 막대 = AI로 풀 수 있는 불만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맑은 고딕"/>
              </a:rPr>
              <a:t>가장 큰 불만(앱 오류 21.4%)은 개발팀이 고칠 버그, 비대면 배송은 운영 문제. AI가 고객 경험을 바꿀 수 있는 곳은 '병원 찾기'다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맑은 고딕"/>
              </a:rPr>
              <a:t>데이터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맑은 고딕"/>
              </a:rPr>
              <a:t>AI가 풀 수 있는 불만 중 가장 큰 것, '병원 검색·정보'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899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64748B"/>
                </a:solidFill>
                <a:latin typeface="맑은 고딕"/>
              </a:rPr>
              <a:t>LDA 토픽 분석 (리뷰 3,194건 → 주제 6개) · 가장 큰 토픽 1 '예약'은 시스템 안정성 문제라 범위 밖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맑은 고딕"/>
              </a:rPr>
              <a:t>독수리5형제 · 굿닥 AI 병원 선택 어시스턴트 · 2026 기획발표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맑은 고딕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맑은 고딕"/>
              </a:rPr>
              <a:t>출처 : 굿닥 앱 리뷰 LDA 토픽 모델링 (scikit-learn, 형태소 분석 kiwipiepy) · 팀 자체 분석</a:t>
            </a:r>
          </a:p>
        </p:txBody>
      </p:sp>
      <p:pic>
        <p:nvPicPr>
          <p:cNvPr id="11" name="Picture 10" descr="lda_topic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874519"/>
            <a:ext cx="6949440" cy="287152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955279" y="1920240"/>
            <a:ext cx="3657600" cy="17373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55279" y="1920240"/>
            <a:ext cx="64008" cy="17373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2057400"/>
            <a:ext cx="3337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63EB"/>
                </a:solidFill>
                <a:latin typeface="맑은 고딕"/>
              </a:rPr>
              <a:t>588건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788920"/>
            <a:ext cx="3337560" cy="82295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맑은 고딕"/>
              </a:rPr>
              <a:t>토픽 4 '병원 검색·정보'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맑은 고딕"/>
              </a:rPr>
              <a:t>전체의 18.4% · 평균 별점 3.92점 (만족과 불만이 갈림)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886200"/>
            <a:ext cx="3657600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맑은 고딕"/>
              </a:rPr>
              <a:t>실제로 나온 불만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맑은 고딕"/>
              </a:rPr>
              <a:t>· 지역을 설정해도 뒤로 가면 초기화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맑은 고딕"/>
              </a:rPr>
              <a:t>· '진료중'을 눌러도 먼 병원이 나옴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맑은 고딕"/>
              </a:rPr>
              <a:t>· 지도 앱은 진료과로 못 찾음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맑은 고딕"/>
              </a:rPr>
              <a:t>고객 여정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맑은 고딕"/>
              </a:rPr>
              <a:t>조건 4개를 사람이 직접 맞추느라 시간이 샙니다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맑은 고딕"/>
              </a:rPr>
              <a:t>독수리5형제 · 굿닥 AI 병원 선택 어시스턴트 · 2026 기획발표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맑은 고딕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맑은 고딕"/>
              </a:rPr>
              <a:t>출처 : DCX 워크시트 고객 액션 맵 (LDA 토픽 6개 기반) · 리뷰 증언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1600200" cy="1188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160020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맑은 고딕"/>
              </a:rPr>
              <a:t>증상 발생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맑은 고딕"/>
              </a:rPr>
              <a:t>아이가 아프다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04288" y="2423160"/>
            <a:ext cx="2743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64748B"/>
                </a:solidFill>
                <a:latin typeface="맑은 고딕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42032" y="2103120"/>
            <a:ext cx="1600200" cy="118872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42032" y="2194560"/>
            <a:ext cx="160020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2563EB"/>
                </a:solidFill>
                <a:latin typeface="맑은 고딕"/>
              </a:rPr>
              <a:t>병원 찾기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맑은 고딕"/>
              </a:rPr>
              <a:t>지역·진료과 선택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2423160"/>
            <a:ext cx="2743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64748B"/>
                </a:solidFill>
                <a:latin typeface="맑은 고딕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2103120"/>
            <a:ext cx="1600200" cy="118872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2544" y="2194560"/>
            <a:ext cx="160020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2563EB"/>
                </a:solidFill>
                <a:latin typeface="맑은 고딕"/>
              </a:rPr>
              <a:t>비교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맑은 고딕"/>
              </a:rPr>
              <a:t>진료시간·거리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25312" y="2423160"/>
            <a:ext cx="2743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64748B"/>
                </a:solidFill>
                <a:latin typeface="맑은 고딕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2103120"/>
            <a:ext cx="1600200" cy="118872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63056" y="2194560"/>
            <a:ext cx="160020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2563EB"/>
                </a:solidFill>
                <a:latin typeface="맑은 고딕"/>
              </a:rPr>
              <a:t>확인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맑은 고딕"/>
              </a:rPr>
              <a:t>전화로 문 열었는지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35824" y="2423160"/>
            <a:ext cx="2743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64748B"/>
                </a:solidFill>
                <a:latin typeface="맑은 고딕"/>
              </a:rP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73568" y="2103120"/>
            <a:ext cx="1600200" cy="1188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73568" y="2194560"/>
            <a:ext cx="160020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맑은 고딕"/>
              </a:rPr>
              <a:t>이동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맑은 고딕"/>
              </a:rPr>
              <a:t>길찾기 앱 따로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46336" y="2423160"/>
            <a:ext cx="27432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64748B"/>
                </a:solidFill>
                <a:latin typeface="맑은 고딕"/>
              </a:rPr>
              <a:t>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2103120"/>
            <a:ext cx="1600200" cy="11887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0" y="2194560"/>
            <a:ext cx="1600200" cy="10972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0F172A"/>
                </a:solidFill>
                <a:latin typeface="맑은 고딕"/>
              </a:rPr>
              <a:t>진료</a:t>
            </a:r>
          </a:p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맑은 고딕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2542032" y="3429000"/>
            <a:ext cx="5404104" cy="54864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42032" y="3520440"/>
            <a:ext cx="540410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EA580C"/>
                </a:solidFill>
                <a:latin typeface="맑은 고딕"/>
              </a:rPr>
              <a:t>핫스팟 : 앱 → 지도 → 전화를 오가며 15~20분 (리뷰 증언)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206240"/>
            <a:ext cx="10652760" cy="16002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4343400"/>
            <a:ext cx="10149840" cy="13716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  <a:latin typeface="맑은 고딕"/>
              </a:rPr>
              <a:t>고객이 원하는 것 (Desire)</a:t>
            </a:r>
          </a:p>
          <a:p>
            <a:pPr algn="l">
              <a:lnSpc>
                <a:spcPct val="115000"/>
              </a:lnSpc>
            </a:pPr>
            <a:r>
              <a:rPr sz="1800" b="1">
                <a:solidFill>
                  <a:srgbClr val="0F172A"/>
                </a:solidFill>
                <a:latin typeface="맑은 고딕"/>
              </a:rPr>
              <a:t>말 한마디로 '지금 문 연 · 가까운 · 맞는 진료과' 병원을 찾고, 왜 그 병원인지 근거와 길찾기까지 한 번에 받고 싶다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맑은 고딕"/>
              </a:rPr>
              <a:t>우리의 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맑은 고딕"/>
              </a:rPr>
              <a:t>진단하지 않습니다. 병원 선택만 돕습니다.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맑은 고딕"/>
              </a:rPr>
              <a:t>독수리5형제 · 굿닥 AI 병원 선택 어시스턴트 · 2026 기획발표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맑은 고딕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37360"/>
            <a:ext cx="10698480" cy="10058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783080"/>
            <a:ext cx="10241280" cy="9144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F172A"/>
                </a:solidFill>
                <a:latin typeface="맑은 고딕"/>
              </a:rPr>
              <a:t>“비염인데 일요일에 하고 주차되는 가까운 병원”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17520"/>
            <a:ext cx="2514600" cy="9144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44952"/>
            <a:ext cx="251460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맑은 고딕"/>
              </a:rPr>
              <a:t>진료과</a:t>
            </a:r>
          </a:p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맑은 고딕"/>
              </a:rPr>
              <a:t>이비인후과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3017520"/>
            <a:ext cx="2514600" cy="9144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3044952"/>
            <a:ext cx="251460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맑은 고딕"/>
              </a:rPr>
              <a:t>요일</a:t>
            </a:r>
          </a:p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맑은 고딕"/>
              </a:rPr>
              <a:t>일요일 진료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3017520"/>
            <a:ext cx="2514600" cy="9144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1344" y="3044952"/>
            <a:ext cx="251460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맑은 고딕"/>
              </a:rPr>
              <a:t>주차</a:t>
            </a:r>
          </a:p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맑은 고딕"/>
              </a:rPr>
              <a:t>가능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3017520"/>
            <a:ext cx="2514600" cy="914400"/>
          </a:xfrm>
          <a:prstGeom prst="roundRect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06256" y="3044952"/>
            <a:ext cx="2514600" cy="8686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맑은 고딕"/>
              </a:rPr>
              <a:t>거리</a:t>
            </a:r>
          </a:p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0F172A"/>
                </a:solidFill>
                <a:latin typeface="맑은 고딕"/>
              </a:rPr>
              <a:t>가까운 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069080"/>
            <a:ext cx="10698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64748B"/>
                </a:solidFill>
                <a:latin typeface="맑은 고딕"/>
              </a:rPr>
              <a:t>한 문장에서 조건 4개를 동시에 뽑아 → 공공데이터로 거른 뒤 → 3곳을 이유와 함께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645152"/>
            <a:ext cx="1024128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563EB"/>
                </a:solidFill>
                <a:latin typeface="맑은 고딕"/>
              </a:rPr>
              <a:t>추천 예시 형식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0F172A"/>
                </a:solidFill>
                <a:latin typeface="맑은 고딕"/>
              </a:rPr>
              <a:t>① ○○이비인후과 — 0.42km · 이비인후과 진료 · 전문의 2명 · 주차 20대 · 평가 2.5등급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맑은 고딕"/>
              </a:rPr>
              <a:t>공공데이터에 없는 값(이용자 별점 등)은 지어내지 않고 '미확인'으로 표시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맑은 고딕"/>
              </a:rPr>
              <a:t>왜 이 설계인가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맑은 고딕"/>
              </a:rPr>
              <a:t>음성 · 지도 · 공공데이터, 셋 다 이유가 있습니다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맑은 고딕"/>
              </a:rPr>
              <a:t>독수리5형제 · 굿닥 AI 병원 선택 어시스턴트 · 2026 기획발표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맑은 고딕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맑은 고딕"/>
              </a:rPr>
              <a:t>출처 : 과기정통부·NIA 2024 디지털정보격차 실태조사 · 행정안전부 주민등록인구(2024.12) · 엠브레인 패널빅데이터(2024.9) · 네이버 지역검색 API 응답 항목(팀 확인)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91640"/>
            <a:ext cx="3429000" cy="3566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2880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563EB"/>
                </a:solidFill>
                <a:latin typeface="맑은 고딕"/>
              </a:rPr>
              <a:t>음성으로 묻기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30175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F172A"/>
                </a:solidFill>
                <a:latin typeface="맑은 고딕"/>
              </a:rPr>
              <a:t>56.2%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291840"/>
            <a:ext cx="30175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맑은 고딕"/>
              </a:rPr>
              <a:t>고령층 디지털 역량 (일반국민 100 기준)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114800"/>
            <a:ext cx="301752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맑은 고딕"/>
              </a:rPr>
              <a:t>65세 이상 인구 20% 돌파 — 화면 필터보다 말이 쉽다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61688" y="1691640"/>
            <a:ext cx="3429000" cy="3566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90288" y="182880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563EB"/>
                </a:solidFill>
                <a:latin typeface="맑은 고딕"/>
              </a:rPr>
              <a:t>네이버 지도 연결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331720"/>
            <a:ext cx="30175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F172A"/>
                </a:solidFill>
                <a:latin typeface="맑은 고딕"/>
              </a:rPr>
              <a:t>68.3%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291840"/>
            <a:ext cx="30175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맑은 고딕"/>
              </a:rPr>
              <a:t>지도 앱 이용률 1위 (네이버지도)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4114800"/>
            <a:ext cx="301752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맑은 고딕"/>
              </a:rPr>
              <a:t>이미 쓰는 앱으로 바로 넘겨 길찾기 부담을 없앤다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91856" y="1691640"/>
            <a:ext cx="3429000" cy="356616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0456" y="182880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563EB"/>
                </a:solidFill>
                <a:latin typeface="맑은 고딕"/>
              </a:rPr>
              <a:t>공공데이터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2331720"/>
            <a:ext cx="30175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0F172A"/>
                </a:solidFill>
                <a:latin typeface="맑은 고딕"/>
              </a:rPr>
              <a:t>없음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3291840"/>
            <a:ext cx="301752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0F172A"/>
                </a:solidFill>
                <a:latin typeface="맑은 고딕"/>
              </a:rPr>
              <a:t>네이버·카카오 검색 API의 영업시간 항목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0456" y="4114800"/>
            <a:ext cx="3017520" cy="1005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4748B"/>
                </a:solidFill>
                <a:latin typeface="맑은 고딕"/>
              </a:rPr>
              <a:t>진료시간은 심평원·응급의료정보에만 있다 → 따라오기 어려운 강점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맑은 고딕"/>
              </a:rPr>
              <a:t>작동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맑은 고딕"/>
              </a:rPr>
              <a:t>말 → 조건 → 공공데이터 → 이유 있는 추천 → 길찾기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맑은 고딕"/>
              </a:rPr>
              <a:t>독수리5형제 · 굿닥 AI 병원 선택 어시스턴트 · 2026 기획발표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맑은 고딕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맑은 고딕"/>
              </a:rPr>
              <a:t>출처 : goodoc-ax 저장소 (src/chains, src/search, src/api) · 자동 시험 172건 통과 (2026-09-28)</a:t>
            </a:r>
          </a:p>
        </p:txBody>
      </p:sp>
      <p:pic>
        <p:nvPicPr>
          <p:cNvPr id="10" name="Picture 9" descr="solutio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572000" cy="270271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852160" y="1600200"/>
            <a:ext cx="5577840" cy="7772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0" y="1645920"/>
            <a:ext cx="5303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563EB"/>
                </a:solidFill>
                <a:latin typeface="맑은 고딕"/>
              </a:rPr>
              <a:t>1  음성 입력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맑은 고딕"/>
              </a:rPr>
              <a:t>브라우저 내장 음성인식 · 추가 비용·서버 없음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2487168"/>
            <a:ext cx="5577840" cy="7772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2532887"/>
            <a:ext cx="5303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563EB"/>
                </a:solidFill>
                <a:latin typeface="맑은 고딕"/>
              </a:rPr>
              <a:t>2  조건 추출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맑은 고딕"/>
              </a:rPr>
              <a:t>규칙(사전·정규식) + LangChain 이중화 → 14개 항목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3374135"/>
            <a:ext cx="5577840" cy="7772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3419855"/>
            <a:ext cx="5303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563EB"/>
                </a:solidFill>
                <a:latin typeface="맑은 고딕"/>
              </a:rPr>
              <a:t>3  검색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맑은 고딕"/>
              </a:rPr>
              <a:t>심평원 병원정보 + 국립중앙의료원 응급의료정보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4261103"/>
            <a:ext cx="5577840" cy="7772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4306823"/>
            <a:ext cx="5303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563EB"/>
                </a:solidFill>
                <a:latin typeface="맑은 고딕"/>
              </a:rPr>
              <a:t>4  추천 이유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맑은 고딕"/>
              </a:rPr>
              <a:t>거리·진료시간·전문의·주차·평가등급을 근거로 3곳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5148071"/>
            <a:ext cx="5577840" cy="7772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5193791"/>
            <a:ext cx="53035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563EB"/>
                </a:solidFill>
                <a:latin typeface="맑은 고딕"/>
              </a:rPr>
              <a:t>5  길찾기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맑은 고딕"/>
              </a:rPr>
              <a:t>네이버 지도 길찾기 화면으로 바로 연결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26280"/>
            <a:ext cx="484632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A580C"/>
                </a:solidFill>
                <a:latin typeface="맑은 고딕"/>
              </a:rPr>
              <a:t>LLM은 '말 → 조건' 번역만 한다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0F172A"/>
                </a:solidFill>
                <a:latin typeface="맑은 고딕"/>
              </a:rPr>
              <a:t>병원 이름·진료시간은 LLM이 만들지 않고 전부 공공데이터 조회 결과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맑은 고딕"/>
              </a:rPr>
              <a:t>LLM이 실패하면 규칙 기반으로 자동 전환 (공개 시연판은 규칙 기반)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맑은 고딕"/>
              </a:rPr>
              <a:t>정렬 : 기본 거리순 · '평가 좋은' → 평가순 · '큰 병원' → 규모순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맑은 고딕"/>
              </a:rPr>
              <a:t>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맑은 고딕"/>
              </a:rPr>
              <a:t>전국 병원을 직접 모았고, 없는 값은 없다고 말합니다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맑은 고딕"/>
              </a:rPr>
              <a:t>독수리5형제 · 굿닥 AI 병원 선택 어시스턴트 · 2026 기획발표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맑은 고딕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맑은 고딕"/>
              </a:rPr>
              <a:t>출처 : 건강보험심사평가원 Open API · 전국 병의원 및 약국 현황(2026.6.) · 국립중앙의료원 응급의료정보 (팀 직접 수집·집계, 2026-09-28 재확인)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3474720" cy="1828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783080"/>
            <a:ext cx="3154679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63EB"/>
                </a:solidFill>
                <a:latin typeface="맑은 고딕"/>
              </a:rPr>
              <a:t>79,819곳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3154679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맑은 고딕"/>
              </a:rPr>
              <a:t>전국 병원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맑은 고딕"/>
              </a:rPr>
              <a:t>심평원 병원정보서비스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1645920"/>
            <a:ext cx="3474720" cy="1828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64592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783080"/>
            <a:ext cx="3154679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63EB"/>
                </a:solidFill>
                <a:latin typeface="맑은 고딕"/>
              </a:rPr>
              <a:t>25,757곳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14600"/>
            <a:ext cx="3154679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맑은 고딕"/>
              </a:rPr>
              <a:t>전국 약국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맑은 고딕"/>
              </a:rPr>
              <a:t>야간·심야 약국 찾기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1645920"/>
            <a:ext cx="3474720" cy="1828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55279" y="1645920"/>
            <a:ext cx="64008" cy="18288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1783080"/>
            <a:ext cx="3154679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2563EB"/>
                </a:solidFill>
                <a:latin typeface="맑은 고딕"/>
              </a:rPr>
              <a:t>58,909곳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2514600"/>
            <a:ext cx="3154679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F172A"/>
                </a:solidFill>
                <a:latin typeface="맑은 고딕"/>
              </a:rPr>
              <a:t>진료시간 확보 (73.8%)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맑은 고딕"/>
              </a:rPr>
              <a:t>심평원 단독 7,297곳 → 응급의료정보로 보강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703320"/>
            <a:ext cx="10698480" cy="18288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840480"/>
            <a:ext cx="10241280" cy="16459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  <a:latin typeface="맑은 고딕"/>
              </a:rPr>
              <a:t>데이터를 다루는 원칙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172A"/>
                </a:solidFill>
                <a:latin typeface="맑은 고딕"/>
              </a:rPr>
              <a:t>· 응급실 병상은 저장하지 않고 조회하는 순간 실시간으로 받아옵니다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172A"/>
                </a:solidFill>
                <a:latin typeface="맑은 고딕"/>
              </a:rPr>
              <a:t>· 진료시간이 등록되지 않은 26.2%는 추측하지 않고 '미확인'으로 표시합니다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172A"/>
                </a:solidFill>
                <a:latin typeface="맑은 고딕"/>
              </a:rPr>
              <a:t>· 기관번호를 API 결과와 파일자료로 대조해 99.3% 일치를 확인했습니다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0F172A"/>
                </a:solidFill>
                <a:latin typeface="맑은 고딕"/>
              </a:rPr>
              <a:t>· 광주는 '전남광주통합특별시'(코드 360000)로 관리돼, 17개 시도코드를 전수 검증했습니다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맑은 고딕"/>
              </a:rPr>
              <a:t>차별점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맑은 고딕"/>
              </a:rPr>
              <a:t>고르는 검색에서, 말하는 검색으로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맑은 고딕"/>
              </a:rPr>
              <a:t>독수리5형제 · 굿닥 AI 병원 선택 어시스턴트 · 2026 기획발표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맑은 고딕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맑은 고딕"/>
              </a:rPr>
              <a:t>출처 : 굿닥 병원 상세 페이지 직접 확인(2026-09-09) · 네이버 지역검색 API 응답 확인(2026-09-15)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1600200"/>
          <a:ext cx="1069848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651760"/>
                <a:gridCol w="2651760"/>
                <a:gridCol w="3291840"/>
              </a:tblGrid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굿닥 (현재)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네이버 지도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우리 서비스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맑은 고딕"/>
                        </a:rPr>
                        <a:t>검색 방식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맑은 고딕"/>
                        </a:rPr>
                        <a:t>조건을 직접 선택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맑은 고딕"/>
                        </a:rPr>
                        <a:t>지명·상호 검색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563EB"/>
                          </a:solidFill>
                          <a:latin typeface="맑은 고딕"/>
                        </a:rPr>
                        <a:t>말 한 문장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맑은 고딕"/>
                        </a:rPr>
                        <a:t>여러 조건 동시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맑은 고딕"/>
                        </a:rPr>
                        <a:t>필터를 여러 번 탭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맑은 고딕"/>
                        </a:rPr>
                        <a:t>어려움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563EB"/>
                          </a:solidFill>
                          <a:latin typeface="맑은 고딕"/>
                        </a:rPr>
                        <a:t>한 문장에 조건 4개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맑은 고딕"/>
                        </a:rPr>
                        <a:t>증상 입력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맑은 고딕"/>
                        </a:rPr>
                        <a:t>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맑은 고딕"/>
                        </a:rPr>
                        <a:t>불가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563EB"/>
                          </a:solidFill>
                          <a:latin typeface="맑은 고딕"/>
                        </a:rPr>
                        <a:t>진료과 힌트로 변환 (병명 없음)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맑은 고딕"/>
                        </a:rPr>
                        <a:t>진료시간 조건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맑은 고딕"/>
                        </a:rPr>
                        <a:t>정확도 불만 다수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맑은 고딕"/>
                        </a:rPr>
                        <a:t>일부 제공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563EB"/>
                          </a:solidFill>
                          <a:latin typeface="맑은 고딕"/>
                        </a:rPr>
                        <a:t>공공데이터 기반 필터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맑은 고딕"/>
                        </a:rPr>
                        <a:t>추천 근거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563EB"/>
                          </a:solidFill>
                          <a:latin typeface="맑은 고딕"/>
                        </a:rPr>
                        <a:t>추천 이유 항상 표시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맑은 고딕"/>
                        </a:rPr>
                        <a:t>없는 정보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563EB"/>
                          </a:solidFill>
                          <a:latin typeface="맑은 고딕"/>
                        </a:rPr>
                        <a:t>'미확인'으로 명시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맑은 고딕"/>
                        </a:rPr>
                        <a:t>길찾기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맑은 고딕"/>
                        </a:rPr>
                        <a:t>지도 그림·주소만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맑은 고딕"/>
                        </a:rPr>
                        <a:t>지원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563EB"/>
                          </a:solidFill>
                          <a:latin typeface="맑은 고딕"/>
                        </a:rPr>
                        <a:t>네이버 지도로 바로 연결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172A"/>
                          </a:solidFill>
                          <a:latin typeface="맑은 고딕"/>
                        </a:rPr>
                        <a:t>응급실 병상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F172A"/>
                          </a:solidFill>
                          <a:latin typeface="맑은 고딕"/>
                        </a:rPr>
                        <a:t>없음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563EB"/>
                          </a:solidFill>
                          <a:latin typeface="맑은 고딕"/>
                        </a:rPr>
                        <a:t>실시간 조회</a:t>
                      </a:r>
                    </a:p>
                  </a:txBody>
                  <a:tcPr anchor="ctr"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563EB"/>
                </a:solidFill>
                <a:latin typeface="맑은 고딕"/>
              </a:rPr>
              <a:t>시제품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1078992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0F172A"/>
                </a:solidFill>
                <a:latin typeface="맑은 고딕"/>
              </a:rPr>
              <a:t>지금 바로 휴대폰으로 써볼 수 있습니다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355080"/>
            <a:ext cx="11094415" cy="914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64748B"/>
                </a:solidFill>
                <a:latin typeface="맑은 고딕"/>
              </a:rPr>
              <a:t>독수리5형제 · 굿닥 AI 병원 선택 어시스턴트 · 2026 기획발표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>
                <a:solidFill>
                  <a:srgbClr val="64748B"/>
                </a:solidFill>
                <a:latin typeface="맑은 고딕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64748B"/>
                </a:solidFill>
                <a:latin typeface="맑은 고딕"/>
              </a:rPr>
              <a:t>출처 : 시연 화면 lee020304.github.io/goodoc-demo · 화면 캡처는 실제 동작 화면</a:t>
            </a:r>
          </a:p>
        </p:txBody>
      </p:sp>
      <p:pic>
        <p:nvPicPr>
          <p:cNvPr id="10" name="Picture 9" descr="service_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4361417" cy="4297680"/>
          </a:xfrm>
          <a:prstGeom prst="rect">
            <a:avLst/>
          </a:prstGeom>
        </p:spPr>
      </p:pic>
      <p:pic>
        <p:nvPicPr>
          <p:cNvPr id="11" name="Picture 10" descr="service_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600200"/>
            <a:ext cx="4361417" cy="4297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784080" y="1645920"/>
            <a:ext cx="1920240" cy="4206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  <a:latin typeface="맑은 고딕"/>
              </a:rPr>
              <a:t>해볼 말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맑은 고딕"/>
              </a:rPr>
              <a:t>광주 남구 이비인후과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0F172A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맑은 고딕"/>
              </a:rPr>
              <a:t>감기 걸린 것 같아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0F172A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맑은 고딕"/>
              </a:rPr>
              <a:t>지금 문 연 병원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0F172A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0F172A"/>
                </a:solidFill>
                <a:latin typeface="맑은 고딕"/>
              </a:rPr>
              <a:t>주말에도 하는 소아과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F172A"/>
                </a:solidFill>
                <a:latin typeface="맑은 고딕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2563EB"/>
                </a:solidFill>
                <a:latin typeface="맑은 고딕"/>
              </a:rPr>
              <a:t>구현 완료</a:t>
            </a:r>
          </a:p>
          <a:p>
            <a:pPr algn="l">
              <a:lnSpc>
                <a:spcPct val="115000"/>
              </a:lnSpc>
            </a:pPr>
            <a:r>
              <a:rPr sz="1100" b="0">
                <a:solidFill>
                  <a:srgbClr val="64748B"/>
                </a:solidFill>
                <a:latin typeface="맑은 고딕"/>
              </a:rPr>
              <a:t>음성 입력 · 조건 추출 · 전국 검색 · 추천 이유 · 약국 · 응급실 병상 · 길찾기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DBEAFE"/>
                </a:solidFill>
                <a:latin typeface="맑은 고딕"/>
              </a:rPr>
              <a:t>기대효과 · 확장 · 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188720"/>
            <a:ext cx="3429000" cy="2651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32588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DBEAFE"/>
                </a:solidFill>
                <a:latin typeface="맑은 고딕"/>
              </a:rPr>
              <a:t>기대효과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3017520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맑은 고딕"/>
              </a:rPr>
              <a:t>· 이용자 : 조건 4개를 1~2회 대화로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맑은 고딕"/>
              </a:rPr>
              <a:t>· 헛걸음 감소 : 진료시간을 공공데이터로 확인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맑은 고딕"/>
              </a:rPr>
              <a:t>· 굿닥 : 찾기 → 예약·접수로 바로 연결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맑은 고딕"/>
              </a:rPr>
              <a:t>· 굿닥 : '네이버가 더 편하다'는 이탈 방지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1188720"/>
            <a:ext cx="3429000" cy="2651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32588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DBEAFE"/>
                </a:solidFill>
                <a:latin typeface="맑은 고딕"/>
              </a:rPr>
              <a:t>확장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1828800"/>
            <a:ext cx="3017520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맑은 고딕"/>
              </a:rPr>
              <a:t>· 약국·야간 약국 (구현)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맑은 고딕"/>
              </a:rPr>
              <a:t>· 비급여 진료비 비교 (API 신청 완료)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맑은 고딕"/>
              </a:rPr>
              <a:t>· 지자체·보건소 안내로 이식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91856" y="1188720"/>
            <a:ext cx="3429000" cy="265176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1325880"/>
            <a:ext cx="301752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DBEAFE"/>
                </a:solidFill>
                <a:latin typeface="맑은 고딕"/>
              </a:rPr>
              <a:t>일정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1828800"/>
            <a:ext cx="3017520" cy="19202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맑은 고딕"/>
              </a:rPr>
              <a:t>· 9/30 기획발표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맑은 고딕"/>
              </a:rPr>
              <a:t>· 10월 1~2주 시연·테스트 보강</a:t>
            </a:r>
          </a:p>
          <a:p>
            <a:pPr algn="l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맑은 고딕"/>
              </a:rPr>
              <a:t>· 10/16 최종 발표 (시연 5분)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343400"/>
            <a:ext cx="1069848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맑은 고딕"/>
              </a:rPr>
              <a:t>지어내지 않는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700" b="0">
                <a:solidFill>
                  <a:srgbClr val="DBEAFE"/>
                </a:solidFill>
                <a:latin typeface="맑은 고딕"/>
              </a:rPr>
              <a:t>AI는 말을 알아듣고, 사실은 공공데이터가 말합니다.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26480"/>
            <a:ext cx="1069848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DBEAFE"/>
                </a:solidFill>
                <a:latin typeface="맑은 고딕"/>
              </a:rPr>
              <a:t>감사합니다 · 독수리5형제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