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9905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905695" cy="4754880"/>
          </a:xfrm>
          <a:prstGeom prst="rect">
            <a:avLst/>
          </a:prstGeom>
          <a:solidFill>
            <a:srgbClr val="008C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1005840"/>
            <a:ext cx="384048" cy="45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8686800" cy="914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>
                <a:solidFill>
                  <a:srgbClr val="FFFFFF"/>
                </a:solidFill>
                <a:latin typeface="맑은 고딕"/>
              </a:rPr>
              <a:t>과제명 (굿닥 앱 리뷰와 공공 의료데이터 기반의</a:t>
            </a:r>
          </a:p>
          <a:p>
            <a:pPr algn="l">
              <a:lnSpc>
                <a:spcPct val="110000"/>
              </a:lnSpc>
            </a:pPr>
            <a:r>
              <a:rPr sz="2000" b="1">
                <a:solidFill>
                  <a:srgbClr val="FFFFFF"/>
                </a:solidFill>
                <a:latin typeface="맑은 고딕"/>
              </a:rPr>
              <a:t>            음성·대화형 AI 병원 선택 어시스턴트)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377440"/>
            <a:ext cx="8229600" cy="10972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5400" b="1">
                <a:solidFill>
                  <a:srgbClr val="FFFFFF"/>
                </a:solidFill>
                <a:latin typeface="맑은 고딕"/>
              </a:rPr>
              <a:t>화면설계서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5669280"/>
            <a:ext cx="27432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111111"/>
                </a:solidFill>
                <a:latin typeface="맑은 고딕"/>
              </a:rPr>
              <a:t>2026. 09. 28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0" y="5440680"/>
            <a:ext cx="5303520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10000"/>
              </a:lnSpc>
            </a:pPr>
            <a:r>
              <a:rPr sz="1500" b="1">
                <a:solidFill>
                  <a:srgbClr val="111111"/>
                </a:solidFill>
                <a:latin typeface="맑은 고딕"/>
              </a:rPr>
              <a:t>팀명 : 독수리5형제</a:t>
            </a:r>
          </a:p>
          <a:p>
            <a:pPr algn="r">
              <a:lnSpc>
                <a:spcPct val="110000"/>
              </a:lnSpc>
            </a:pPr>
            <a:r>
              <a:rPr sz="1500" b="1">
                <a:solidFill>
                  <a:srgbClr val="111111"/>
                </a:solidFill>
                <a:latin typeface="맑은 고딕"/>
              </a:rPr>
              <a:t>팀원 : 이영훈, 김강민, 조성종, 류제형, 박찬균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8961120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>
                <a:solidFill>
                  <a:srgbClr val="111111"/>
                </a:solidFill>
                <a:latin typeface="맑은 고딕"/>
              </a:rPr>
              <a:t>변경이력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024128"/>
            <a:ext cx="8899855" cy="0"/>
          </a:xfrm>
          <a:prstGeom prst="line">
            <a:avLst/>
          </a:prstGeom>
          <a:ln w="127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417320"/>
          <a:ext cx="832104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7240"/>
                <a:gridCol w="960120"/>
                <a:gridCol w="4206240"/>
                <a:gridCol w="1188720"/>
                <a:gridCol w="1188720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버전</a:t>
                      </a:r>
                    </a:p>
                  </a:txBody>
                  <a:tcPr anchor="ctr" marL="54864" marR="54864">
                    <a:solidFill>
                      <a:srgbClr val="008CD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작성일자</a:t>
                      </a:r>
                    </a:p>
                  </a:txBody>
                  <a:tcPr anchor="ctr" marL="54864" marR="54864">
                    <a:solidFill>
                      <a:srgbClr val="008CD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수정사항</a:t>
                      </a:r>
                    </a:p>
                  </a:txBody>
                  <a:tcPr anchor="ctr" marL="54864" marR="54864">
                    <a:solidFill>
                      <a:srgbClr val="008CD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작성자</a:t>
                      </a:r>
                    </a:p>
                  </a:txBody>
                  <a:tcPr anchor="ctr" marL="54864" marR="54864">
                    <a:solidFill>
                      <a:srgbClr val="008CD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검수자</a:t>
                      </a:r>
                    </a:p>
                  </a:txBody>
                  <a:tcPr anchor="ctr" marL="54864" marR="54864">
                    <a:solidFill>
                      <a:srgbClr val="008CD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11111"/>
                          </a:solidFill>
                          <a:latin typeface="맑은 고딕"/>
                        </a:rPr>
                        <a:t>0.1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11111"/>
                          </a:solidFill>
                          <a:latin typeface="맑은 고딕"/>
                        </a:rPr>
                        <a:t>2026.09.28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11111"/>
                          </a:solidFill>
                          <a:latin typeface="맑은 고딕"/>
                        </a:rPr>
                        <a:t>- 메뉴 구성 설계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11111"/>
                          </a:solidFill>
                          <a:latin typeface="맑은 고딕"/>
                        </a:rPr>
                        <a:t>이영훈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11111"/>
                          </a:solidFill>
                          <a:latin typeface="맑은 고딕"/>
                        </a:rPr>
                        <a:t>0.2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11111"/>
                          </a:solidFill>
                          <a:latin typeface="맑은 고딕"/>
                        </a:rPr>
                        <a:t>2026.09.28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11111"/>
                          </a:solidFill>
                          <a:latin typeface="맑은 고딕"/>
                        </a:rPr>
                        <a:t>- 플로우 차트 설계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11111"/>
                          </a:solidFill>
                          <a:latin typeface="맑은 고딕"/>
                        </a:rPr>
                        <a:t>이영훈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11111"/>
                          </a:solidFill>
                          <a:latin typeface="맑은 고딕"/>
                        </a:rPr>
                        <a:t>0.3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11111"/>
                          </a:solidFill>
                          <a:latin typeface="맑은 고딕"/>
                        </a:rPr>
                        <a:t>2026.09.28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11111"/>
                          </a:solidFill>
                          <a:latin typeface="맑은 고딕"/>
                        </a:rPr>
                        <a:t>- 화면 설계 (실제 서비스 화면 13종 캡처)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11111"/>
                          </a:solidFill>
                          <a:latin typeface="맑은 고딕"/>
                        </a:rPr>
                        <a:t>이영훈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11111"/>
                          </a:solidFill>
                          <a:latin typeface="맑은 고딕"/>
                        </a:rPr>
                        <a:t>0.4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11111"/>
                          </a:solidFill>
                          <a:latin typeface="맑은 고딕"/>
                        </a:rPr>
                        <a:t>2026.09.28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11111"/>
                          </a:solidFill>
                          <a:latin typeface="맑은 고딕"/>
                        </a:rPr>
                        <a:t>- 로그인 화면 수정 (이름 칸 숨김, 휴대폰 상단 로그인 메뉴 추가)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11111"/>
                          </a:solidFill>
                          <a:latin typeface="맑은 고딕"/>
                        </a:rPr>
                        <a:t>이영훈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8961120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>
                <a:solidFill>
                  <a:srgbClr val="111111"/>
                </a:solidFill>
                <a:latin typeface="맑은 고딕"/>
              </a:rPr>
              <a:t>메뉴 구성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024128"/>
            <a:ext cx="8899855" cy="0"/>
          </a:xfrm>
          <a:prstGeom prst="line">
            <a:avLst/>
          </a:prstGeom>
          <a:ln w="127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8001000" y="1188720"/>
            <a:ext cx="1371600" cy="27432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900" b="0">
                <a:solidFill>
                  <a:srgbClr val="FFFFFF"/>
                </a:solidFill>
                <a:latin typeface="맑은 고딕"/>
              </a:rPr>
              <a:t>제품명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1000" y="1517904"/>
            <a:ext cx="1371600" cy="274320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900" b="0">
                <a:solidFill>
                  <a:srgbClr val="FFFFFF"/>
                </a:solidFill>
                <a:latin typeface="맑은 고딕"/>
              </a:rPr>
              <a:t>메인메뉴 이름</a:t>
            </a:r>
          </a:p>
        </p:txBody>
      </p:sp>
      <p:sp>
        <p:nvSpPr>
          <p:cNvPr id="6" name="Rectangle 5"/>
          <p:cNvSpPr/>
          <p:nvPr/>
        </p:nvSpPr>
        <p:spPr>
          <a:xfrm>
            <a:off x="8001000" y="1847088"/>
            <a:ext cx="137160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8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900" b="0">
                <a:solidFill>
                  <a:srgbClr val="111111"/>
                </a:solidFill>
                <a:latin typeface="맑은 고딕"/>
              </a:rPr>
              <a:t>서브메뉴 이름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1000" y="2176272"/>
            <a:ext cx="1371600" cy="384048"/>
          </a:xfrm>
          <a:prstGeom prst="rect">
            <a:avLst/>
          </a:prstGeom>
          <a:solidFill>
            <a:srgbClr val="E4F3FB"/>
          </a:solidFill>
          <a:ln w="19050">
            <a:solidFill>
              <a:srgbClr val="008CD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900" b="0">
                <a:solidFill>
                  <a:srgbClr val="111111"/>
                </a:solidFill>
                <a:latin typeface="맑은 고딕"/>
              </a:rPr>
              <a:t>서브메뉴 내</a:t>
            </a:r>
          </a:p>
          <a:p>
            <a:pPr algn="ctr"/>
            <a:r>
              <a:rPr sz="900" b="0">
                <a:solidFill>
                  <a:srgbClr val="111111"/>
                </a:solidFill>
                <a:latin typeface="맑은 고딕"/>
              </a:rPr>
              <a:t>메뉴 이름</a:t>
            </a:r>
          </a:p>
        </p:txBody>
      </p:sp>
      <p:sp>
        <p:nvSpPr>
          <p:cNvPr id="8" name="Rectangle 7"/>
          <p:cNvSpPr/>
          <p:nvPr/>
        </p:nvSpPr>
        <p:spPr>
          <a:xfrm>
            <a:off x="3611880" y="2057400"/>
            <a:ext cx="1828800" cy="384048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1100" b="0">
                <a:solidFill>
                  <a:srgbClr val="FFFFFF"/>
                </a:solidFill>
                <a:latin typeface="맑은 고딕"/>
              </a:rPr>
              <a:t>병원찾기 · AI 병원 안내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526280" y="2441448"/>
            <a:ext cx="0" cy="210312"/>
          </a:xfrm>
          <a:prstGeom prst="line">
            <a:avLst/>
          </a:prstGeom>
          <a:ln w="127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152144" y="2651760"/>
            <a:ext cx="7315199" cy="0"/>
          </a:xfrm>
          <a:prstGeom prst="line">
            <a:avLst/>
          </a:prstGeom>
          <a:ln w="127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152144" y="2651760"/>
            <a:ext cx="0" cy="228600"/>
          </a:xfrm>
          <a:prstGeom prst="line">
            <a:avLst/>
          </a:prstGeom>
          <a:ln w="127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502920" y="2880360"/>
            <a:ext cx="1298448" cy="310896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1000" b="0">
                <a:solidFill>
                  <a:srgbClr val="FFFFFF"/>
                </a:solidFill>
                <a:latin typeface="맑은 고딕"/>
              </a:rPr>
              <a:t>메인화면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152144" y="3191256"/>
            <a:ext cx="0" cy="146304"/>
          </a:xfrm>
          <a:prstGeom prst="line">
            <a:avLst/>
          </a:prstGeom>
          <a:ln w="127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502920" y="3337560"/>
            <a:ext cx="1298448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008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950" b="0">
                <a:solidFill>
                  <a:srgbClr val="111111"/>
                </a:solidFill>
                <a:latin typeface="맑은 고딕"/>
              </a:rPr>
              <a:t>검색창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152144" y="3630168"/>
            <a:ext cx="0" cy="128015"/>
          </a:xfrm>
          <a:prstGeom prst="line">
            <a:avLst/>
          </a:prstGeom>
          <a:ln w="127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502920" y="3758183"/>
            <a:ext cx="1298448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008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950" b="0">
                <a:solidFill>
                  <a:srgbClr val="111111"/>
                </a:solidFill>
                <a:latin typeface="맑은 고딕"/>
              </a:rPr>
              <a:t>빠른 질문 태그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152144" y="4050791"/>
            <a:ext cx="0" cy="128016"/>
          </a:xfrm>
          <a:prstGeom prst="line">
            <a:avLst/>
          </a:prstGeom>
          <a:ln w="127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502920" y="4178807"/>
            <a:ext cx="1298448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008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950" b="0">
                <a:solidFill>
                  <a:srgbClr val="111111"/>
                </a:solidFill>
                <a:latin typeface="맑은 고딕"/>
              </a:rPr>
              <a:t>진료과 바로가기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152144" y="4471416"/>
            <a:ext cx="0" cy="128015"/>
          </a:xfrm>
          <a:prstGeom prst="line">
            <a:avLst/>
          </a:prstGeom>
          <a:ln w="127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502920" y="4599431"/>
            <a:ext cx="1298448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008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950" b="0">
                <a:solidFill>
                  <a:srgbClr val="111111"/>
                </a:solidFill>
                <a:latin typeface="맑은 고딕"/>
              </a:rPr>
              <a:t>내 주변 병원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615184" y="2651760"/>
            <a:ext cx="0" cy="228600"/>
          </a:xfrm>
          <a:prstGeom prst="line">
            <a:avLst/>
          </a:prstGeom>
          <a:ln w="127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1965960" y="2880360"/>
            <a:ext cx="1298448" cy="310896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1000" b="0">
                <a:solidFill>
                  <a:srgbClr val="FFFFFF"/>
                </a:solidFill>
                <a:latin typeface="맑은 고딕"/>
              </a:rPr>
              <a:t>AI 병원 안내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615184" y="3191256"/>
            <a:ext cx="0" cy="146304"/>
          </a:xfrm>
          <a:prstGeom prst="line">
            <a:avLst/>
          </a:prstGeom>
          <a:ln w="127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1965960" y="3337560"/>
            <a:ext cx="1298448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008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950" b="0">
                <a:solidFill>
                  <a:srgbClr val="111111"/>
                </a:solidFill>
                <a:latin typeface="맑은 고딕"/>
              </a:rPr>
              <a:t>음성 입력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2615184" y="3630168"/>
            <a:ext cx="0" cy="128015"/>
          </a:xfrm>
          <a:prstGeom prst="line">
            <a:avLst/>
          </a:prstGeom>
          <a:ln w="127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1965960" y="3758183"/>
            <a:ext cx="1298448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008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950" b="0">
                <a:solidFill>
                  <a:srgbClr val="111111"/>
                </a:solidFill>
                <a:latin typeface="맑은 고딕"/>
              </a:rPr>
              <a:t>글자 입력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2615184" y="4050791"/>
            <a:ext cx="0" cy="128016"/>
          </a:xfrm>
          <a:prstGeom prst="line">
            <a:avLst/>
          </a:prstGeom>
          <a:ln w="127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1965960" y="4178807"/>
            <a:ext cx="1298448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008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950" b="0">
                <a:solidFill>
                  <a:srgbClr val="111111"/>
                </a:solidFill>
                <a:latin typeface="맑은 고딕"/>
              </a:rPr>
              <a:t>추천 결과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075688" y="4581144"/>
            <a:ext cx="1188719" cy="310896"/>
          </a:xfrm>
          <a:prstGeom prst="rect">
            <a:avLst/>
          </a:prstGeom>
          <a:solidFill>
            <a:srgbClr val="E4F3FB"/>
          </a:solidFill>
          <a:ln w="19050">
            <a:solidFill>
              <a:srgbClr val="008CD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900" b="0">
                <a:solidFill>
                  <a:srgbClr val="111111"/>
                </a:solidFill>
                <a:latin typeface="맑은 고딕"/>
              </a:rPr>
              <a:t>병원 보기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075688" y="4965192"/>
            <a:ext cx="1188719" cy="310896"/>
          </a:xfrm>
          <a:prstGeom prst="rect">
            <a:avLst/>
          </a:prstGeom>
          <a:solidFill>
            <a:srgbClr val="E4F3FB"/>
          </a:solidFill>
          <a:ln w="19050">
            <a:solidFill>
              <a:srgbClr val="008CD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900" b="0">
                <a:solidFill>
                  <a:srgbClr val="111111"/>
                </a:solidFill>
                <a:latin typeface="맑은 고딕"/>
              </a:rPr>
              <a:t>예약 안내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075688" y="5349240"/>
            <a:ext cx="1188719" cy="310896"/>
          </a:xfrm>
          <a:prstGeom prst="rect">
            <a:avLst/>
          </a:prstGeom>
          <a:solidFill>
            <a:srgbClr val="E4F3FB"/>
          </a:solidFill>
          <a:ln w="19050">
            <a:solidFill>
              <a:srgbClr val="008CD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900" b="0">
                <a:solidFill>
                  <a:srgbClr val="111111"/>
                </a:solidFill>
                <a:latin typeface="맑은 고딕"/>
              </a:rPr>
              <a:t>길찾기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4078224" y="2651760"/>
            <a:ext cx="0" cy="228600"/>
          </a:xfrm>
          <a:prstGeom prst="line">
            <a:avLst/>
          </a:prstGeom>
          <a:ln w="127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3429000" y="2880360"/>
            <a:ext cx="1298448" cy="310896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1000" b="0">
                <a:solidFill>
                  <a:srgbClr val="FFFFFF"/>
                </a:solidFill>
                <a:latin typeface="맑은 고딕"/>
              </a:rPr>
              <a:t>증상 안내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4078224" y="3191256"/>
            <a:ext cx="0" cy="146304"/>
          </a:xfrm>
          <a:prstGeom prst="line">
            <a:avLst/>
          </a:prstGeom>
          <a:ln w="127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3429000" y="3337560"/>
            <a:ext cx="1298448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008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950" b="0">
                <a:solidFill>
                  <a:srgbClr val="111111"/>
                </a:solidFill>
                <a:latin typeface="맑은 고딕"/>
              </a:rPr>
              <a:t>증상 되묻기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4078224" y="3630168"/>
            <a:ext cx="0" cy="128015"/>
          </a:xfrm>
          <a:prstGeom prst="line">
            <a:avLst/>
          </a:prstGeom>
          <a:ln w="127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3429000" y="3758183"/>
            <a:ext cx="1298448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008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950" b="0">
                <a:solidFill>
                  <a:srgbClr val="111111"/>
                </a:solidFill>
                <a:latin typeface="맑은 고딕"/>
              </a:rPr>
              <a:t>진료과 안내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5541264" y="2651760"/>
            <a:ext cx="0" cy="228600"/>
          </a:xfrm>
          <a:prstGeom prst="line">
            <a:avLst/>
          </a:prstGeom>
          <a:ln w="127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ectangle 38"/>
          <p:cNvSpPr/>
          <p:nvPr/>
        </p:nvSpPr>
        <p:spPr>
          <a:xfrm>
            <a:off x="4892040" y="2880360"/>
            <a:ext cx="1298448" cy="310896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1000" b="0">
                <a:solidFill>
                  <a:srgbClr val="FFFFFF"/>
                </a:solidFill>
                <a:latin typeface="맑은 고딕"/>
              </a:rPr>
              <a:t>응급실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5541264" y="3191256"/>
            <a:ext cx="0" cy="146304"/>
          </a:xfrm>
          <a:prstGeom prst="line">
            <a:avLst/>
          </a:prstGeom>
          <a:ln w="127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ectangle 40"/>
          <p:cNvSpPr/>
          <p:nvPr/>
        </p:nvSpPr>
        <p:spPr>
          <a:xfrm>
            <a:off x="4892040" y="3337560"/>
            <a:ext cx="1298448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008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950" b="0">
                <a:solidFill>
                  <a:srgbClr val="111111"/>
                </a:solidFill>
                <a:latin typeface="맑은 고딕"/>
              </a:rPr>
              <a:t>실시간 병상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7004303" y="2651760"/>
            <a:ext cx="0" cy="228600"/>
          </a:xfrm>
          <a:prstGeom prst="line">
            <a:avLst/>
          </a:prstGeom>
          <a:ln w="127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ectangle 42"/>
          <p:cNvSpPr/>
          <p:nvPr/>
        </p:nvSpPr>
        <p:spPr>
          <a:xfrm>
            <a:off x="6355079" y="2880360"/>
            <a:ext cx="1298448" cy="310896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1000" b="0">
                <a:solidFill>
                  <a:srgbClr val="FFFFFF"/>
                </a:solidFill>
                <a:latin typeface="맑은 고딕"/>
              </a:rPr>
              <a:t>약국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7004303" y="3191256"/>
            <a:ext cx="0" cy="146304"/>
          </a:xfrm>
          <a:prstGeom prst="line">
            <a:avLst/>
          </a:prstGeom>
          <a:ln w="127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ectangle 44"/>
          <p:cNvSpPr/>
          <p:nvPr/>
        </p:nvSpPr>
        <p:spPr>
          <a:xfrm>
            <a:off x="6355079" y="3337560"/>
            <a:ext cx="1298448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008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950" b="0">
                <a:solidFill>
                  <a:srgbClr val="111111"/>
                </a:solidFill>
                <a:latin typeface="맑은 고딕"/>
              </a:rPr>
              <a:t>지금 문 연 약국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8467343" y="2651760"/>
            <a:ext cx="0" cy="228600"/>
          </a:xfrm>
          <a:prstGeom prst="line">
            <a:avLst/>
          </a:prstGeom>
          <a:ln w="127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ectangle 46"/>
          <p:cNvSpPr/>
          <p:nvPr/>
        </p:nvSpPr>
        <p:spPr>
          <a:xfrm>
            <a:off x="7818119" y="2880360"/>
            <a:ext cx="1298448" cy="310896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1000" b="0">
                <a:solidFill>
                  <a:srgbClr val="FFFFFF"/>
                </a:solidFill>
                <a:latin typeface="맑은 고딕"/>
              </a:rPr>
              <a:t>회원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8467343" y="3191256"/>
            <a:ext cx="0" cy="146304"/>
          </a:xfrm>
          <a:prstGeom prst="line">
            <a:avLst/>
          </a:prstGeom>
          <a:ln w="127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ectangle 48"/>
          <p:cNvSpPr/>
          <p:nvPr/>
        </p:nvSpPr>
        <p:spPr>
          <a:xfrm>
            <a:off x="7818119" y="3337560"/>
            <a:ext cx="1298448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008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950" b="0">
                <a:solidFill>
                  <a:srgbClr val="111111"/>
                </a:solidFill>
                <a:latin typeface="맑은 고딕"/>
              </a:rPr>
              <a:t>로그인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8467343" y="3630168"/>
            <a:ext cx="0" cy="128015"/>
          </a:xfrm>
          <a:prstGeom prst="line">
            <a:avLst/>
          </a:prstGeom>
          <a:ln w="127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ectangle 50"/>
          <p:cNvSpPr/>
          <p:nvPr/>
        </p:nvSpPr>
        <p:spPr>
          <a:xfrm>
            <a:off x="7818119" y="3758183"/>
            <a:ext cx="1298448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008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950" b="0">
                <a:solidFill>
                  <a:srgbClr val="111111"/>
                </a:solidFill>
                <a:latin typeface="맑은 고딕"/>
              </a:rPr>
              <a:t>회원가입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8467343" y="4050791"/>
            <a:ext cx="0" cy="128016"/>
          </a:xfrm>
          <a:prstGeom prst="line">
            <a:avLst/>
          </a:prstGeom>
          <a:ln w="127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ectangle 52"/>
          <p:cNvSpPr/>
          <p:nvPr/>
        </p:nvSpPr>
        <p:spPr>
          <a:xfrm>
            <a:off x="7818119" y="4178807"/>
            <a:ext cx="1298448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008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950" b="0">
                <a:solidFill>
                  <a:srgbClr val="111111"/>
                </a:solidFill>
                <a:latin typeface="맑은 고딕"/>
              </a:rPr>
              <a:t>예약 문의 내역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02920" y="6355080"/>
            <a:ext cx="896112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95959"/>
                </a:solidFill>
                <a:latin typeface="맑은 고딕"/>
              </a:rPr>
              <a:t>※ 메뉴는 실제 서비스(2026-09-28)의 화면 구성을 그대로 옮긴 것이다.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8961120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>
                <a:solidFill>
                  <a:srgbClr val="111111"/>
                </a:solidFill>
                <a:latin typeface="맑은 고딕"/>
              </a:rPr>
              <a:t>플로우 차트 표준 기호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024128"/>
            <a:ext cx="8899855" cy="0"/>
          </a:xfrm>
          <a:prstGeom prst="line">
            <a:avLst/>
          </a:prstGeom>
          <a:ln w="127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280160"/>
          <a:ext cx="8897111" cy="47731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1874519"/>
                <a:gridCol w="4645152"/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기호</a:t>
                      </a:r>
                    </a:p>
                  </a:txBody>
                  <a:tcPr anchor="ctr" marL="54864" marR="54864">
                    <a:solidFill>
                      <a:srgbClr val="008CD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이름</a:t>
                      </a:r>
                    </a:p>
                  </a:txBody>
                  <a:tcPr anchor="ctr" marL="54864" marR="54864">
                    <a:solidFill>
                      <a:srgbClr val="008CD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설명</a:t>
                      </a:r>
                    </a:p>
                  </a:txBody>
                  <a:tcPr anchor="ctr" marL="54864" marR="54864">
                    <a:solidFill>
                      <a:srgbClr val="008CD2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/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11111"/>
                          </a:solidFill>
                          <a:latin typeface="맑은 고딕"/>
                        </a:rPr>
                        <a:t>시작/끝</a:t>
                      </a:r>
                    </a:p>
                    <a:p>
                      <a:pPr algn="ctr"/>
                      <a:r>
                        <a:rPr sz="1100" b="0">
                          <a:solidFill>
                            <a:srgbClr val="111111"/>
                          </a:solidFill>
                          <a:latin typeface="맑은 고딕"/>
                        </a:rPr>
                        <a:t>(Start/End)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11111"/>
                          </a:solidFill>
                          <a:latin typeface="맑은 고딕"/>
                        </a:rPr>
                        <a:t>Flow Chart의 시작과 끝을 표시한다.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/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11111"/>
                          </a:solidFill>
                          <a:latin typeface="맑은 고딕"/>
                        </a:rPr>
                        <a:t>처리 프로세스</a:t>
                      </a:r>
                    </a:p>
                    <a:p>
                      <a:pPr algn="ctr"/>
                      <a:r>
                        <a:rPr sz="1100" b="0">
                          <a:solidFill>
                            <a:srgbClr val="111111"/>
                          </a:solidFill>
                          <a:latin typeface="맑은 고딕"/>
                        </a:rPr>
                        <a:t>(Process)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11111"/>
                          </a:solidFill>
                          <a:latin typeface="맑은 고딕"/>
                        </a:rPr>
                        <a:t>모든 처리 과정을 표시. 기호 내에 처리 내용을 기입한다.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111111"/>
                          </a:solidFill>
                          <a:latin typeface="맑은 고딕"/>
                        </a:rPr>
                        <a:t>ex) 고객이 입력한 검색어 결과를 표시한다.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111111"/>
                          </a:solidFill>
                          <a:latin typeface="맑은 고딕"/>
                        </a:rPr>
                        <a:t>화면(페이지) 구분하는 용도로도 사용한다.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/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11111"/>
                          </a:solidFill>
                          <a:latin typeface="맑은 고딕"/>
                        </a:rPr>
                        <a:t>판단/결정</a:t>
                      </a:r>
                    </a:p>
                    <a:p>
                      <a:pPr algn="ctr"/>
                      <a:r>
                        <a:rPr sz="1100" b="0">
                          <a:solidFill>
                            <a:srgbClr val="111111"/>
                          </a:solidFill>
                          <a:latin typeface="맑은 고딕"/>
                        </a:rPr>
                        <a:t>(Decision)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11111"/>
                          </a:solidFill>
                          <a:latin typeface="맑은 고딕"/>
                        </a:rPr>
                        <a:t>조건에 따라 분기되는 Case를 표시한다.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/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11111"/>
                          </a:solidFill>
                          <a:latin typeface="맑은 고딕"/>
                        </a:rPr>
                        <a:t>입출력/데이터</a:t>
                      </a:r>
                    </a:p>
                    <a:p>
                      <a:pPr algn="ctr"/>
                      <a:r>
                        <a:rPr sz="1100" b="0">
                          <a:solidFill>
                            <a:srgbClr val="111111"/>
                          </a:solidFill>
                          <a:latin typeface="맑은 고딕"/>
                        </a:rPr>
                        <a:t>(Input/Data)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11111"/>
                          </a:solidFill>
                          <a:latin typeface="맑은 고딕"/>
                        </a:rPr>
                        <a:t>모든 종류의 입력과 출력을 표시한다.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/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11111"/>
                          </a:solidFill>
                          <a:latin typeface="맑은 고딕"/>
                        </a:rPr>
                        <a:t>출력/문서</a:t>
                      </a:r>
                    </a:p>
                    <a:p>
                      <a:pPr algn="ctr"/>
                      <a:r>
                        <a:rPr sz="1100" b="0">
                          <a:solidFill>
                            <a:srgbClr val="111111"/>
                          </a:solidFill>
                          <a:latin typeface="맑은 고딕"/>
                        </a:rPr>
                        <a:t>(Document)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11111"/>
                          </a:solidFill>
                          <a:latin typeface="맑은 고딕"/>
                        </a:rPr>
                        <a:t>액션 이후 표시되는 문구를 나타낼 때 많이 사용한다.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/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11111"/>
                          </a:solidFill>
                          <a:latin typeface="맑은 고딕"/>
                        </a:rPr>
                        <a:t>화살표</a:t>
                      </a:r>
                    </a:p>
                    <a:p>
                      <a:pPr algn="ctr"/>
                      <a:r>
                        <a:rPr sz="1100" b="0">
                          <a:solidFill>
                            <a:srgbClr val="111111"/>
                          </a:solidFill>
                          <a:latin typeface="맑은 고딕"/>
                        </a:rPr>
                        <a:t>(Flow Arrow)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11111"/>
                          </a:solidFill>
                          <a:latin typeface="맑은 고딕"/>
                        </a:rPr>
                        <a:t>각 기호간의 연결관계를 나타낸다.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rminator 4"/>
          <p:cNvSpPr/>
          <p:nvPr/>
        </p:nvSpPr>
        <p:spPr>
          <a:xfrm>
            <a:off x="914400" y="1773936"/>
            <a:ext cx="1554480" cy="512064"/>
          </a:xfrm>
          <a:prstGeom prst="flowChartTerminator">
            <a:avLst/>
          </a:prstGeom>
          <a:solidFill>
            <a:srgbClr val="595959"/>
          </a:solidFill>
          <a:ln w="12700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1000" b="0">
                <a:solidFill>
                  <a:srgbClr val="FFFFFF"/>
                </a:solidFill>
                <a:latin typeface="맑은 고딕"/>
              </a:rPr>
              <a:t>시작/끝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505456"/>
            <a:ext cx="1554480" cy="512064"/>
          </a:xfrm>
          <a:prstGeom prst="rect">
            <a:avLst/>
          </a:prstGeom>
          <a:solidFill>
            <a:srgbClr val="F0F0F0"/>
          </a:solidFill>
          <a:ln w="12700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1000" b="0">
                <a:solidFill>
                  <a:srgbClr val="111111"/>
                </a:solidFill>
                <a:latin typeface="맑은 고딕"/>
              </a:rPr>
              <a:t>프로세스</a:t>
            </a:r>
          </a:p>
        </p:txBody>
      </p:sp>
      <p:sp>
        <p:nvSpPr>
          <p:cNvPr id="7" name="Diamond 6"/>
          <p:cNvSpPr/>
          <p:nvPr/>
        </p:nvSpPr>
        <p:spPr>
          <a:xfrm>
            <a:off x="914400" y="3236976"/>
            <a:ext cx="1554480" cy="512064"/>
          </a:xfrm>
          <a:prstGeom prst="diamond">
            <a:avLst/>
          </a:prstGeom>
          <a:solidFill>
            <a:srgbClr val="F0F0F0"/>
          </a:solidFill>
          <a:ln w="12700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1000" b="0">
                <a:solidFill>
                  <a:srgbClr val="111111"/>
                </a:solidFill>
                <a:latin typeface="맑은 고딕"/>
              </a:rPr>
              <a:t>판단</a:t>
            </a:r>
          </a:p>
        </p:txBody>
      </p:sp>
      <p:sp>
        <p:nvSpPr>
          <p:cNvPr id="8" name="Parallelogram 7"/>
          <p:cNvSpPr/>
          <p:nvPr/>
        </p:nvSpPr>
        <p:spPr>
          <a:xfrm>
            <a:off x="914400" y="3968496"/>
            <a:ext cx="1554480" cy="512064"/>
          </a:xfrm>
          <a:prstGeom prst="parallelogram">
            <a:avLst/>
          </a:prstGeom>
          <a:solidFill>
            <a:srgbClr val="F0F0F0"/>
          </a:solidFill>
          <a:ln w="12700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1000" b="0">
                <a:solidFill>
                  <a:srgbClr val="111111"/>
                </a:solidFill>
                <a:latin typeface="맑은 고딕"/>
              </a:rPr>
              <a:t>입력</a:t>
            </a:r>
          </a:p>
        </p:txBody>
      </p:sp>
      <p:sp>
        <p:nvSpPr>
          <p:cNvPr id="9" name="Document 8"/>
          <p:cNvSpPr/>
          <p:nvPr/>
        </p:nvSpPr>
        <p:spPr>
          <a:xfrm>
            <a:off x="914400" y="4700016"/>
            <a:ext cx="1554480" cy="512064"/>
          </a:xfrm>
          <a:prstGeom prst="flowChartDocument">
            <a:avLst/>
          </a:prstGeom>
          <a:solidFill>
            <a:srgbClr val="F0F0F0"/>
          </a:solidFill>
          <a:ln w="12700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1000" b="0">
                <a:solidFill>
                  <a:srgbClr val="111111"/>
                </a:solidFill>
                <a:latin typeface="맑은 고딕"/>
              </a:rPr>
              <a:t>출력/문서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914400" y="5687568"/>
            <a:ext cx="1554480" cy="0"/>
          </a:xfrm>
          <a:prstGeom prst="line">
            <a:avLst/>
          </a:prstGeom>
          <a:ln w="12700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8961120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>
                <a:solidFill>
                  <a:srgbClr val="111111"/>
                </a:solidFill>
                <a:latin typeface="맑은 고딕"/>
              </a:rPr>
              <a:t>플로우 차트 (병원 찾기 / 증상 안내 / 응급실·약국)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024128"/>
            <a:ext cx="8899855" cy="0"/>
          </a:xfrm>
          <a:prstGeom prst="line">
            <a:avLst/>
          </a:prstGeom>
          <a:ln w="127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rminator 3"/>
          <p:cNvSpPr/>
          <p:nvPr/>
        </p:nvSpPr>
        <p:spPr>
          <a:xfrm>
            <a:off x="7635240" y="1188720"/>
            <a:ext cx="822960" cy="274320"/>
          </a:xfrm>
          <a:prstGeom prst="flowChartTerminator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900" b="0">
                <a:solidFill>
                  <a:srgbClr val="FFFFFF"/>
                </a:solidFill>
                <a:latin typeface="맑은 고딕"/>
              </a:rPr>
              <a:t>시작</a:t>
            </a:r>
          </a:p>
        </p:txBody>
      </p:sp>
      <p:sp>
        <p:nvSpPr>
          <p:cNvPr id="5" name="Terminator 4"/>
          <p:cNvSpPr/>
          <p:nvPr/>
        </p:nvSpPr>
        <p:spPr>
          <a:xfrm>
            <a:off x="8549640" y="1188720"/>
            <a:ext cx="822960" cy="274320"/>
          </a:xfrm>
          <a:prstGeom prst="flowChartTerminator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900" b="0">
                <a:solidFill>
                  <a:srgbClr val="FFFFFF"/>
                </a:solidFill>
                <a:latin typeface="맑은 고딕"/>
              </a:rPr>
              <a:t>종료</a:t>
            </a:r>
          </a:p>
        </p:txBody>
      </p:sp>
      <p:sp>
        <p:nvSpPr>
          <p:cNvPr id="6" name="Terminator 5"/>
          <p:cNvSpPr/>
          <p:nvPr/>
        </p:nvSpPr>
        <p:spPr>
          <a:xfrm>
            <a:off x="3063239" y="1188720"/>
            <a:ext cx="1737360" cy="329184"/>
          </a:xfrm>
          <a:prstGeom prst="flowChartTerminator">
            <a:avLst/>
          </a:prstGeom>
          <a:solidFill>
            <a:srgbClr val="BFBFBF"/>
          </a:solidFill>
          <a:ln w="12700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900" b="0">
                <a:solidFill>
                  <a:srgbClr val="FFFFFF"/>
                </a:solidFill>
                <a:latin typeface="맑은 고딕"/>
              </a:rPr>
              <a:t>메인 화면 접속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931920" y="1517904"/>
            <a:ext cx="0" cy="173736"/>
          </a:xfrm>
          <a:prstGeom prst="line">
            <a:avLst/>
          </a:prstGeom>
          <a:ln w="12700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Parallelogram 7"/>
          <p:cNvSpPr/>
          <p:nvPr/>
        </p:nvSpPr>
        <p:spPr>
          <a:xfrm>
            <a:off x="2971800" y="1691640"/>
            <a:ext cx="1920240" cy="365760"/>
          </a:xfrm>
          <a:prstGeom prst="parallelogram">
            <a:avLst/>
          </a:prstGeom>
          <a:solidFill>
            <a:srgbClr val="F0F0F0"/>
          </a:solidFill>
          <a:ln w="12700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900" b="0">
                <a:solidFill>
                  <a:srgbClr val="111111"/>
                </a:solidFill>
                <a:latin typeface="맑은 고딕"/>
              </a:rPr>
              <a:t>음성 또는 글자로 질문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931920" y="2057400"/>
            <a:ext cx="0" cy="155448"/>
          </a:xfrm>
          <a:prstGeom prst="line">
            <a:avLst/>
          </a:prstGeom>
          <a:ln w="12700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3063239" y="2212848"/>
            <a:ext cx="1737360" cy="347472"/>
          </a:xfrm>
          <a:prstGeom prst="rect">
            <a:avLst/>
          </a:prstGeom>
          <a:solidFill>
            <a:srgbClr val="F0F0F0"/>
          </a:solidFill>
          <a:ln w="12700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850" b="0">
                <a:solidFill>
                  <a:srgbClr val="111111"/>
                </a:solidFill>
                <a:latin typeface="맑은 고딕"/>
              </a:rPr>
              <a:t>조건 추출</a:t>
            </a:r>
          </a:p>
          <a:p>
            <a:pPr algn="ctr"/>
            <a:r>
              <a:rPr sz="850" b="0">
                <a:solidFill>
                  <a:srgbClr val="111111"/>
                </a:solidFill>
                <a:latin typeface="맑은 고딕"/>
              </a:rPr>
              <a:t>(지역·진료과·시간·주차 등)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931920" y="2560320"/>
            <a:ext cx="0" cy="137160"/>
          </a:xfrm>
          <a:prstGeom prst="line">
            <a:avLst/>
          </a:prstGeom>
          <a:ln w="12700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Diamond 11"/>
          <p:cNvSpPr/>
          <p:nvPr/>
        </p:nvSpPr>
        <p:spPr>
          <a:xfrm>
            <a:off x="3063239" y="2697480"/>
            <a:ext cx="1737360" cy="566928"/>
          </a:xfrm>
          <a:prstGeom prst="diamond">
            <a:avLst/>
          </a:prstGeom>
          <a:solidFill>
            <a:srgbClr val="FFFFFF"/>
          </a:solidFill>
          <a:ln w="12700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900" b="0">
                <a:solidFill>
                  <a:srgbClr val="111111"/>
                </a:solidFill>
                <a:latin typeface="맑은 고딕"/>
              </a:rPr>
              <a:t>증상만</a:t>
            </a:r>
          </a:p>
          <a:p>
            <a:pPr algn="ctr"/>
            <a:r>
              <a:rPr sz="900" b="0">
                <a:solidFill>
                  <a:srgbClr val="111111"/>
                </a:solidFill>
                <a:latin typeface="맑은 고딕"/>
              </a:rPr>
              <a:t>말했나?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800600" y="2980944"/>
            <a:ext cx="1600200" cy="0"/>
          </a:xfrm>
          <a:prstGeom prst="line">
            <a:avLst/>
          </a:prstGeom>
          <a:ln w="12700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846320" y="2761488"/>
            <a:ext cx="36576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95959"/>
                </a:solidFill>
                <a:latin typeface="맑은 고딕"/>
              </a:rPr>
              <a:t>예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2807208"/>
            <a:ext cx="1828800" cy="347472"/>
          </a:xfrm>
          <a:prstGeom prst="rect">
            <a:avLst/>
          </a:prstGeom>
          <a:solidFill>
            <a:srgbClr val="F0F0F0"/>
          </a:solidFill>
          <a:ln w="12700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850" b="0">
                <a:solidFill>
                  <a:srgbClr val="111111"/>
                </a:solidFill>
                <a:latin typeface="맑은 고딕"/>
              </a:rPr>
              <a:t>증상 되묻기 → 진료과로 변환</a:t>
            </a:r>
          </a:p>
          <a:p>
            <a:pPr algn="ctr"/>
            <a:r>
              <a:rPr sz="850" b="0">
                <a:solidFill>
                  <a:srgbClr val="111111"/>
                </a:solidFill>
                <a:latin typeface="맑은 고딕"/>
              </a:rPr>
              <a:t>(병명은 만들지 않음)</a:t>
            </a:r>
          </a:p>
        </p:txBody>
      </p:sp>
      <p:cxnSp>
        <p:nvCxnSpPr>
          <p:cNvPr id="16" name="Connector 15"/>
          <p:cNvCxnSpPr/>
          <p:nvPr/>
        </p:nvCxnSpPr>
        <p:spPr>
          <a:xfrm flipV="1">
            <a:off x="7315200" y="2386584"/>
            <a:ext cx="0" cy="420624"/>
          </a:xfrm>
          <a:prstGeom prst="line">
            <a:avLst/>
          </a:prstGeom>
          <a:ln w="12700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4800600" y="2386584"/>
            <a:ext cx="2514600" cy="0"/>
          </a:xfrm>
          <a:prstGeom prst="line">
            <a:avLst/>
          </a:prstGeom>
          <a:ln w="12700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3520440" y="3291840"/>
            <a:ext cx="54864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95959"/>
                </a:solidFill>
                <a:latin typeface="맑은 고딕"/>
              </a:rPr>
              <a:t>아니오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931920" y="3264408"/>
            <a:ext cx="0" cy="164592"/>
          </a:xfrm>
          <a:prstGeom prst="line">
            <a:avLst/>
          </a:prstGeom>
          <a:ln w="12700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Diamond 19"/>
          <p:cNvSpPr/>
          <p:nvPr/>
        </p:nvSpPr>
        <p:spPr>
          <a:xfrm>
            <a:off x="3063239" y="3429000"/>
            <a:ext cx="1737360" cy="566928"/>
          </a:xfrm>
          <a:prstGeom prst="diamond">
            <a:avLst/>
          </a:prstGeom>
          <a:solidFill>
            <a:srgbClr val="FFFFFF"/>
          </a:solidFill>
          <a:ln w="12700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900" b="0">
                <a:solidFill>
                  <a:srgbClr val="111111"/>
                </a:solidFill>
                <a:latin typeface="맑은 고딕"/>
              </a:rPr>
              <a:t>지역이</a:t>
            </a:r>
          </a:p>
          <a:p>
            <a:pPr algn="ctr"/>
            <a:r>
              <a:rPr sz="900" b="0">
                <a:solidFill>
                  <a:srgbClr val="111111"/>
                </a:solidFill>
                <a:latin typeface="맑은 고딕"/>
              </a:rPr>
              <a:t>있나?</a:t>
            </a:r>
          </a:p>
        </p:txBody>
      </p:sp>
      <p:cxnSp>
        <p:nvCxnSpPr>
          <p:cNvPr id="21" name="Connector 20"/>
          <p:cNvCxnSpPr/>
          <p:nvPr/>
        </p:nvCxnSpPr>
        <p:spPr>
          <a:xfrm flipH="1">
            <a:off x="1417320" y="3712463"/>
            <a:ext cx="1645919" cy="0"/>
          </a:xfrm>
          <a:prstGeom prst="line">
            <a:avLst/>
          </a:prstGeom>
          <a:ln w="12700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2240280" y="3493008"/>
            <a:ext cx="54864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95959"/>
                </a:solidFill>
                <a:latin typeface="맑은 고딕"/>
              </a:rPr>
              <a:t>아니오</a:t>
            </a:r>
          </a:p>
        </p:txBody>
      </p:sp>
      <p:sp>
        <p:nvSpPr>
          <p:cNvPr id="23" name="Parallelogram 22"/>
          <p:cNvSpPr/>
          <p:nvPr/>
        </p:nvSpPr>
        <p:spPr>
          <a:xfrm>
            <a:off x="411480" y="3529584"/>
            <a:ext cx="1463040" cy="365760"/>
          </a:xfrm>
          <a:prstGeom prst="parallelogram">
            <a:avLst/>
          </a:prstGeom>
          <a:solidFill>
            <a:srgbClr val="F0F0F0"/>
          </a:solidFill>
          <a:ln w="12700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850" b="0">
                <a:solidFill>
                  <a:srgbClr val="111111"/>
                </a:solidFill>
                <a:latin typeface="맑은 고딕"/>
              </a:rPr>
              <a:t>지역 묻기</a:t>
            </a:r>
          </a:p>
          <a:p>
            <a:pPr algn="ctr"/>
            <a:r>
              <a:rPr sz="850" b="0">
                <a:solidFill>
                  <a:srgbClr val="111111"/>
                </a:solidFill>
                <a:latin typeface="맑은 고딕"/>
              </a:rPr>
              <a:t>(동명 지역 되묻기)</a:t>
            </a:r>
          </a:p>
        </p:txBody>
      </p:sp>
      <p:cxnSp>
        <p:nvCxnSpPr>
          <p:cNvPr id="24" name="Connector 23"/>
          <p:cNvCxnSpPr/>
          <p:nvPr/>
        </p:nvCxnSpPr>
        <p:spPr>
          <a:xfrm flipV="1">
            <a:off x="1143000" y="1920240"/>
            <a:ext cx="0" cy="1609344"/>
          </a:xfrm>
          <a:prstGeom prst="line">
            <a:avLst/>
          </a:prstGeom>
          <a:ln w="12700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1143000" y="1874519"/>
            <a:ext cx="1828800" cy="45721"/>
          </a:xfrm>
          <a:prstGeom prst="line">
            <a:avLst/>
          </a:prstGeom>
          <a:ln w="12700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3977639" y="4005072"/>
            <a:ext cx="36576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95959"/>
                </a:solidFill>
                <a:latin typeface="맑은 고딕"/>
              </a:rPr>
              <a:t>예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3931920" y="3995928"/>
            <a:ext cx="0" cy="164592"/>
          </a:xfrm>
          <a:prstGeom prst="line">
            <a:avLst/>
          </a:prstGeom>
          <a:ln w="12700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Diamond 27"/>
          <p:cNvSpPr/>
          <p:nvPr/>
        </p:nvSpPr>
        <p:spPr>
          <a:xfrm>
            <a:off x="3063239" y="4160520"/>
            <a:ext cx="1737360" cy="566928"/>
          </a:xfrm>
          <a:prstGeom prst="diamond">
            <a:avLst/>
          </a:prstGeom>
          <a:solidFill>
            <a:srgbClr val="FFFFFF"/>
          </a:solidFill>
          <a:ln w="12700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900" b="0">
                <a:solidFill>
                  <a:srgbClr val="111111"/>
                </a:solidFill>
                <a:latin typeface="맑은 고딕"/>
              </a:rPr>
              <a:t>무엇을</a:t>
            </a:r>
          </a:p>
          <a:p>
            <a:pPr algn="ctr"/>
            <a:r>
              <a:rPr sz="900" b="0">
                <a:solidFill>
                  <a:srgbClr val="111111"/>
                </a:solidFill>
                <a:latin typeface="맑은 고딕"/>
              </a:rPr>
              <a:t>찾나?</a:t>
            </a:r>
          </a:p>
        </p:txBody>
      </p:sp>
      <p:cxnSp>
        <p:nvCxnSpPr>
          <p:cNvPr id="29" name="Connector 28"/>
          <p:cNvCxnSpPr/>
          <p:nvPr/>
        </p:nvCxnSpPr>
        <p:spPr>
          <a:xfrm flipH="1">
            <a:off x="1463040" y="4443984"/>
            <a:ext cx="1600199" cy="0"/>
          </a:xfrm>
          <a:prstGeom prst="line">
            <a:avLst/>
          </a:prstGeom>
          <a:ln w="127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463040" y="4443984"/>
            <a:ext cx="0" cy="539496"/>
          </a:xfrm>
          <a:prstGeom prst="line">
            <a:avLst/>
          </a:prstGeom>
          <a:ln w="12700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931920" y="4727448"/>
            <a:ext cx="0" cy="256032"/>
          </a:xfrm>
          <a:prstGeom prst="line">
            <a:avLst/>
          </a:prstGeom>
          <a:ln w="12700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4800600" y="4443984"/>
            <a:ext cx="1600200" cy="0"/>
          </a:xfrm>
          <a:prstGeom prst="line">
            <a:avLst/>
          </a:prstGeom>
          <a:ln w="127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6400800" y="4443984"/>
            <a:ext cx="0" cy="539496"/>
          </a:xfrm>
          <a:prstGeom prst="line">
            <a:avLst/>
          </a:prstGeom>
          <a:ln w="12700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594360" y="4983480"/>
            <a:ext cx="1737360" cy="420624"/>
          </a:xfrm>
          <a:prstGeom prst="rect">
            <a:avLst/>
          </a:prstGeom>
          <a:solidFill>
            <a:srgbClr val="F0F0F0"/>
          </a:solidFill>
          <a:ln w="12700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850" b="0">
                <a:solidFill>
                  <a:srgbClr val="111111"/>
                </a:solidFill>
                <a:latin typeface="맑은 고딕"/>
              </a:rPr>
              <a:t>병원 검색</a:t>
            </a:r>
          </a:p>
          <a:p>
            <a:pPr algn="ctr"/>
            <a:r>
              <a:rPr sz="850" b="0">
                <a:solidFill>
                  <a:srgbClr val="111111"/>
                </a:solidFill>
                <a:latin typeface="맑은 고딕"/>
              </a:rPr>
              <a:t>(심평원 병원·진료시간)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1463040" y="5404104"/>
            <a:ext cx="0" cy="173736"/>
          </a:xfrm>
          <a:prstGeom prst="line">
            <a:avLst/>
          </a:prstGeom>
          <a:ln w="12700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3063239" y="4983480"/>
            <a:ext cx="1737360" cy="420624"/>
          </a:xfrm>
          <a:prstGeom prst="rect">
            <a:avLst/>
          </a:prstGeom>
          <a:solidFill>
            <a:srgbClr val="F0F0F0"/>
          </a:solidFill>
          <a:ln w="12700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850" b="0">
                <a:solidFill>
                  <a:srgbClr val="111111"/>
                </a:solidFill>
                <a:latin typeface="맑은 고딕"/>
              </a:rPr>
              <a:t>응급실 실시간 병상</a:t>
            </a:r>
          </a:p>
          <a:p>
            <a:pPr algn="ctr"/>
            <a:r>
              <a:rPr sz="850" b="0">
                <a:solidFill>
                  <a:srgbClr val="111111"/>
                </a:solidFill>
                <a:latin typeface="맑은 고딕"/>
              </a:rPr>
              <a:t>(국립중앙의료원)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3931920" y="5404104"/>
            <a:ext cx="0" cy="173736"/>
          </a:xfrm>
          <a:prstGeom prst="line">
            <a:avLst/>
          </a:prstGeom>
          <a:ln w="12700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5532120" y="4983480"/>
            <a:ext cx="1737360" cy="420624"/>
          </a:xfrm>
          <a:prstGeom prst="rect">
            <a:avLst/>
          </a:prstGeom>
          <a:solidFill>
            <a:srgbClr val="F0F0F0"/>
          </a:solidFill>
          <a:ln w="12700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850" b="0">
                <a:solidFill>
                  <a:srgbClr val="111111"/>
                </a:solidFill>
                <a:latin typeface="맑은 고딕"/>
              </a:rPr>
              <a:t>문 연 약국 검색</a:t>
            </a:r>
          </a:p>
          <a:p>
            <a:pPr algn="ctr"/>
            <a:r>
              <a:rPr sz="850" b="0">
                <a:solidFill>
                  <a:srgbClr val="111111"/>
                </a:solidFill>
                <a:latin typeface="맑은 고딕"/>
              </a:rPr>
              <a:t>(심평원+응급의료정보)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6400800" y="5404104"/>
            <a:ext cx="0" cy="173736"/>
          </a:xfrm>
          <a:prstGeom prst="line">
            <a:avLst/>
          </a:prstGeom>
          <a:ln w="12700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Document 39"/>
          <p:cNvSpPr/>
          <p:nvPr/>
        </p:nvSpPr>
        <p:spPr>
          <a:xfrm>
            <a:off x="594360" y="5577840"/>
            <a:ext cx="6675120" cy="384048"/>
          </a:xfrm>
          <a:prstGeom prst="flowChartDocument">
            <a:avLst/>
          </a:prstGeom>
          <a:solidFill>
            <a:srgbClr val="FFFFFF"/>
          </a:solidFill>
          <a:ln w="12700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900" b="0">
                <a:solidFill>
                  <a:srgbClr val="111111"/>
                </a:solidFill>
                <a:latin typeface="맑은 고딕"/>
              </a:rPr>
              <a:t>결과 카드 출력 — 추천 이유(거리·진료시간·전문의·평가) 표시, 없는 값은 '미확인'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7269480" y="5760720"/>
            <a:ext cx="365760" cy="0"/>
          </a:xfrm>
          <a:prstGeom prst="line">
            <a:avLst/>
          </a:prstGeom>
          <a:ln w="12700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ectangle 41"/>
          <p:cNvSpPr/>
          <p:nvPr/>
        </p:nvSpPr>
        <p:spPr>
          <a:xfrm>
            <a:off x="7635240" y="5559552"/>
            <a:ext cx="1600200" cy="402336"/>
          </a:xfrm>
          <a:prstGeom prst="rect">
            <a:avLst/>
          </a:prstGeom>
          <a:solidFill>
            <a:srgbClr val="F0F0F0"/>
          </a:solidFill>
          <a:ln w="12700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850" b="0">
                <a:solidFill>
                  <a:srgbClr val="111111"/>
                </a:solidFill>
                <a:latin typeface="맑은 고딕"/>
              </a:rPr>
              <a:t>병원 보기 · 예약 안내</a:t>
            </a:r>
          </a:p>
          <a:p>
            <a:pPr algn="ctr"/>
            <a:r>
              <a:rPr sz="850" b="0">
                <a:solidFill>
                  <a:srgbClr val="111111"/>
                </a:solidFill>
                <a:latin typeface="맑은 고딕"/>
              </a:rPr>
              <a:t>· 길찾기 · 전화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8430768" y="5961888"/>
            <a:ext cx="0" cy="164592"/>
          </a:xfrm>
          <a:prstGeom prst="line">
            <a:avLst/>
          </a:prstGeom>
          <a:ln w="12700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rminator 43"/>
          <p:cNvSpPr/>
          <p:nvPr/>
        </p:nvSpPr>
        <p:spPr>
          <a:xfrm>
            <a:off x="7772400" y="6126480"/>
            <a:ext cx="1325880" cy="310896"/>
          </a:xfrm>
          <a:prstGeom prst="flowChartTerminator">
            <a:avLst/>
          </a:prstGeom>
          <a:solidFill>
            <a:srgbClr val="595959"/>
          </a:solidFill>
          <a:ln w="12700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900" b="0">
                <a:solidFill>
                  <a:srgbClr val="FFFFFF"/>
                </a:solidFill>
                <a:latin typeface="맑은 고딕"/>
              </a:rPr>
              <a:t>안내 종료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377440" cy="6858000"/>
          </a:xfrm>
          <a:prstGeom prst="rect">
            <a:avLst/>
          </a:prstGeom>
          <a:solidFill>
            <a:srgbClr val="008C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411480"/>
            <a:ext cx="192024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FFFFFF"/>
                </a:solidFill>
                <a:latin typeface="맑은 고딕"/>
              </a:rPr>
              <a:t>화면 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95528"/>
            <a:ext cx="1920240" cy="457199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FFFFFF"/>
                </a:solidFill>
                <a:latin typeface="맑은 고딕"/>
              </a:rPr>
              <a:t>MAIN_01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1280160"/>
            <a:ext cx="192024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FFFFFF"/>
                </a:solidFill>
                <a:latin typeface="맑은 고딕"/>
              </a:rPr>
              <a:t>화면이름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664207"/>
            <a:ext cx="1920240" cy="457199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FFFFFF"/>
                </a:solidFill>
                <a:latin typeface="맑은 고딕"/>
              </a:rPr>
              <a:t>메인 화면 (상단)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2148839"/>
            <a:ext cx="192024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FFFFFF"/>
                </a:solidFill>
                <a:latin typeface="맑은 고딕"/>
              </a:rPr>
              <a:t>관련 유스케이스 ID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2532887"/>
            <a:ext cx="1920240" cy="457199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FFFFFF"/>
                </a:solidFill>
                <a:latin typeface="맑은 고딕"/>
              </a:rPr>
              <a:t>GDA-100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3017520"/>
            <a:ext cx="192024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FFFFFF"/>
                </a:solidFill>
                <a:latin typeface="맑은 고딕"/>
              </a:rPr>
              <a:t>화면개요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3401568"/>
            <a:ext cx="1920240" cy="11887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FFFFFF"/>
                </a:solidFill>
                <a:latin typeface="맑은 고딕"/>
              </a:rPr>
              <a:t>서비스에 들어오면 처음 보는 화면. 검색창과 빠른 질문으로 AI 안내를 바로 시작한다.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4617720"/>
            <a:ext cx="192024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FFFFFF"/>
                </a:solidFill>
                <a:latin typeface="맑은 고딕"/>
              </a:rPr>
              <a:t>메뉴경로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5001768"/>
            <a:ext cx="192024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FFFFFF"/>
                </a:solidFill>
                <a:latin typeface="맑은 고딕"/>
              </a:rPr>
              <a:t>첫 화면 (접속)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5532120"/>
            <a:ext cx="192024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FFFFFF"/>
                </a:solidFill>
                <a:latin typeface="맑은 고딕"/>
              </a:rPr>
              <a:t>작성자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5916168"/>
            <a:ext cx="192024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FFFFFF"/>
                </a:solidFill>
                <a:latin typeface="맑은 고딕"/>
              </a:rPr>
              <a:t>이영훈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944846" y="173736"/>
            <a:ext cx="2393442" cy="4507992"/>
          </a:xfrm>
          <a:prstGeom prst="roundRect">
            <a:avLst>
              <a:gd name="adj" fmla="val 6000"/>
            </a:avLst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HOM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7142" y="256032"/>
            <a:ext cx="2228850" cy="4343400"/>
          </a:xfrm>
          <a:prstGeom prst="rect">
            <a:avLst/>
          </a:prstGeom>
        </p:spPr>
      </p:pic>
      <p:sp>
        <p:nvSpPr>
          <p:cNvPr id="17" name="Oval 16"/>
          <p:cNvSpPr/>
          <p:nvPr/>
        </p:nvSpPr>
        <p:spPr>
          <a:xfrm>
            <a:off x="5050002" y="1113282"/>
            <a:ext cx="201168" cy="201168"/>
          </a:xfrm>
          <a:prstGeom prst="ellipse">
            <a:avLst/>
          </a:prstGeom>
          <a:solidFill>
            <a:srgbClr val="E0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8" name="Oval 17"/>
          <p:cNvSpPr/>
          <p:nvPr/>
        </p:nvSpPr>
        <p:spPr>
          <a:xfrm>
            <a:off x="5130012" y="1501902"/>
            <a:ext cx="201168" cy="201168"/>
          </a:xfrm>
          <a:prstGeom prst="ellipse">
            <a:avLst/>
          </a:prstGeom>
          <a:solidFill>
            <a:srgbClr val="E0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9" name="Oval 18"/>
          <p:cNvSpPr/>
          <p:nvPr/>
        </p:nvSpPr>
        <p:spPr>
          <a:xfrm>
            <a:off x="5061432" y="2221991"/>
            <a:ext cx="201168" cy="201168"/>
          </a:xfrm>
          <a:prstGeom prst="ellipse">
            <a:avLst/>
          </a:prstGeom>
          <a:solidFill>
            <a:srgbClr val="E0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20" name="Oval 19"/>
          <p:cNvSpPr/>
          <p:nvPr/>
        </p:nvSpPr>
        <p:spPr>
          <a:xfrm>
            <a:off x="6593052" y="4073652"/>
            <a:ext cx="201168" cy="201168"/>
          </a:xfrm>
          <a:prstGeom prst="ellipse">
            <a:avLst/>
          </a:prstGeom>
          <a:solidFill>
            <a:srgbClr val="E0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21" name="Oval 20"/>
          <p:cNvSpPr/>
          <p:nvPr/>
        </p:nvSpPr>
        <p:spPr>
          <a:xfrm>
            <a:off x="5987262" y="313182"/>
            <a:ext cx="201168" cy="201168"/>
          </a:xfrm>
          <a:prstGeom prst="ellipse">
            <a:avLst/>
          </a:prstGeom>
          <a:solidFill>
            <a:srgbClr val="E0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377440" y="4846320"/>
            <a:ext cx="7528255" cy="201168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651760" y="4901184"/>
            <a:ext cx="7071055" cy="34747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111111"/>
                </a:solidFill>
                <a:latin typeface="맑은 고딕"/>
              </a:rPr>
              <a:t>화면설명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51760" y="5248656"/>
            <a:ext cx="7071055" cy="1554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111111"/>
                </a:solidFill>
                <a:latin typeface="맑은 고딕"/>
              </a:rPr>
              <a:t>- 1번 : 증상·진료과·병원을 입력하는 검색창 (입력하면 AI 병원 안내가 열리며 답함)</a:t>
            </a:r>
          </a:p>
          <a:p>
            <a:pPr algn="l">
              <a:lnSpc>
                <a:spcPct val="105000"/>
              </a:lnSpc>
            </a:pPr>
            <a:r>
              <a:rPr sz="1000" b="0">
                <a:solidFill>
                  <a:srgbClr val="111111"/>
                </a:solidFill>
                <a:latin typeface="맑은 고딕"/>
              </a:rPr>
              <a:t>- 2번 : 빠른 질문 태그 (응급실 병상 · 지금 문 연 병원 · 주말 진료 · 이비인후과 · 감기 증상)</a:t>
            </a:r>
          </a:p>
          <a:p>
            <a:pPr algn="l">
              <a:lnSpc>
                <a:spcPct val="105000"/>
              </a:lnSpc>
            </a:pPr>
            <a:r>
              <a:rPr sz="1000" b="0">
                <a:solidFill>
                  <a:srgbClr val="111111"/>
                </a:solidFill>
                <a:latin typeface="맑은 고딕"/>
              </a:rPr>
              <a:t>- 3번 : 비대면진료 안내 배너 (기존 서비스 영역)</a:t>
            </a:r>
          </a:p>
          <a:p>
            <a:pPr algn="l">
              <a:lnSpc>
                <a:spcPct val="105000"/>
              </a:lnSpc>
            </a:pPr>
            <a:r>
              <a:rPr sz="1000" b="0">
                <a:solidFill>
                  <a:srgbClr val="111111"/>
                </a:solidFill>
                <a:latin typeface="맑은 고딕"/>
              </a:rPr>
              <a:t>- 4번 : AI 병원 안내를 여는 음성 버튼 (모든 화면 오른쪽 아래에 고정)</a:t>
            </a:r>
          </a:p>
          <a:p>
            <a:pPr algn="l">
              <a:lnSpc>
                <a:spcPct val="105000"/>
              </a:lnSpc>
            </a:pPr>
            <a:r>
              <a:rPr sz="1000" b="0">
                <a:solidFill>
                  <a:srgbClr val="111111"/>
                </a:solidFill>
                <a:latin typeface="맑은 고딕"/>
              </a:rPr>
              <a:t>- 5번 : 로그인 (로그인하면 '예약 내역' 메뉴가 생김)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377440" cy="6858000"/>
          </a:xfrm>
          <a:prstGeom prst="rect">
            <a:avLst/>
          </a:prstGeom>
          <a:solidFill>
            <a:srgbClr val="008C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411480"/>
            <a:ext cx="192024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FFFFFF"/>
                </a:solidFill>
                <a:latin typeface="맑은 고딕"/>
              </a:rPr>
              <a:t>화면 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95528"/>
            <a:ext cx="1920240" cy="457199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FFFFFF"/>
                </a:solidFill>
                <a:latin typeface="맑은 고딕"/>
              </a:rPr>
              <a:t>MAIN_02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1280160"/>
            <a:ext cx="192024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FFFFFF"/>
                </a:solidFill>
                <a:latin typeface="맑은 고딕"/>
              </a:rPr>
              <a:t>화면이름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664207"/>
            <a:ext cx="1920240" cy="457199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FFFFFF"/>
                </a:solidFill>
                <a:latin typeface="맑은 고딕"/>
              </a:rPr>
              <a:t>메인 화면 (하단)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2148839"/>
            <a:ext cx="192024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FFFFFF"/>
                </a:solidFill>
                <a:latin typeface="맑은 고딕"/>
              </a:rPr>
              <a:t>관련 유스케이스 ID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2532887"/>
            <a:ext cx="1920240" cy="457199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FFFFFF"/>
                </a:solidFill>
                <a:latin typeface="맑은 고딕"/>
              </a:rPr>
              <a:t>GDA-100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3017520"/>
            <a:ext cx="192024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FFFFFF"/>
                </a:solidFill>
                <a:latin typeface="맑은 고딕"/>
              </a:rPr>
              <a:t>화면개요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3401568"/>
            <a:ext cx="1920240" cy="11887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FFFFFF"/>
                </a:solidFill>
                <a:latin typeface="맑은 고딕"/>
              </a:rPr>
              <a:t>진료과를 눌러 바로 찾거나, 지역을 골라 내 주변 병원을 볼 수 있는 화면.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4617720"/>
            <a:ext cx="192024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FFFFFF"/>
                </a:solidFill>
                <a:latin typeface="맑은 고딕"/>
              </a:rPr>
              <a:t>메뉴경로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5001768"/>
            <a:ext cx="192024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FFFFFF"/>
                </a:solidFill>
                <a:latin typeface="맑은 고딕"/>
              </a:rPr>
              <a:t>첫 화면 / 아래로 이동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5532120"/>
            <a:ext cx="192024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FFFFFF"/>
                </a:solidFill>
                <a:latin typeface="맑은 고딕"/>
              </a:rPr>
              <a:t>작성자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5916168"/>
            <a:ext cx="192024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FFFFFF"/>
                </a:solidFill>
                <a:latin typeface="맑은 고딕"/>
              </a:rPr>
              <a:t>이영훈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944846" y="173736"/>
            <a:ext cx="2393442" cy="4507992"/>
          </a:xfrm>
          <a:prstGeom prst="roundRect">
            <a:avLst>
              <a:gd name="adj" fmla="val 6000"/>
            </a:avLst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HOME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7142" y="256032"/>
            <a:ext cx="2228850" cy="4343400"/>
          </a:xfrm>
          <a:prstGeom prst="rect">
            <a:avLst/>
          </a:prstGeom>
        </p:spPr>
      </p:pic>
      <p:sp>
        <p:nvSpPr>
          <p:cNvPr id="17" name="Oval 16"/>
          <p:cNvSpPr/>
          <p:nvPr/>
        </p:nvSpPr>
        <p:spPr>
          <a:xfrm>
            <a:off x="4969992" y="736092"/>
            <a:ext cx="201168" cy="201168"/>
          </a:xfrm>
          <a:prstGeom prst="ellipse">
            <a:avLst/>
          </a:prstGeom>
          <a:solidFill>
            <a:srgbClr val="E0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8" name="Oval 17"/>
          <p:cNvSpPr/>
          <p:nvPr/>
        </p:nvSpPr>
        <p:spPr>
          <a:xfrm>
            <a:off x="5541492" y="2073402"/>
            <a:ext cx="201168" cy="201168"/>
          </a:xfrm>
          <a:prstGeom prst="ellipse">
            <a:avLst/>
          </a:prstGeom>
          <a:solidFill>
            <a:srgbClr val="E0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9" name="Oval 18"/>
          <p:cNvSpPr/>
          <p:nvPr/>
        </p:nvSpPr>
        <p:spPr>
          <a:xfrm>
            <a:off x="6193002" y="2073402"/>
            <a:ext cx="201168" cy="201168"/>
          </a:xfrm>
          <a:prstGeom prst="ellipse">
            <a:avLst/>
          </a:prstGeom>
          <a:solidFill>
            <a:srgbClr val="E0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20" name="Oval 19"/>
          <p:cNvSpPr/>
          <p:nvPr/>
        </p:nvSpPr>
        <p:spPr>
          <a:xfrm>
            <a:off x="5027142" y="2336291"/>
            <a:ext cx="201168" cy="201168"/>
          </a:xfrm>
          <a:prstGeom prst="ellipse">
            <a:avLst/>
          </a:prstGeom>
          <a:solidFill>
            <a:srgbClr val="E0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21" name="Oval 20"/>
          <p:cNvSpPr/>
          <p:nvPr/>
        </p:nvSpPr>
        <p:spPr>
          <a:xfrm>
            <a:off x="5027142" y="3124962"/>
            <a:ext cx="201168" cy="201168"/>
          </a:xfrm>
          <a:prstGeom prst="ellipse">
            <a:avLst/>
          </a:prstGeom>
          <a:solidFill>
            <a:srgbClr val="E0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22" name="Oval 21"/>
          <p:cNvSpPr/>
          <p:nvPr/>
        </p:nvSpPr>
        <p:spPr>
          <a:xfrm>
            <a:off x="6593052" y="4073652"/>
            <a:ext cx="201168" cy="201168"/>
          </a:xfrm>
          <a:prstGeom prst="ellipse">
            <a:avLst/>
          </a:prstGeom>
          <a:solidFill>
            <a:srgbClr val="E0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6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377440" y="4846320"/>
            <a:ext cx="7528255" cy="201168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651760" y="4901184"/>
            <a:ext cx="7071055" cy="34747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111111"/>
                </a:solidFill>
                <a:latin typeface="맑은 고딕"/>
              </a:rPr>
              <a:t>화면설명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51760" y="5248656"/>
            <a:ext cx="7071055" cy="1554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111111"/>
                </a:solidFill>
                <a:latin typeface="맑은 고딕"/>
              </a:rPr>
              <a:t>- 1번 : 진료과 바로가기 (내과·이비인후과·정형외과·피부과·소아청소년과·치과·안과·산부인과)</a:t>
            </a:r>
          </a:p>
          <a:p>
            <a:pPr algn="l">
              <a:lnSpc>
                <a:spcPct val="105000"/>
              </a:lnSpc>
            </a:pPr>
            <a:r>
              <a:rPr sz="1000" b="0">
                <a:solidFill>
                  <a:srgbClr val="111111"/>
                </a:solidFill>
                <a:latin typeface="맑은 고딕"/>
              </a:rPr>
              <a:t>- 2번 : 지역 선택 (시·구 단위)</a:t>
            </a:r>
          </a:p>
          <a:p>
            <a:pPr algn="l">
              <a:lnSpc>
                <a:spcPct val="105000"/>
              </a:lnSpc>
            </a:pPr>
            <a:r>
              <a:rPr sz="1000" b="0">
                <a:solidFill>
                  <a:srgbClr val="111111"/>
                </a:solidFill>
                <a:latin typeface="맑은 고딕"/>
              </a:rPr>
              <a:t>- 3번 : 내 위치로 — 휴대폰 위치로 가까운 병원을 다시 찾음</a:t>
            </a:r>
          </a:p>
          <a:p>
            <a:pPr algn="l">
              <a:lnSpc>
                <a:spcPct val="105000"/>
              </a:lnSpc>
            </a:pPr>
            <a:r>
              <a:rPr sz="1000" b="0">
                <a:solidFill>
                  <a:srgbClr val="111111"/>
                </a:solidFill>
                <a:latin typeface="맑은 고딕"/>
              </a:rPr>
              <a:t>- 4번 : 내 주변 병원 카드 (진료중 여부 · 오늘 진료시간 · 거리 · 전문의 수 · 평가등급)</a:t>
            </a:r>
          </a:p>
          <a:p>
            <a:pPr algn="l">
              <a:lnSpc>
                <a:spcPct val="105000"/>
              </a:lnSpc>
            </a:pPr>
            <a:r>
              <a:rPr sz="1000" b="0">
                <a:solidFill>
                  <a:srgbClr val="111111"/>
                </a:solidFill>
                <a:latin typeface="맑은 고딕"/>
              </a:rPr>
              <a:t>- 5번 : 병원 보기 / 예약하기 버튼</a:t>
            </a:r>
          </a:p>
          <a:p>
            <a:pPr algn="l">
              <a:lnSpc>
                <a:spcPct val="105000"/>
              </a:lnSpc>
            </a:pPr>
            <a:r>
              <a:rPr sz="1000" b="0">
                <a:solidFill>
                  <a:srgbClr val="111111"/>
                </a:solidFill>
                <a:latin typeface="맑은 고딕"/>
              </a:rPr>
              <a:t>- 6번 : AI 병원 안내 음성 버튼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377440" cy="6858000"/>
          </a:xfrm>
          <a:prstGeom prst="rect">
            <a:avLst/>
          </a:prstGeom>
          <a:solidFill>
            <a:srgbClr val="008C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411480"/>
            <a:ext cx="192024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FFFFFF"/>
                </a:solidFill>
                <a:latin typeface="맑은 고딕"/>
              </a:rPr>
              <a:t>화면 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95528"/>
            <a:ext cx="1920240" cy="457199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FFFFFF"/>
                </a:solidFill>
                <a:latin typeface="맑은 고딕"/>
              </a:rPr>
              <a:t>ASSIST_01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1280160"/>
            <a:ext cx="192024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FFFFFF"/>
                </a:solidFill>
                <a:latin typeface="맑은 고딕"/>
              </a:rPr>
              <a:t>화면이름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664207"/>
            <a:ext cx="1920240" cy="457199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FFFFFF"/>
                </a:solidFill>
                <a:latin typeface="맑은 고딕"/>
              </a:rPr>
              <a:t>AI 병원 안내 (첫 화면)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2148839"/>
            <a:ext cx="192024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FFFFFF"/>
                </a:solidFill>
                <a:latin typeface="맑은 고딕"/>
              </a:rPr>
              <a:t>관련 유스케이스 ID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2532887"/>
            <a:ext cx="1920240" cy="457199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FFFFFF"/>
                </a:solidFill>
                <a:latin typeface="맑은 고딕"/>
              </a:rPr>
              <a:t>GDA-200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3017520"/>
            <a:ext cx="192024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FFFFFF"/>
                </a:solidFill>
                <a:latin typeface="맑은 고딕"/>
              </a:rPr>
              <a:t>화면개요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3401568"/>
            <a:ext cx="1920240" cy="11887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FFFFFF"/>
                </a:solidFill>
                <a:latin typeface="맑은 고딕"/>
              </a:rPr>
              <a:t>AI 병원 안내 창을 연 첫 화면. 말이나 글로 질문하면 조건을 뽑아 병원을 찾아준다.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4617720"/>
            <a:ext cx="192024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FFFFFF"/>
                </a:solidFill>
                <a:latin typeface="맑은 고딕"/>
              </a:rPr>
              <a:t>메뉴경로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5001768"/>
            <a:ext cx="192024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FFFFFF"/>
                </a:solidFill>
                <a:latin typeface="맑은 고딕"/>
              </a:rPr>
              <a:t>음성 버튼 클릭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5532120"/>
            <a:ext cx="192024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FFFFFF"/>
                </a:solidFill>
                <a:latin typeface="맑은 고딕"/>
              </a:rPr>
              <a:t>작성자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5916168"/>
            <a:ext cx="192024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FFFFFF"/>
                </a:solidFill>
                <a:latin typeface="맑은 고딕"/>
              </a:rPr>
              <a:t>이영훈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944846" y="173736"/>
            <a:ext cx="2393442" cy="4507992"/>
          </a:xfrm>
          <a:prstGeom prst="roundRect">
            <a:avLst>
              <a:gd name="adj" fmla="val 6000"/>
            </a:avLst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ASSIST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7142" y="256032"/>
            <a:ext cx="2228850" cy="4343400"/>
          </a:xfrm>
          <a:prstGeom prst="rect">
            <a:avLst/>
          </a:prstGeom>
        </p:spPr>
      </p:pic>
      <p:sp>
        <p:nvSpPr>
          <p:cNvPr id="17" name="Oval 16"/>
          <p:cNvSpPr/>
          <p:nvPr/>
        </p:nvSpPr>
        <p:spPr>
          <a:xfrm>
            <a:off x="6558762" y="290322"/>
            <a:ext cx="201168" cy="201168"/>
          </a:xfrm>
          <a:prstGeom prst="ellipse">
            <a:avLst/>
          </a:prstGeom>
          <a:solidFill>
            <a:srgbClr val="E0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8" name="Oval 17"/>
          <p:cNvSpPr/>
          <p:nvPr/>
        </p:nvSpPr>
        <p:spPr>
          <a:xfrm>
            <a:off x="4947132" y="736092"/>
            <a:ext cx="201168" cy="201168"/>
          </a:xfrm>
          <a:prstGeom prst="ellipse">
            <a:avLst/>
          </a:prstGeom>
          <a:solidFill>
            <a:srgbClr val="E0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9" name="Oval 18"/>
          <p:cNvSpPr/>
          <p:nvPr/>
        </p:nvSpPr>
        <p:spPr>
          <a:xfrm>
            <a:off x="4947132" y="1844802"/>
            <a:ext cx="201168" cy="201168"/>
          </a:xfrm>
          <a:prstGeom prst="ellipse">
            <a:avLst/>
          </a:prstGeom>
          <a:solidFill>
            <a:srgbClr val="E0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20" name="Oval 19"/>
          <p:cNvSpPr/>
          <p:nvPr/>
        </p:nvSpPr>
        <p:spPr>
          <a:xfrm>
            <a:off x="4947132" y="3867912"/>
            <a:ext cx="201168" cy="201168"/>
          </a:xfrm>
          <a:prstGeom prst="ellipse">
            <a:avLst/>
          </a:prstGeom>
          <a:solidFill>
            <a:srgbClr val="E0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21" name="Oval 20"/>
          <p:cNvSpPr/>
          <p:nvPr/>
        </p:nvSpPr>
        <p:spPr>
          <a:xfrm>
            <a:off x="4947132" y="4199382"/>
            <a:ext cx="201168" cy="201168"/>
          </a:xfrm>
          <a:prstGeom prst="ellipse">
            <a:avLst/>
          </a:prstGeom>
          <a:solidFill>
            <a:srgbClr val="E0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22" name="Oval 21"/>
          <p:cNvSpPr/>
          <p:nvPr/>
        </p:nvSpPr>
        <p:spPr>
          <a:xfrm>
            <a:off x="5712942" y="4096512"/>
            <a:ext cx="201168" cy="201168"/>
          </a:xfrm>
          <a:prstGeom prst="ellipse">
            <a:avLst/>
          </a:prstGeom>
          <a:solidFill>
            <a:srgbClr val="E0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6</a:t>
            </a:r>
          </a:p>
        </p:txBody>
      </p:sp>
      <p:sp>
        <p:nvSpPr>
          <p:cNvPr id="23" name="Oval 22"/>
          <p:cNvSpPr/>
          <p:nvPr/>
        </p:nvSpPr>
        <p:spPr>
          <a:xfrm>
            <a:off x="6810222" y="4199382"/>
            <a:ext cx="201168" cy="201168"/>
          </a:xfrm>
          <a:prstGeom prst="ellipse">
            <a:avLst/>
          </a:prstGeom>
          <a:solidFill>
            <a:srgbClr val="E0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7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377440" y="4846320"/>
            <a:ext cx="7528255" cy="201168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651760" y="4901184"/>
            <a:ext cx="7071055" cy="34747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111111"/>
                </a:solidFill>
                <a:latin typeface="맑은 고딕"/>
              </a:rPr>
              <a:t>화면설명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51760" y="5248656"/>
            <a:ext cx="7071055" cy="1554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111111"/>
                </a:solidFill>
                <a:latin typeface="맑은 고딕"/>
              </a:rPr>
              <a:t>- 1번 : 목소리 안내 켜기/끄기 (답을 소리로 읽어줌)</a:t>
            </a:r>
          </a:p>
          <a:p>
            <a:pPr algn="l">
              <a:lnSpc>
                <a:spcPct val="105000"/>
              </a:lnSpc>
            </a:pPr>
            <a:r>
              <a:rPr sz="1000" b="0">
                <a:solidFill>
                  <a:srgbClr val="111111"/>
                </a:solidFill>
                <a:latin typeface="맑은 고딕"/>
              </a:rPr>
              <a:t>- 2번 : 첫 인사 · 사용 방법 안내</a:t>
            </a:r>
          </a:p>
          <a:p>
            <a:pPr algn="l">
              <a:lnSpc>
                <a:spcPct val="105000"/>
              </a:lnSpc>
            </a:pPr>
            <a:r>
              <a:rPr sz="1000" b="0">
                <a:solidFill>
                  <a:srgbClr val="111111"/>
                </a:solidFill>
                <a:latin typeface="맑은 고딕"/>
              </a:rPr>
              <a:t>- 3번 : 예시 질문 버튼 (누르면 그 문장으로 바로 질문)</a:t>
            </a:r>
          </a:p>
          <a:p>
            <a:pPr algn="l">
              <a:lnSpc>
                <a:spcPct val="105000"/>
              </a:lnSpc>
            </a:pPr>
            <a:r>
              <a:rPr sz="1000" b="0">
                <a:solidFill>
                  <a:srgbClr val="111111"/>
                </a:solidFill>
                <a:latin typeface="맑은 고딕"/>
              </a:rPr>
              <a:t>- 4번 : 고정 안내문 — '진단을 제공하지 않으며, 병원 선택을 돕는 정보 제공 서비스입니다'</a:t>
            </a:r>
          </a:p>
          <a:p>
            <a:pPr algn="l">
              <a:lnSpc>
                <a:spcPct val="105000"/>
              </a:lnSpc>
            </a:pPr>
            <a:r>
              <a:rPr sz="1000" b="0">
                <a:solidFill>
                  <a:srgbClr val="111111"/>
                </a:solidFill>
                <a:latin typeface="맑은 고딕"/>
              </a:rPr>
              <a:t>- 5번 : 마이크 버튼 (음성으로 질문)</a:t>
            </a:r>
          </a:p>
          <a:p>
            <a:pPr algn="l">
              <a:lnSpc>
                <a:spcPct val="105000"/>
              </a:lnSpc>
            </a:pPr>
            <a:r>
              <a:rPr sz="1000" b="0">
                <a:solidFill>
                  <a:srgbClr val="111111"/>
                </a:solidFill>
                <a:latin typeface="맑은 고딕"/>
              </a:rPr>
              <a:t>- 6번 : 글자 입력칸 · 7번 : 보내기 버튼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377440" cy="6858000"/>
          </a:xfrm>
          <a:prstGeom prst="rect">
            <a:avLst/>
          </a:prstGeom>
          <a:solidFill>
            <a:srgbClr val="008C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411480"/>
            <a:ext cx="192024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FFFFFF"/>
                </a:solidFill>
                <a:latin typeface="맑은 고딕"/>
              </a:rPr>
              <a:t>화면 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95528"/>
            <a:ext cx="1920240" cy="457199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FFFFFF"/>
                </a:solidFill>
                <a:latin typeface="맑은 고딕"/>
              </a:rPr>
              <a:t>VOICE_01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1280160"/>
            <a:ext cx="192024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FFFFFF"/>
                </a:solidFill>
                <a:latin typeface="맑은 고딕"/>
              </a:rPr>
              <a:t>화면이름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664207"/>
            <a:ext cx="1920240" cy="457199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FFFFFF"/>
                </a:solidFill>
                <a:latin typeface="맑은 고딕"/>
              </a:rPr>
              <a:t>음성 입력 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2148839"/>
            <a:ext cx="192024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FFFFFF"/>
                </a:solidFill>
                <a:latin typeface="맑은 고딕"/>
              </a:rPr>
              <a:t>관련 유스케이스 ID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2532887"/>
            <a:ext cx="1920240" cy="457199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FFFFFF"/>
                </a:solidFill>
                <a:latin typeface="맑은 고딕"/>
              </a:rPr>
              <a:t>GDA-210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3017520"/>
            <a:ext cx="192024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FFFFFF"/>
                </a:solidFill>
                <a:latin typeface="맑은 고딕"/>
              </a:rPr>
              <a:t>화면개요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3401568"/>
            <a:ext cx="1920240" cy="11887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FFFFFF"/>
                </a:solidFill>
                <a:latin typeface="맑은 고딕"/>
              </a:rPr>
              <a:t>말하는 동안 알아들은 글자를 실시간으로 보여주는 화면. 말을 멈추면 자동으로 질문한다.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4617720"/>
            <a:ext cx="192024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FFFFFF"/>
                </a:solidFill>
                <a:latin typeface="맑은 고딕"/>
              </a:rPr>
              <a:t>메뉴경로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5001768"/>
            <a:ext cx="192024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FFFFFF"/>
                </a:solidFill>
                <a:latin typeface="맑은 고딕"/>
              </a:rPr>
              <a:t>AI 병원 안내 / 마이크 버튼 클릭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5532120"/>
            <a:ext cx="192024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FFFFFF"/>
                </a:solidFill>
                <a:latin typeface="맑은 고딕"/>
              </a:rPr>
              <a:t>작성자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5916168"/>
            <a:ext cx="192024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FFFFFF"/>
                </a:solidFill>
                <a:latin typeface="맑은 고딕"/>
              </a:rPr>
              <a:t>이영훈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944846" y="173736"/>
            <a:ext cx="2393442" cy="4507992"/>
          </a:xfrm>
          <a:prstGeom prst="roundRect">
            <a:avLst>
              <a:gd name="adj" fmla="val 6000"/>
            </a:avLst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VOIC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7142" y="256032"/>
            <a:ext cx="2228850" cy="4343400"/>
          </a:xfrm>
          <a:prstGeom prst="rect">
            <a:avLst/>
          </a:prstGeom>
        </p:spPr>
      </p:pic>
      <p:sp>
        <p:nvSpPr>
          <p:cNvPr id="17" name="Oval 16"/>
          <p:cNvSpPr/>
          <p:nvPr/>
        </p:nvSpPr>
        <p:spPr>
          <a:xfrm>
            <a:off x="4935702" y="3902202"/>
            <a:ext cx="201168" cy="201168"/>
          </a:xfrm>
          <a:prstGeom prst="ellipse">
            <a:avLst/>
          </a:prstGeom>
          <a:solidFill>
            <a:srgbClr val="E0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8" name="Oval 17"/>
          <p:cNvSpPr/>
          <p:nvPr/>
        </p:nvSpPr>
        <p:spPr>
          <a:xfrm>
            <a:off x="6615912" y="3902202"/>
            <a:ext cx="201168" cy="201168"/>
          </a:xfrm>
          <a:prstGeom prst="ellipse">
            <a:avLst/>
          </a:prstGeom>
          <a:solidFill>
            <a:srgbClr val="E0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9" name="Oval 18"/>
          <p:cNvSpPr/>
          <p:nvPr/>
        </p:nvSpPr>
        <p:spPr>
          <a:xfrm>
            <a:off x="6455892" y="4256532"/>
            <a:ext cx="201168" cy="201168"/>
          </a:xfrm>
          <a:prstGeom prst="ellipse">
            <a:avLst/>
          </a:prstGeom>
          <a:solidFill>
            <a:srgbClr val="E0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20" name="Oval 19"/>
          <p:cNvSpPr/>
          <p:nvPr/>
        </p:nvSpPr>
        <p:spPr>
          <a:xfrm>
            <a:off x="4947132" y="4210812"/>
            <a:ext cx="201168" cy="201168"/>
          </a:xfrm>
          <a:prstGeom prst="ellipse">
            <a:avLst/>
          </a:prstGeom>
          <a:solidFill>
            <a:srgbClr val="E0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377440" y="4846320"/>
            <a:ext cx="7528255" cy="201168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651760" y="4901184"/>
            <a:ext cx="7071055" cy="34747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111111"/>
                </a:solidFill>
                <a:latin typeface="맑은 고딕"/>
              </a:rPr>
              <a:t>화면설명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51760" y="5248656"/>
            <a:ext cx="7071055" cy="1554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111111"/>
                </a:solidFill>
                <a:latin typeface="맑은 고딕"/>
              </a:rPr>
              <a:t>- 1번 : 듣는 중 표시 + 알아들은 말 실시간 표시 (예: “광주 남구 이비인후과”)</a:t>
            </a:r>
          </a:p>
          <a:p>
            <a:pPr algn="l">
              <a:lnSpc>
                <a:spcPct val="105000"/>
              </a:lnSpc>
            </a:pPr>
            <a:r>
              <a:rPr sz="1000" b="0">
                <a:solidFill>
                  <a:srgbClr val="111111"/>
                </a:solidFill>
                <a:latin typeface="맑은 고딕"/>
              </a:rPr>
              <a:t>- 2번 : 그만 듣기 버튼</a:t>
            </a:r>
          </a:p>
          <a:p>
            <a:pPr algn="l">
              <a:lnSpc>
                <a:spcPct val="105000"/>
              </a:lnSpc>
            </a:pPr>
            <a:r>
              <a:rPr sz="1000" b="0">
                <a:solidFill>
                  <a:srgbClr val="111111"/>
                </a:solidFill>
                <a:latin typeface="맑은 고딕"/>
              </a:rPr>
              <a:t>- 3번 : 알아들은 말이 입력칸에도 들어가 눈으로 확인 가능</a:t>
            </a:r>
          </a:p>
          <a:p>
            <a:pPr algn="l">
              <a:lnSpc>
                <a:spcPct val="105000"/>
              </a:lnSpc>
            </a:pPr>
            <a:r>
              <a:rPr sz="1000" b="0">
                <a:solidFill>
                  <a:srgbClr val="111111"/>
                </a:solidFill>
                <a:latin typeface="맑은 고딕"/>
              </a:rPr>
              <a:t>- 4번 : 마이크 버튼 (다시 누르면 멈춤)</a:t>
            </a:r>
          </a:p>
          <a:p>
            <a:pPr algn="l">
              <a:lnSpc>
                <a:spcPct val="105000"/>
              </a:lnSpc>
            </a:pPr>
            <a:r>
              <a:rPr sz="1000" b="0">
                <a:solidFill>
                  <a:srgbClr val="111111"/>
                </a:solidFill>
                <a:latin typeface="맑은 고딕"/>
              </a:rPr>
              <a:t>※ 브라우저 내장 음성인식 사용 — 추가 서버·비용 없음. 마이크가 없거나 막혀 있으면 그 사실을 안내</a:t>
            </a:r>
          </a:p>
          <a:p>
            <a:pPr algn="l">
              <a:lnSpc>
                <a:spcPct val="105000"/>
              </a:lnSpc>
            </a:pPr>
            <a:r>
              <a:rPr sz="1000" b="0">
                <a:solidFill>
                  <a:srgbClr val="111111"/>
                </a:solidFill>
                <a:latin typeface="맑은 고딕"/>
              </a:rPr>
              <a:t>※ 이 화면은 마이크 권한 창을 피하려고 음성 인식 중 표시 상태를 켜서 찍은 것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377440" cy="6858000"/>
          </a:xfrm>
          <a:prstGeom prst="rect">
            <a:avLst/>
          </a:prstGeom>
          <a:solidFill>
            <a:srgbClr val="008C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411480"/>
            <a:ext cx="192024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FFFFFF"/>
                </a:solidFill>
                <a:latin typeface="맑은 고딕"/>
              </a:rPr>
              <a:t>화면 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95528"/>
            <a:ext cx="1920240" cy="457199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FFFFFF"/>
                </a:solidFill>
                <a:latin typeface="맑은 고딕"/>
              </a:rPr>
              <a:t>RESULT_01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1280160"/>
            <a:ext cx="192024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FFFFFF"/>
                </a:solidFill>
                <a:latin typeface="맑은 고딕"/>
              </a:rPr>
              <a:t>화면이름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664207"/>
            <a:ext cx="1920240" cy="457199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FFFFFF"/>
                </a:solidFill>
                <a:latin typeface="맑은 고딕"/>
              </a:rPr>
              <a:t>병원 추천 결과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2148839"/>
            <a:ext cx="192024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FFFFFF"/>
                </a:solidFill>
                <a:latin typeface="맑은 고딕"/>
              </a:rPr>
              <a:t>관련 유스케이스 ID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2532887"/>
            <a:ext cx="1920240" cy="457199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FFFFFF"/>
                </a:solidFill>
                <a:latin typeface="맑은 고딕"/>
              </a:rPr>
              <a:t>GDA-300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3017520"/>
            <a:ext cx="192024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FFFFFF"/>
                </a:solidFill>
                <a:latin typeface="맑은 고딕"/>
              </a:rPr>
              <a:t>화면개요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3401568"/>
            <a:ext cx="1920240" cy="11887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FFFFFF"/>
                </a:solidFill>
                <a:latin typeface="맑은 고딕"/>
              </a:rPr>
              <a:t>말한 조건(지역·진료과)으로 공공데이터를 걸러 3곳을 추천하고, 추천 근거를 함께 보여주는 화면.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4617720"/>
            <a:ext cx="192024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FFFFFF"/>
                </a:solidFill>
                <a:latin typeface="맑은 고딕"/>
              </a:rPr>
              <a:t>메뉴경로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5001768"/>
            <a:ext cx="192024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FFFFFF"/>
                </a:solidFill>
                <a:latin typeface="맑은 고딕"/>
              </a:rPr>
              <a:t>AI 병원 안내 / 질문 입력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5532120"/>
            <a:ext cx="192024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FFFFFF"/>
                </a:solidFill>
                <a:latin typeface="맑은 고딕"/>
              </a:rPr>
              <a:t>작성자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5916168"/>
            <a:ext cx="192024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FFFFFF"/>
                </a:solidFill>
                <a:latin typeface="맑은 고딕"/>
              </a:rPr>
              <a:t>이영훈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944846" y="173736"/>
            <a:ext cx="2393442" cy="4507992"/>
          </a:xfrm>
          <a:prstGeom prst="roundRect">
            <a:avLst>
              <a:gd name="adj" fmla="val 6000"/>
            </a:avLst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RESULT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7142" y="256032"/>
            <a:ext cx="2228850" cy="4343400"/>
          </a:xfrm>
          <a:prstGeom prst="rect">
            <a:avLst/>
          </a:prstGeom>
        </p:spPr>
      </p:pic>
      <p:sp>
        <p:nvSpPr>
          <p:cNvPr id="17" name="Oval 16"/>
          <p:cNvSpPr/>
          <p:nvPr/>
        </p:nvSpPr>
        <p:spPr>
          <a:xfrm>
            <a:off x="6044412" y="678942"/>
            <a:ext cx="201168" cy="201168"/>
          </a:xfrm>
          <a:prstGeom prst="ellipse">
            <a:avLst/>
          </a:prstGeom>
          <a:solidFill>
            <a:srgbClr val="E0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8" name="Oval 17"/>
          <p:cNvSpPr/>
          <p:nvPr/>
        </p:nvSpPr>
        <p:spPr>
          <a:xfrm>
            <a:off x="4947132" y="1021842"/>
            <a:ext cx="201168" cy="201168"/>
          </a:xfrm>
          <a:prstGeom prst="ellipse">
            <a:avLst/>
          </a:prstGeom>
          <a:solidFill>
            <a:srgbClr val="E0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9" name="Oval 18"/>
          <p:cNvSpPr/>
          <p:nvPr/>
        </p:nvSpPr>
        <p:spPr>
          <a:xfrm>
            <a:off x="4947132" y="1319022"/>
            <a:ext cx="201168" cy="201168"/>
          </a:xfrm>
          <a:prstGeom prst="ellipse">
            <a:avLst/>
          </a:prstGeom>
          <a:solidFill>
            <a:srgbClr val="E0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20" name="Oval 19"/>
          <p:cNvSpPr/>
          <p:nvPr/>
        </p:nvSpPr>
        <p:spPr>
          <a:xfrm>
            <a:off x="4992852" y="1559052"/>
            <a:ext cx="201168" cy="201168"/>
          </a:xfrm>
          <a:prstGeom prst="ellipse">
            <a:avLst/>
          </a:prstGeom>
          <a:solidFill>
            <a:srgbClr val="E0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21" name="Oval 20"/>
          <p:cNvSpPr/>
          <p:nvPr/>
        </p:nvSpPr>
        <p:spPr>
          <a:xfrm>
            <a:off x="4992852" y="2359152"/>
            <a:ext cx="201168" cy="201168"/>
          </a:xfrm>
          <a:prstGeom prst="ellipse">
            <a:avLst/>
          </a:prstGeom>
          <a:solidFill>
            <a:srgbClr val="E0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22" name="Oval 21"/>
          <p:cNvSpPr/>
          <p:nvPr/>
        </p:nvSpPr>
        <p:spPr>
          <a:xfrm>
            <a:off x="4992852" y="2770632"/>
            <a:ext cx="201168" cy="201168"/>
          </a:xfrm>
          <a:prstGeom prst="ellipse">
            <a:avLst/>
          </a:prstGeom>
          <a:solidFill>
            <a:srgbClr val="E0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6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377440" y="4846320"/>
            <a:ext cx="7528255" cy="201168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651760" y="4901184"/>
            <a:ext cx="7071055" cy="34747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111111"/>
                </a:solidFill>
                <a:latin typeface="맑은 고딕"/>
              </a:rPr>
              <a:t>화면설명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51760" y="5248656"/>
            <a:ext cx="7071055" cy="1554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111111"/>
                </a:solidFill>
                <a:latin typeface="맑은 고딕"/>
              </a:rPr>
              <a:t>- 1번 : 사용자가 말한 질문</a:t>
            </a:r>
          </a:p>
          <a:p>
            <a:pPr algn="l">
              <a:lnSpc>
                <a:spcPct val="105000"/>
              </a:lnSpc>
            </a:pPr>
            <a:r>
              <a:rPr sz="1000" b="0">
                <a:solidFill>
                  <a:srgbClr val="111111"/>
                </a:solidFill>
                <a:latin typeface="맑은 고딕"/>
              </a:rPr>
              <a:t>- 2번 : 찾은 결과 요약 (예: 광주남구 이비인후과 3곳)</a:t>
            </a:r>
          </a:p>
          <a:p>
            <a:pPr algn="l">
              <a:lnSpc>
                <a:spcPct val="105000"/>
              </a:lnSpc>
            </a:pPr>
            <a:r>
              <a:rPr sz="1000" b="0">
                <a:solidFill>
                  <a:srgbClr val="111111"/>
                </a:solidFill>
                <a:latin typeface="맑은 고딕"/>
              </a:rPr>
              <a:t>- 3번 : 거리를 잰 기준 위치 안내</a:t>
            </a:r>
          </a:p>
          <a:p>
            <a:pPr algn="l">
              <a:lnSpc>
                <a:spcPct val="105000"/>
              </a:lnSpc>
            </a:pPr>
            <a:r>
              <a:rPr sz="1000" b="0">
                <a:solidFill>
                  <a:srgbClr val="111111"/>
                </a:solidFill>
                <a:latin typeface="맑은 고딕"/>
              </a:rPr>
              <a:t>- 4번 : 추천 근거 — 진료중 여부 · 오늘 진료시간 · 거리 · 진료과 · 전문의 수 · 평가등급 · 주소</a:t>
            </a:r>
          </a:p>
          <a:p>
            <a:pPr algn="l">
              <a:lnSpc>
                <a:spcPct val="105000"/>
              </a:lnSpc>
            </a:pPr>
            <a:r>
              <a:rPr sz="1000" b="0">
                <a:solidFill>
                  <a:srgbClr val="111111"/>
                </a:solidFill>
                <a:latin typeface="맑은 고딕"/>
              </a:rPr>
              <a:t>- 5번 : 병원 보기 / 예약하기 버튼</a:t>
            </a:r>
          </a:p>
          <a:p>
            <a:pPr algn="l">
              <a:lnSpc>
                <a:spcPct val="105000"/>
              </a:lnSpc>
            </a:pPr>
            <a:r>
              <a:rPr sz="1000" b="0">
                <a:solidFill>
                  <a:srgbClr val="111111"/>
                </a:solidFill>
                <a:latin typeface="맑은 고딕"/>
              </a:rPr>
              <a:t>- 6번 : 길찾기 (내 위치 쓰기 · 대중교통 · 자동차 · 도보 · 카카오맵)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377440" cy="6858000"/>
          </a:xfrm>
          <a:prstGeom prst="rect">
            <a:avLst/>
          </a:prstGeom>
          <a:solidFill>
            <a:srgbClr val="008C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411480"/>
            <a:ext cx="192024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FFFFFF"/>
                </a:solidFill>
                <a:latin typeface="맑은 고딕"/>
              </a:rPr>
              <a:t>화면 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95528"/>
            <a:ext cx="1920240" cy="457199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FFFFFF"/>
                </a:solidFill>
                <a:latin typeface="맑은 고딕"/>
              </a:rPr>
              <a:t>DETAIL_01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1280160"/>
            <a:ext cx="192024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FFFFFF"/>
                </a:solidFill>
                <a:latin typeface="맑은 고딕"/>
              </a:rPr>
              <a:t>화면이름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664207"/>
            <a:ext cx="1920240" cy="457199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FFFFFF"/>
                </a:solidFill>
                <a:latin typeface="맑은 고딕"/>
              </a:rPr>
              <a:t>병원 상세 정보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2148839"/>
            <a:ext cx="192024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FFFFFF"/>
                </a:solidFill>
                <a:latin typeface="맑은 고딕"/>
              </a:rPr>
              <a:t>관련 유스케이스 ID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2532887"/>
            <a:ext cx="1920240" cy="457199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FFFFFF"/>
                </a:solidFill>
                <a:latin typeface="맑은 고딕"/>
              </a:rPr>
              <a:t>GDA-310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3017520"/>
            <a:ext cx="192024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FFFFFF"/>
                </a:solidFill>
                <a:latin typeface="맑은 고딕"/>
              </a:rPr>
              <a:t>화면개요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3401568"/>
            <a:ext cx="1920240" cy="11887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FFFFFF"/>
                </a:solidFill>
                <a:latin typeface="맑은 고딕"/>
              </a:rPr>
              <a:t>고른 병원의 공공데이터 상세 정보를 보여주는 화면. 없는 정보는 '미확인'으로 표시한다.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4617720"/>
            <a:ext cx="192024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FFFFFF"/>
                </a:solidFill>
                <a:latin typeface="맑은 고딕"/>
              </a:rPr>
              <a:t>메뉴경로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5001768"/>
            <a:ext cx="192024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FFFFFF"/>
                </a:solidFill>
                <a:latin typeface="맑은 고딕"/>
              </a:rPr>
              <a:t>추천 결과 / 병원 보기 클릭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5532120"/>
            <a:ext cx="192024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FFFFFF"/>
                </a:solidFill>
                <a:latin typeface="맑은 고딕"/>
              </a:rPr>
              <a:t>작성자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5916168"/>
            <a:ext cx="192024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FFFFFF"/>
                </a:solidFill>
                <a:latin typeface="맑은 고딕"/>
              </a:rPr>
              <a:t>이영훈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944846" y="173736"/>
            <a:ext cx="2393442" cy="4507992"/>
          </a:xfrm>
          <a:prstGeom prst="roundRect">
            <a:avLst>
              <a:gd name="adj" fmla="val 6000"/>
            </a:avLst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DETAIL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7142" y="256032"/>
            <a:ext cx="2228850" cy="4343400"/>
          </a:xfrm>
          <a:prstGeom prst="rect">
            <a:avLst/>
          </a:prstGeom>
        </p:spPr>
      </p:pic>
      <p:sp>
        <p:nvSpPr>
          <p:cNvPr id="17" name="Oval 16"/>
          <p:cNvSpPr/>
          <p:nvPr/>
        </p:nvSpPr>
        <p:spPr>
          <a:xfrm>
            <a:off x="4981422" y="690372"/>
            <a:ext cx="201168" cy="201168"/>
          </a:xfrm>
          <a:prstGeom prst="ellipse">
            <a:avLst/>
          </a:prstGeom>
          <a:solidFill>
            <a:srgbClr val="E0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8" name="Oval 17"/>
          <p:cNvSpPr/>
          <p:nvPr/>
        </p:nvSpPr>
        <p:spPr>
          <a:xfrm>
            <a:off x="4981422" y="2141982"/>
            <a:ext cx="201168" cy="201168"/>
          </a:xfrm>
          <a:prstGeom prst="ellipse">
            <a:avLst/>
          </a:prstGeom>
          <a:solidFill>
            <a:srgbClr val="E0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9" name="Oval 18"/>
          <p:cNvSpPr/>
          <p:nvPr/>
        </p:nvSpPr>
        <p:spPr>
          <a:xfrm>
            <a:off x="5278602" y="3113532"/>
            <a:ext cx="201168" cy="201168"/>
          </a:xfrm>
          <a:prstGeom prst="ellipse">
            <a:avLst/>
          </a:prstGeom>
          <a:solidFill>
            <a:srgbClr val="E0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20" name="Oval 19"/>
          <p:cNvSpPr/>
          <p:nvPr/>
        </p:nvSpPr>
        <p:spPr>
          <a:xfrm>
            <a:off x="5278602" y="3445002"/>
            <a:ext cx="201168" cy="201168"/>
          </a:xfrm>
          <a:prstGeom prst="ellipse">
            <a:avLst/>
          </a:prstGeom>
          <a:solidFill>
            <a:srgbClr val="E0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377440" y="4846320"/>
            <a:ext cx="7528255" cy="201168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651760" y="4901184"/>
            <a:ext cx="7071055" cy="34747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111111"/>
                </a:solidFill>
                <a:latin typeface="맑은 고딕"/>
              </a:rPr>
              <a:t>화면설명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51760" y="5248656"/>
            <a:ext cx="7071055" cy="1554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111111"/>
                </a:solidFill>
                <a:latin typeface="맑은 고딕"/>
              </a:rPr>
              <a:t>- 1번 : 선택한 병원 카드</a:t>
            </a:r>
          </a:p>
          <a:p>
            <a:pPr algn="l">
              <a:lnSpc>
                <a:spcPct val="105000"/>
              </a:lnSpc>
            </a:pPr>
            <a:r>
              <a:rPr sz="1000" b="0">
                <a:solidFill>
                  <a:srgbClr val="111111"/>
                </a:solidFill>
                <a:latin typeface="맑은 고딕"/>
              </a:rPr>
              <a:t>- 2번 : 상세 정보 (심평원 등록 진료과 · 오늘 진료시간 · 거리 · 전문의 수 · 주차 · 주소 · 전화)</a:t>
            </a:r>
          </a:p>
          <a:p>
            <a:pPr algn="l">
              <a:lnSpc>
                <a:spcPct val="105000"/>
              </a:lnSpc>
            </a:pPr>
            <a:r>
              <a:rPr sz="1000" b="0">
                <a:solidFill>
                  <a:srgbClr val="111111"/>
                </a:solidFill>
                <a:latin typeface="맑은 고딕"/>
              </a:rPr>
              <a:t>- 3번 : 공공데이터에 없는 값은 지어내지 않고 '미확인'으로 표시</a:t>
            </a:r>
          </a:p>
          <a:p>
            <a:pPr algn="l">
              <a:lnSpc>
                <a:spcPct val="105000"/>
              </a:lnSpc>
            </a:pPr>
            <a:r>
              <a:rPr sz="1000" b="0">
                <a:solidFill>
                  <a:srgbClr val="111111"/>
                </a:solidFill>
                <a:latin typeface="맑은 고딕"/>
              </a:rPr>
              <a:t>- 4번 : 병원 전화번호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377440" cy="6858000"/>
          </a:xfrm>
          <a:prstGeom prst="rect">
            <a:avLst/>
          </a:prstGeom>
          <a:solidFill>
            <a:srgbClr val="008C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411480"/>
            <a:ext cx="192024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FFFFFF"/>
                </a:solidFill>
                <a:latin typeface="맑은 고딕"/>
              </a:rPr>
              <a:t>화면 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95528"/>
            <a:ext cx="1920240" cy="457199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FFFFFF"/>
                </a:solidFill>
                <a:latin typeface="맑은 고딕"/>
              </a:rPr>
              <a:t>BOOK_01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1280160"/>
            <a:ext cx="192024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FFFFFF"/>
                </a:solidFill>
                <a:latin typeface="맑은 고딕"/>
              </a:rPr>
              <a:t>화면이름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664207"/>
            <a:ext cx="1920240" cy="457199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FFFFFF"/>
                </a:solidFill>
                <a:latin typeface="맑은 고딕"/>
              </a:rPr>
              <a:t>예약 안내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2148839"/>
            <a:ext cx="192024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FFFFFF"/>
                </a:solidFill>
                <a:latin typeface="맑은 고딕"/>
              </a:rPr>
              <a:t>관련 유스케이스 ID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2532887"/>
            <a:ext cx="1920240" cy="457199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FFFFFF"/>
                </a:solidFill>
                <a:latin typeface="맑은 고딕"/>
              </a:rPr>
              <a:t>GDA-400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3017520"/>
            <a:ext cx="192024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FFFFFF"/>
                </a:solidFill>
                <a:latin typeface="맑은 고딕"/>
              </a:rPr>
              <a:t>화면개요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3401568"/>
            <a:ext cx="1920240" cy="11887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FFFFFF"/>
                </a:solidFill>
                <a:latin typeface="맑은 고딕"/>
              </a:rPr>
              <a:t>예약에 필요한 정보와 전화 연결을 안내하는 화면. 이 화면에서 예약이 접수되지는 않는다.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4617720"/>
            <a:ext cx="192024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FFFFFF"/>
                </a:solidFill>
                <a:latin typeface="맑은 고딕"/>
              </a:rPr>
              <a:t>메뉴경로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5001768"/>
            <a:ext cx="192024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FFFFFF"/>
                </a:solidFill>
                <a:latin typeface="맑은 고딕"/>
              </a:rPr>
              <a:t>추천 결과 / 예약하기 클릭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5532120"/>
            <a:ext cx="192024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FFFFFF"/>
                </a:solidFill>
                <a:latin typeface="맑은 고딕"/>
              </a:rPr>
              <a:t>작성자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5916168"/>
            <a:ext cx="192024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FFFFFF"/>
                </a:solidFill>
                <a:latin typeface="맑은 고딕"/>
              </a:rPr>
              <a:t>이영훈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944846" y="173736"/>
            <a:ext cx="2393442" cy="4507992"/>
          </a:xfrm>
          <a:prstGeom prst="roundRect">
            <a:avLst>
              <a:gd name="adj" fmla="val 6000"/>
            </a:avLst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BOOK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7142" y="256032"/>
            <a:ext cx="2228850" cy="4343400"/>
          </a:xfrm>
          <a:prstGeom prst="rect">
            <a:avLst/>
          </a:prstGeom>
        </p:spPr>
      </p:pic>
      <p:sp>
        <p:nvSpPr>
          <p:cNvPr id="17" name="Oval 16"/>
          <p:cNvSpPr/>
          <p:nvPr/>
        </p:nvSpPr>
        <p:spPr>
          <a:xfrm>
            <a:off x="5450052" y="907542"/>
            <a:ext cx="201168" cy="201168"/>
          </a:xfrm>
          <a:prstGeom prst="ellipse">
            <a:avLst/>
          </a:prstGeom>
          <a:solidFill>
            <a:srgbClr val="E0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8" name="Oval 17"/>
          <p:cNvSpPr/>
          <p:nvPr/>
        </p:nvSpPr>
        <p:spPr>
          <a:xfrm>
            <a:off x="4981422" y="1227582"/>
            <a:ext cx="201168" cy="201168"/>
          </a:xfrm>
          <a:prstGeom prst="ellipse">
            <a:avLst/>
          </a:prstGeom>
          <a:solidFill>
            <a:srgbClr val="E0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9" name="Oval 18"/>
          <p:cNvSpPr/>
          <p:nvPr/>
        </p:nvSpPr>
        <p:spPr>
          <a:xfrm>
            <a:off x="5004282" y="2484882"/>
            <a:ext cx="201168" cy="201168"/>
          </a:xfrm>
          <a:prstGeom prst="ellipse">
            <a:avLst/>
          </a:prstGeom>
          <a:solidFill>
            <a:srgbClr val="E0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20" name="Oval 19"/>
          <p:cNvSpPr/>
          <p:nvPr/>
        </p:nvSpPr>
        <p:spPr>
          <a:xfrm>
            <a:off x="5964402" y="2484882"/>
            <a:ext cx="201168" cy="201168"/>
          </a:xfrm>
          <a:prstGeom prst="ellipse">
            <a:avLst/>
          </a:prstGeom>
          <a:solidFill>
            <a:srgbClr val="E0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21" name="Oval 20"/>
          <p:cNvSpPr/>
          <p:nvPr/>
        </p:nvSpPr>
        <p:spPr>
          <a:xfrm>
            <a:off x="5004282" y="2816352"/>
            <a:ext cx="201168" cy="201168"/>
          </a:xfrm>
          <a:prstGeom prst="ellipse">
            <a:avLst/>
          </a:prstGeom>
          <a:solidFill>
            <a:srgbClr val="E0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22" name="Oval 21"/>
          <p:cNvSpPr/>
          <p:nvPr/>
        </p:nvSpPr>
        <p:spPr>
          <a:xfrm>
            <a:off x="4981422" y="3330702"/>
            <a:ext cx="201168" cy="201168"/>
          </a:xfrm>
          <a:prstGeom prst="ellipse">
            <a:avLst/>
          </a:prstGeom>
          <a:solidFill>
            <a:srgbClr val="E0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6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377440" y="4846320"/>
            <a:ext cx="7528255" cy="201168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651760" y="4901184"/>
            <a:ext cx="7071055" cy="34747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111111"/>
                </a:solidFill>
                <a:latin typeface="맑은 고딕"/>
              </a:rPr>
              <a:t>화면설명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51760" y="5248656"/>
            <a:ext cx="7071055" cy="1554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111111"/>
                </a:solidFill>
                <a:latin typeface="맑은 고딕"/>
              </a:rPr>
              <a:t>- 1번 : 예약하려는 병원 (사용자가 누른 버튼)</a:t>
            </a:r>
          </a:p>
          <a:p>
            <a:pPr algn="l">
              <a:lnSpc>
                <a:spcPct val="105000"/>
              </a:lnSpc>
            </a:pPr>
            <a:r>
              <a:rPr sz="1000" b="0">
                <a:solidFill>
                  <a:srgbClr val="111111"/>
                </a:solidFill>
                <a:latin typeface="맑은 고딕"/>
              </a:rPr>
              <a:t>- 2번 : 예약 안내 카드 (병원 · 진료과 · 진료시간 · 주차 · 주소 · 전화)</a:t>
            </a:r>
          </a:p>
          <a:p>
            <a:pPr algn="l">
              <a:lnSpc>
                <a:spcPct val="105000"/>
              </a:lnSpc>
            </a:pPr>
            <a:r>
              <a:rPr sz="1000" b="0">
                <a:solidFill>
                  <a:srgbClr val="111111"/>
                </a:solidFill>
                <a:latin typeface="맑은 고딕"/>
              </a:rPr>
              <a:t>- 3번 : 전화하기 (휴대폰에서 바로 전화 연결)</a:t>
            </a:r>
          </a:p>
          <a:p>
            <a:pPr algn="l">
              <a:lnSpc>
                <a:spcPct val="105000"/>
              </a:lnSpc>
            </a:pPr>
            <a:r>
              <a:rPr sz="1000" b="0">
                <a:solidFill>
                  <a:srgbClr val="111111"/>
                </a:solidFill>
                <a:latin typeface="맑은 고딕"/>
              </a:rPr>
              <a:t>- 4번 : 병원 예약 페이지로 이동</a:t>
            </a:r>
          </a:p>
          <a:p>
            <a:pPr algn="l">
              <a:lnSpc>
                <a:spcPct val="105000"/>
              </a:lnSpc>
            </a:pPr>
            <a:r>
              <a:rPr sz="1000" b="0">
                <a:solidFill>
                  <a:srgbClr val="111111"/>
                </a:solidFill>
                <a:latin typeface="맑은 고딕"/>
              </a:rPr>
              <a:t>- 5번 : 전화할 때 읽을 문장 예시</a:t>
            </a:r>
          </a:p>
          <a:p>
            <a:pPr algn="l">
              <a:lnSpc>
                <a:spcPct val="105000"/>
              </a:lnSpc>
            </a:pPr>
            <a:r>
              <a:rPr sz="1000" b="0">
                <a:solidFill>
                  <a:srgbClr val="111111"/>
                </a:solidFill>
                <a:latin typeface="맑은 고딕"/>
              </a:rPr>
              <a:t>- 6번 : '이 화면에서 예약이 접수되지는 않습니다' 안내 (오해 방지)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377440" cy="6858000"/>
          </a:xfrm>
          <a:prstGeom prst="rect">
            <a:avLst/>
          </a:prstGeom>
          <a:solidFill>
            <a:srgbClr val="008C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411480"/>
            <a:ext cx="192024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FFFFFF"/>
                </a:solidFill>
                <a:latin typeface="맑은 고딕"/>
              </a:rPr>
              <a:t>화면 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95528"/>
            <a:ext cx="1920240" cy="457199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FFFFFF"/>
                </a:solidFill>
                <a:latin typeface="맑은 고딕"/>
              </a:rPr>
              <a:t>SYMPTOM_01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1280160"/>
            <a:ext cx="192024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FFFFFF"/>
                </a:solidFill>
                <a:latin typeface="맑은 고딕"/>
              </a:rPr>
              <a:t>화면이름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664207"/>
            <a:ext cx="1920240" cy="457199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FFFFFF"/>
                </a:solidFill>
                <a:latin typeface="맑은 고딕"/>
              </a:rPr>
              <a:t>증상 되묻기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2148839"/>
            <a:ext cx="192024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FFFFFF"/>
                </a:solidFill>
                <a:latin typeface="맑은 고딕"/>
              </a:rPr>
              <a:t>관련 유스케이스 ID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2532887"/>
            <a:ext cx="1920240" cy="457199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FFFFFF"/>
                </a:solidFill>
                <a:latin typeface="맑은 고딕"/>
              </a:rPr>
              <a:t>GDA-500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3017520"/>
            <a:ext cx="192024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FFFFFF"/>
                </a:solidFill>
                <a:latin typeface="맑은 고딕"/>
              </a:rPr>
              <a:t>화면개요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3401568"/>
            <a:ext cx="1920240" cy="11887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FFFFFF"/>
                </a:solidFill>
                <a:latin typeface="맑은 고딕"/>
              </a:rPr>
              <a:t>증상만 말하면 병명을 추정하지 않고, 어느 진료과로 갈지 정하기 위해 한 번 더 묻는 화면.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4617720"/>
            <a:ext cx="192024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FFFFFF"/>
                </a:solidFill>
                <a:latin typeface="맑은 고딕"/>
              </a:rPr>
              <a:t>메뉴경로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5001768"/>
            <a:ext cx="192024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FFFFFF"/>
                </a:solidFill>
                <a:latin typeface="맑은 고딕"/>
              </a:rPr>
              <a:t>AI 병원 안내 / 증상 입력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5532120"/>
            <a:ext cx="192024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FFFFFF"/>
                </a:solidFill>
                <a:latin typeface="맑은 고딕"/>
              </a:rPr>
              <a:t>작성자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5916168"/>
            <a:ext cx="192024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FFFFFF"/>
                </a:solidFill>
                <a:latin typeface="맑은 고딕"/>
              </a:rPr>
              <a:t>이영훈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944846" y="173736"/>
            <a:ext cx="2393442" cy="4507992"/>
          </a:xfrm>
          <a:prstGeom prst="roundRect">
            <a:avLst>
              <a:gd name="adj" fmla="val 6000"/>
            </a:avLst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SYMPTOM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7142" y="256032"/>
            <a:ext cx="2228850" cy="4343400"/>
          </a:xfrm>
          <a:prstGeom prst="rect">
            <a:avLst/>
          </a:prstGeom>
        </p:spPr>
      </p:pic>
      <p:sp>
        <p:nvSpPr>
          <p:cNvPr id="17" name="Oval 16"/>
          <p:cNvSpPr/>
          <p:nvPr/>
        </p:nvSpPr>
        <p:spPr>
          <a:xfrm>
            <a:off x="5930112" y="2759202"/>
            <a:ext cx="201168" cy="201168"/>
          </a:xfrm>
          <a:prstGeom prst="ellipse">
            <a:avLst/>
          </a:prstGeom>
          <a:solidFill>
            <a:srgbClr val="E0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8" name="Oval 17"/>
          <p:cNvSpPr/>
          <p:nvPr/>
        </p:nvSpPr>
        <p:spPr>
          <a:xfrm>
            <a:off x="4947132" y="3090672"/>
            <a:ext cx="201168" cy="201168"/>
          </a:xfrm>
          <a:prstGeom prst="ellipse">
            <a:avLst/>
          </a:prstGeom>
          <a:solidFill>
            <a:srgbClr val="E0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9" name="Oval 18"/>
          <p:cNvSpPr/>
          <p:nvPr/>
        </p:nvSpPr>
        <p:spPr>
          <a:xfrm>
            <a:off x="4947132" y="3387852"/>
            <a:ext cx="201168" cy="201168"/>
          </a:xfrm>
          <a:prstGeom prst="ellipse">
            <a:avLst/>
          </a:prstGeom>
          <a:solidFill>
            <a:srgbClr val="E0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377440" y="4846320"/>
            <a:ext cx="7528255" cy="201168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651760" y="4901184"/>
            <a:ext cx="7071055" cy="34747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111111"/>
                </a:solidFill>
                <a:latin typeface="맑은 고딕"/>
              </a:rPr>
              <a:t>화면설명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51760" y="5248656"/>
            <a:ext cx="7071055" cy="1554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111111"/>
                </a:solidFill>
                <a:latin typeface="맑은 고딕"/>
              </a:rPr>
              <a:t>- 1번 : 사용자가 말한 증상 (예: 코가 막히고 목이 아파요)</a:t>
            </a:r>
          </a:p>
          <a:p>
            <a:pPr algn="l">
              <a:lnSpc>
                <a:spcPct val="105000"/>
              </a:lnSpc>
            </a:pPr>
            <a:r>
              <a:rPr sz="1000" b="0">
                <a:solidFill>
                  <a:srgbClr val="111111"/>
                </a:solidFill>
                <a:latin typeface="맑은 고딕"/>
              </a:rPr>
              <a:t>- 2번 : 되묻기 — '목이 어떻게 불편하세요?'</a:t>
            </a:r>
          </a:p>
          <a:p>
            <a:pPr algn="l">
              <a:lnSpc>
                <a:spcPct val="105000"/>
              </a:lnSpc>
            </a:pPr>
            <a:r>
              <a:rPr sz="1000" b="0">
                <a:solidFill>
                  <a:srgbClr val="111111"/>
                </a:solidFill>
                <a:latin typeface="맑은 고딕"/>
              </a:rPr>
              <a:t>- 3번 : 선택지 (삼킬 때 아파요 → 이비인후과 / 목을 돌릴 때 아파요 → 정형외과 쪽)</a:t>
            </a:r>
          </a:p>
          <a:p>
            <a:pPr algn="l">
              <a:lnSpc>
                <a:spcPct val="105000"/>
              </a:lnSpc>
            </a:pPr>
            <a:r>
              <a:rPr sz="1000" b="0">
                <a:solidFill>
                  <a:srgbClr val="111111"/>
                </a:solidFill>
                <a:latin typeface="맑은 고딕"/>
              </a:rPr>
              <a:t>※ 병명·진단 표현은 만들지 않음 (자동 시험으로 매번 검사)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377440" cy="6858000"/>
          </a:xfrm>
          <a:prstGeom prst="rect">
            <a:avLst/>
          </a:prstGeom>
          <a:solidFill>
            <a:srgbClr val="008C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411480"/>
            <a:ext cx="192024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FFFFFF"/>
                </a:solidFill>
                <a:latin typeface="맑은 고딕"/>
              </a:rPr>
              <a:t>화면 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95528"/>
            <a:ext cx="1920240" cy="457199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FFFFFF"/>
                </a:solidFill>
                <a:latin typeface="맑은 고딕"/>
              </a:rPr>
              <a:t>SYMPTOM_02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1280160"/>
            <a:ext cx="192024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FFFFFF"/>
                </a:solidFill>
                <a:latin typeface="맑은 고딕"/>
              </a:rPr>
              <a:t>화면이름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664207"/>
            <a:ext cx="1920240" cy="457199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FFFFFF"/>
                </a:solidFill>
                <a:latin typeface="맑은 고딕"/>
              </a:rPr>
              <a:t>진료과 안내 · 지역 묻기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2148839"/>
            <a:ext cx="192024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FFFFFF"/>
                </a:solidFill>
                <a:latin typeface="맑은 고딕"/>
              </a:rPr>
              <a:t>관련 유스케이스 ID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2532887"/>
            <a:ext cx="1920240" cy="457199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FFFFFF"/>
                </a:solidFill>
                <a:latin typeface="맑은 고딕"/>
              </a:rPr>
              <a:t>GDA-500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3017520"/>
            <a:ext cx="192024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FFFFFF"/>
                </a:solidFill>
                <a:latin typeface="맑은 고딕"/>
              </a:rPr>
              <a:t>화면개요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3401568"/>
            <a:ext cx="1920240" cy="11887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FFFFFF"/>
                </a:solidFill>
                <a:latin typeface="맑은 고딕"/>
              </a:rPr>
              <a:t>고른 답을 진료과로 바꿔 안내하고, 병원을 찾을 지역을 묻는 화면.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4617720"/>
            <a:ext cx="192024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FFFFFF"/>
                </a:solidFill>
                <a:latin typeface="맑은 고딕"/>
              </a:rPr>
              <a:t>메뉴경로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5001768"/>
            <a:ext cx="192024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FFFFFF"/>
                </a:solidFill>
                <a:latin typeface="맑은 고딕"/>
              </a:rPr>
              <a:t>증상 되묻기 / 선택지 클릭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5532120"/>
            <a:ext cx="192024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FFFFFF"/>
                </a:solidFill>
                <a:latin typeface="맑은 고딕"/>
              </a:rPr>
              <a:t>작성자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5916168"/>
            <a:ext cx="192024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FFFFFF"/>
                </a:solidFill>
                <a:latin typeface="맑은 고딕"/>
              </a:rPr>
              <a:t>이영훈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944846" y="173736"/>
            <a:ext cx="2393442" cy="4507992"/>
          </a:xfrm>
          <a:prstGeom prst="roundRect">
            <a:avLst>
              <a:gd name="adj" fmla="val 6000"/>
            </a:avLst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SYMPTOM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7142" y="256032"/>
            <a:ext cx="2228850" cy="4343400"/>
          </a:xfrm>
          <a:prstGeom prst="rect">
            <a:avLst/>
          </a:prstGeom>
        </p:spPr>
      </p:pic>
      <p:sp>
        <p:nvSpPr>
          <p:cNvPr id="17" name="Oval 16"/>
          <p:cNvSpPr/>
          <p:nvPr/>
        </p:nvSpPr>
        <p:spPr>
          <a:xfrm>
            <a:off x="6375882" y="2484882"/>
            <a:ext cx="201168" cy="201168"/>
          </a:xfrm>
          <a:prstGeom prst="ellipse">
            <a:avLst/>
          </a:prstGeom>
          <a:solidFill>
            <a:srgbClr val="E0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8" name="Oval 17"/>
          <p:cNvSpPr/>
          <p:nvPr/>
        </p:nvSpPr>
        <p:spPr>
          <a:xfrm>
            <a:off x="4947132" y="2804922"/>
            <a:ext cx="201168" cy="201168"/>
          </a:xfrm>
          <a:prstGeom prst="ellipse">
            <a:avLst/>
          </a:prstGeom>
          <a:solidFill>
            <a:srgbClr val="E0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9" name="Oval 18"/>
          <p:cNvSpPr/>
          <p:nvPr/>
        </p:nvSpPr>
        <p:spPr>
          <a:xfrm>
            <a:off x="4947132" y="3113532"/>
            <a:ext cx="201168" cy="201168"/>
          </a:xfrm>
          <a:prstGeom prst="ellipse">
            <a:avLst/>
          </a:prstGeom>
          <a:solidFill>
            <a:srgbClr val="E0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377440" y="4846320"/>
            <a:ext cx="7528255" cy="201168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651760" y="4901184"/>
            <a:ext cx="7071055" cy="34747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111111"/>
                </a:solidFill>
                <a:latin typeface="맑은 고딕"/>
              </a:rPr>
              <a:t>화면설명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51760" y="5248656"/>
            <a:ext cx="7071055" cy="1554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111111"/>
                </a:solidFill>
                <a:latin typeface="맑은 고딕"/>
              </a:rPr>
              <a:t>- 1번 : 선택 결과가 진료과로 변환됨 (이비인후과)</a:t>
            </a:r>
          </a:p>
          <a:p>
            <a:pPr algn="l">
              <a:lnSpc>
                <a:spcPct val="105000"/>
              </a:lnSpc>
            </a:pPr>
            <a:r>
              <a:rPr sz="1000" b="0">
                <a:solidFill>
                  <a:srgbClr val="111111"/>
                </a:solidFill>
                <a:latin typeface="맑은 고딕"/>
              </a:rPr>
              <a:t>- 2번 : '이비인후과 진료를 찾을게요. 어느 지역인가요?'</a:t>
            </a:r>
          </a:p>
          <a:p>
            <a:pPr algn="l">
              <a:lnSpc>
                <a:spcPct val="105000"/>
              </a:lnSpc>
            </a:pPr>
            <a:r>
              <a:rPr sz="1000" b="0">
                <a:solidFill>
                  <a:srgbClr val="111111"/>
                </a:solidFill>
                <a:latin typeface="맑은 고딕"/>
              </a:rPr>
              <a:t>- 3번 : 지역 선택 버튼 (말로 지역을 답해도 됨)</a:t>
            </a:r>
          </a:p>
          <a:p>
            <a:pPr algn="l">
              <a:lnSpc>
                <a:spcPct val="105000"/>
              </a:lnSpc>
            </a:pPr>
            <a:r>
              <a:rPr sz="1000" b="0">
                <a:solidFill>
                  <a:srgbClr val="111111"/>
                </a:solidFill>
                <a:latin typeface="맑은 고딕"/>
              </a:rPr>
              <a:t>※ '북구'처럼 여러 도시에 있는 지역명은 임의로 고르지 않고 되물음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377440" cy="6858000"/>
          </a:xfrm>
          <a:prstGeom prst="rect">
            <a:avLst/>
          </a:prstGeom>
          <a:solidFill>
            <a:srgbClr val="008C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411480"/>
            <a:ext cx="192024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FFFFFF"/>
                </a:solidFill>
                <a:latin typeface="맑은 고딕"/>
              </a:rPr>
              <a:t>화면 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95528"/>
            <a:ext cx="1920240" cy="457199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FFFFFF"/>
                </a:solidFill>
                <a:latin typeface="맑은 고딕"/>
              </a:rPr>
              <a:t>ER_01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1280160"/>
            <a:ext cx="192024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FFFFFF"/>
                </a:solidFill>
                <a:latin typeface="맑은 고딕"/>
              </a:rPr>
              <a:t>화면이름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664207"/>
            <a:ext cx="1920240" cy="457199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FFFFFF"/>
                </a:solidFill>
                <a:latin typeface="맑은 고딕"/>
              </a:rPr>
              <a:t>응급실 실시간 병상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2148839"/>
            <a:ext cx="192024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FFFFFF"/>
                </a:solidFill>
                <a:latin typeface="맑은 고딕"/>
              </a:rPr>
              <a:t>관련 유스케이스 ID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2532887"/>
            <a:ext cx="1920240" cy="457199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FFFFFF"/>
                </a:solidFill>
                <a:latin typeface="맑은 고딕"/>
              </a:rPr>
              <a:t>GDA-600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3017520"/>
            <a:ext cx="192024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FFFFFF"/>
                </a:solidFill>
                <a:latin typeface="맑은 고딕"/>
              </a:rPr>
              <a:t>화면개요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3401568"/>
            <a:ext cx="1920240" cy="11887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FFFFFF"/>
                </a:solidFill>
                <a:latin typeface="맑은 고딕"/>
              </a:rPr>
              <a:t>국립중앙의료원 응급의료정보를 조회하는 순간 받아와 남은 응급실 병상을 보여주는 화면.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4617720"/>
            <a:ext cx="192024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FFFFFF"/>
                </a:solidFill>
                <a:latin typeface="맑은 고딕"/>
              </a:rPr>
              <a:t>메뉴경로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5001768"/>
            <a:ext cx="192024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FFFFFF"/>
                </a:solidFill>
                <a:latin typeface="맑은 고딕"/>
              </a:rPr>
              <a:t>AI 병원 안내 / '○○ 응급실' 질문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5532120"/>
            <a:ext cx="192024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FFFFFF"/>
                </a:solidFill>
                <a:latin typeface="맑은 고딕"/>
              </a:rPr>
              <a:t>작성자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5916168"/>
            <a:ext cx="192024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FFFFFF"/>
                </a:solidFill>
                <a:latin typeface="맑은 고딕"/>
              </a:rPr>
              <a:t>이영훈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944846" y="173736"/>
            <a:ext cx="2393442" cy="4507992"/>
          </a:xfrm>
          <a:prstGeom prst="roundRect">
            <a:avLst>
              <a:gd name="adj" fmla="val 6000"/>
            </a:avLst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ER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7142" y="256032"/>
            <a:ext cx="2228850" cy="4343400"/>
          </a:xfrm>
          <a:prstGeom prst="rect">
            <a:avLst/>
          </a:prstGeom>
        </p:spPr>
      </p:pic>
      <p:sp>
        <p:nvSpPr>
          <p:cNvPr id="17" name="Oval 16"/>
          <p:cNvSpPr/>
          <p:nvPr/>
        </p:nvSpPr>
        <p:spPr>
          <a:xfrm>
            <a:off x="6250152" y="678942"/>
            <a:ext cx="201168" cy="201168"/>
          </a:xfrm>
          <a:prstGeom prst="ellipse">
            <a:avLst/>
          </a:prstGeom>
          <a:solidFill>
            <a:srgbClr val="E0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8" name="Oval 17"/>
          <p:cNvSpPr/>
          <p:nvPr/>
        </p:nvSpPr>
        <p:spPr>
          <a:xfrm>
            <a:off x="4969992" y="1307592"/>
            <a:ext cx="201168" cy="201168"/>
          </a:xfrm>
          <a:prstGeom prst="ellipse">
            <a:avLst/>
          </a:prstGeom>
          <a:solidFill>
            <a:srgbClr val="E0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9" name="Oval 18"/>
          <p:cNvSpPr/>
          <p:nvPr/>
        </p:nvSpPr>
        <p:spPr>
          <a:xfrm>
            <a:off x="6707352" y="1867662"/>
            <a:ext cx="201168" cy="201168"/>
          </a:xfrm>
          <a:prstGeom prst="ellipse">
            <a:avLst/>
          </a:prstGeom>
          <a:solidFill>
            <a:srgbClr val="E0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20" name="Oval 19"/>
          <p:cNvSpPr/>
          <p:nvPr/>
        </p:nvSpPr>
        <p:spPr>
          <a:xfrm>
            <a:off x="5004282" y="2096262"/>
            <a:ext cx="201168" cy="201168"/>
          </a:xfrm>
          <a:prstGeom prst="ellipse">
            <a:avLst/>
          </a:prstGeom>
          <a:solidFill>
            <a:srgbClr val="E0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21" name="Oval 20"/>
          <p:cNvSpPr/>
          <p:nvPr/>
        </p:nvSpPr>
        <p:spPr>
          <a:xfrm>
            <a:off x="5004282" y="2336291"/>
            <a:ext cx="201168" cy="201168"/>
          </a:xfrm>
          <a:prstGeom prst="ellipse">
            <a:avLst/>
          </a:prstGeom>
          <a:solidFill>
            <a:srgbClr val="E0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22" name="Oval 21"/>
          <p:cNvSpPr/>
          <p:nvPr/>
        </p:nvSpPr>
        <p:spPr>
          <a:xfrm>
            <a:off x="5004282" y="2713482"/>
            <a:ext cx="201168" cy="201168"/>
          </a:xfrm>
          <a:prstGeom prst="ellipse">
            <a:avLst/>
          </a:prstGeom>
          <a:solidFill>
            <a:srgbClr val="E0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6</a:t>
            </a:r>
          </a:p>
        </p:txBody>
      </p:sp>
      <p:sp>
        <p:nvSpPr>
          <p:cNvPr id="23" name="Oval 22"/>
          <p:cNvSpPr/>
          <p:nvPr/>
        </p:nvSpPr>
        <p:spPr>
          <a:xfrm>
            <a:off x="5004282" y="3033522"/>
            <a:ext cx="201168" cy="201168"/>
          </a:xfrm>
          <a:prstGeom prst="ellipse">
            <a:avLst/>
          </a:prstGeom>
          <a:solidFill>
            <a:srgbClr val="E0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7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377440" y="4846320"/>
            <a:ext cx="7528255" cy="201168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651760" y="4901184"/>
            <a:ext cx="7071055" cy="34747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111111"/>
                </a:solidFill>
                <a:latin typeface="맑은 고딕"/>
              </a:rPr>
              <a:t>화면설명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51760" y="5248656"/>
            <a:ext cx="7071055" cy="1554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111111"/>
                </a:solidFill>
                <a:latin typeface="맑은 고딕"/>
              </a:rPr>
              <a:t>- 1번 : 사용자 질문 (예: 광주 남구 응급실)</a:t>
            </a:r>
          </a:p>
          <a:p>
            <a:pPr algn="l">
              <a:lnSpc>
                <a:spcPct val="105000"/>
              </a:lnSpc>
            </a:pPr>
            <a:r>
              <a:rPr sz="1000" b="0">
                <a:solidFill>
                  <a:srgbClr val="111111"/>
                </a:solidFill>
                <a:latin typeface="맑은 고딕"/>
              </a:rPr>
              <a:t>- 2번 : 먼저 읽어주세요 — 병상 수는 몇 분 전 정보이며, 위급하면 먼저 119</a:t>
            </a:r>
          </a:p>
          <a:p>
            <a:pPr algn="l">
              <a:lnSpc>
                <a:spcPct val="105000"/>
              </a:lnSpc>
            </a:pPr>
            <a:r>
              <a:rPr sz="1000" b="0">
                <a:solidFill>
                  <a:srgbClr val="111111"/>
                </a:solidFill>
                <a:latin typeface="맑은 고딕"/>
              </a:rPr>
              <a:t>- 3번 : 정보 갱신 시각 (예: 2분 전)</a:t>
            </a:r>
          </a:p>
          <a:p>
            <a:pPr algn="l">
              <a:lnSpc>
                <a:spcPct val="105000"/>
              </a:lnSpc>
            </a:pPr>
            <a:r>
              <a:rPr sz="1000" b="0">
                <a:solidFill>
                  <a:srgbClr val="111111"/>
                </a:solidFill>
                <a:latin typeface="맑은 고딕"/>
              </a:rPr>
              <a:t>- 4번 : 남은 응급실 병상 수 (전체 중)</a:t>
            </a:r>
          </a:p>
          <a:p>
            <a:pPr algn="l">
              <a:lnSpc>
                <a:spcPct val="105000"/>
              </a:lnSpc>
            </a:pPr>
            <a:r>
              <a:rPr sz="1000" b="0">
                <a:solidFill>
                  <a:srgbClr val="111111"/>
                </a:solidFill>
                <a:latin typeface="맑은 고딕"/>
              </a:rPr>
              <a:t>- 5번 : 입원실 · 수술실 · 보유 장비 (CT · MRI · 인공호흡기)</a:t>
            </a:r>
          </a:p>
          <a:p>
            <a:pPr algn="l">
              <a:lnSpc>
                <a:spcPct val="105000"/>
              </a:lnSpc>
            </a:pPr>
            <a:r>
              <a:rPr sz="1000" b="0">
                <a:solidFill>
                  <a:srgbClr val="111111"/>
                </a:solidFill>
                <a:latin typeface="맑은 고딕"/>
              </a:rPr>
              <a:t>- 6번 : 응급실 전화 / 119 전화</a:t>
            </a:r>
          </a:p>
          <a:p>
            <a:pPr algn="l">
              <a:lnSpc>
                <a:spcPct val="105000"/>
              </a:lnSpc>
            </a:pPr>
            <a:r>
              <a:rPr sz="1000" b="0">
                <a:solidFill>
                  <a:srgbClr val="111111"/>
                </a:solidFill>
                <a:latin typeface="맑은 고딕"/>
              </a:rPr>
              <a:t>- 7번 : 길찾기</a:t>
            </a:r>
          </a:p>
          <a:p>
            <a:pPr algn="l">
              <a:lnSpc>
                <a:spcPct val="105000"/>
              </a:lnSpc>
            </a:pPr>
            <a:r>
              <a:rPr sz="1000" b="0">
                <a:solidFill>
                  <a:srgbClr val="111111"/>
                </a:solidFill>
                <a:latin typeface="맑은 고딕"/>
              </a:rPr>
              <a:t>※ 서버판에서 동작. 서버가 없는 공개 시연판은 '서버가 있는 화면에서 조회된다'고 안내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377440" cy="6858000"/>
          </a:xfrm>
          <a:prstGeom prst="rect">
            <a:avLst/>
          </a:prstGeom>
          <a:solidFill>
            <a:srgbClr val="008C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411480"/>
            <a:ext cx="192024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FFFFFF"/>
                </a:solidFill>
                <a:latin typeface="맑은 고딕"/>
              </a:rPr>
              <a:t>화면 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95528"/>
            <a:ext cx="1920240" cy="457199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FFFFFF"/>
                </a:solidFill>
                <a:latin typeface="맑은 고딕"/>
              </a:rPr>
              <a:t>PHARM_01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1280160"/>
            <a:ext cx="192024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FFFFFF"/>
                </a:solidFill>
                <a:latin typeface="맑은 고딕"/>
              </a:rPr>
              <a:t>화면이름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664207"/>
            <a:ext cx="1920240" cy="457199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FFFFFF"/>
                </a:solidFill>
                <a:latin typeface="맑은 고딕"/>
              </a:rPr>
              <a:t>지금 문 연 약국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2148839"/>
            <a:ext cx="192024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FFFFFF"/>
                </a:solidFill>
                <a:latin typeface="맑은 고딕"/>
              </a:rPr>
              <a:t>관련 유스케이스 ID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2532887"/>
            <a:ext cx="1920240" cy="457199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FFFFFF"/>
                </a:solidFill>
                <a:latin typeface="맑은 고딕"/>
              </a:rPr>
              <a:t>GDA-700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3017520"/>
            <a:ext cx="192024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FFFFFF"/>
                </a:solidFill>
                <a:latin typeface="맑은 고딕"/>
              </a:rPr>
              <a:t>화면개요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3401568"/>
            <a:ext cx="1920240" cy="11887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FFFFFF"/>
                </a:solidFill>
                <a:latin typeface="맑은 고딕"/>
              </a:rPr>
              <a:t>지금 운영 중인 약국을 가까운 순으로 보여주는 화면. 운영시간을 모르는 약국은 따로 알린다.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4617720"/>
            <a:ext cx="192024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FFFFFF"/>
                </a:solidFill>
                <a:latin typeface="맑은 고딕"/>
              </a:rPr>
              <a:t>메뉴경로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5001768"/>
            <a:ext cx="192024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FFFFFF"/>
                </a:solidFill>
                <a:latin typeface="맑은 고딕"/>
              </a:rPr>
              <a:t>AI 병원 안내 / '○○ 약국' 질문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5532120"/>
            <a:ext cx="192024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FFFFFF"/>
                </a:solidFill>
                <a:latin typeface="맑은 고딕"/>
              </a:rPr>
              <a:t>작성자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5916168"/>
            <a:ext cx="192024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FFFFFF"/>
                </a:solidFill>
                <a:latin typeface="맑은 고딕"/>
              </a:rPr>
              <a:t>이영훈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944846" y="173736"/>
            <a:ext cx="2393442" cy="4507992"/>
          </a:xfrm>
          <a:prstGeom prst="roundRect">
            <a:avLst>
              <a:gd name="adj" fmla="val 6000"/>
            </a:avLst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PHARM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7142" y="256032"/>
            <a:ext cx="2228850" cy="4343400"/>
          </a:xfrm>
          <a:prstGeom prst="rect">
            <a:avLst/>
          </a:prstGeom>
        </p:spPr>
      </p:pic>
      <p:sp>
        <p:nvSpPr>
          <p:cNvPr id="17" name="Oval 16"/>
          <p:cNvSpPr/>
          <p:nvPr/>
        </p:nvSpPr>
        <p:spPr>
          <a:xfrm>
            <a:off x="5964402" y="678942"/>
            <a:ext cx="201168" cy="201168"/>
          </a:xfrm>
          <a:prstGeom prst="ellipse">
            <a:avLst/>
          </a:prstGeom>
          <a:solidFill>
            <a:srgbClr val="E0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8" name="Oval 17"/>
          <p:cNvSpPr/>
          <p:nvPr/>
        </p:nvSpPr>
        <p:spPr>
          <a:xfrm>
            <a:off x="4947132" y="1021842"/>
            <a:ext cx="201168" cy="201168"/>
          </a:xfrm>
          <a:prstGeom prst="ellipse">
            <a:avLst/>
          </a:prstGeom>
          <a:solidFill>
            <a:srgbClr val="E0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9" name="Oval 18"/>
          <p:cNvSpPr/>
          <p:nvPr/>
        </p:nvSpPr>
        <p:spPr>
          <a:xfrm>
            <a:off x="4969992" y="1364742"/>
            <a:ext cx="201168" cy="201168"/>
          </a:xfrm>
          <a:prstGeom prst="ellipse">
            <a:avLst/>
          </a:prstGeom>
          <a:solidFill>
            <a:srgbClr val="E0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20" name="Oval 19"/>
          <p:cNvSpPr/>
          <p:nvPr/>
        </p:nvSpPr>
        <p:spPr>
          <a:xfrm>
            <a:off x="5004282" y="1730502"/>
            <a:ext cx="201168" cy="201168"/>
          </a:xfrm>
          <a:prstGeom prst="ellipse">
            <a:avLst/>
          </a:prstGeom>
          <a:solidFill>
            <a:srgbClr val="E0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21" name="Oval 20"/>
          <p:cNvSpPr/>
          <p:nvPr/>
        </p:nvSpPr>
        <p:spPr>
          <a:xfrm>
            <a:off x="5004282" y="2302002"/>
            <a:ext cx="201168" cy="201168"/>
          </a:xfrm>
          <a:prstGeom prst="ellipse">
            <a:avLst/>
          </a:prstGeom>
          <a:solidFill>
            <a:srgbClr val="E0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22" name="Oval 21"/>
          <p:cNvSpPr/>
          <p:nvPr/>
        </p:nvSpPr>
        <p:spPr>
          <a:xfrm>
            <a:off x="5004282" y="2610612"/>
            <a:ext cx="201168" cy="201168"/>
          </a:xfrm>
          <a:prstGeom prst="ellipse">
            <a:avLst/>
          </a:prstGeom>
          <a:solidFill>
            <a:srgbClr val="E0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6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377440" y="4846320"/>
            <a:ext cx="7528255" cy="201168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651760" y="4901184"/>
            <a:ext cx="7071055" cy="34747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111111"/>
                </a:solidFill>
                <a:latin typeface="맑은 고딕"/>
              </a:rPr>
              <a:t>화면설명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51760" y="5248656"/>
            <a:ext cx="7071055" cy="1554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111111"/>
                </a:solidFill>
                <a:latin typeface="맑은 고딕"/>
              </a:rPr>
              <a:t>- 1번 : 사용자 질문 (예: 광주 남구 지금 문 연 약국)</a:t>
            </a:r>
          </a:p>
          <a:p>
            <a:pPr algn="l">
              <a:lnSpc>
                <a:spcPct val="105000"/>
              </a:lnSpc>
            </a:pPr>
            <a:r>
              <a:rPr sz="1000" b="0">
                <a:solidFill>
                  <a:srgbClr val="111111"/>
                </a:solidFill>
                <a:latin typeface="맑은 고딕"/>
              </a:rPr>
              <a:t>- 2번 : 결과 요약 (가까운 5곳)</a:t>
            </a:r>
          </a:p>
          <a:p>
            <a:pPr algn="l">
              <a:lnSpc>
                <a:spcPct val="105000"/>
              </a:lnSpc>
            </a:pPr>
            <a:r>
              <a:rPr sz="1000" b="0">
                <a:solidFill>
                  <a:srgbClr val="111111"/>
                </a:solidFill>
                <a:latin typeface="맑은 고딕"/>
              </a:rPr>
              <a:t>- 3번 : 운영시간이 공개되지 않은 약국 수 안내 — 전화로 확인 권장</a:t>
            </a:r>
          </a:p>
          <a:p>
            <a:pPr algn="l">
              <a:lnSpc>
                <a:spcPct val="105000"/>
              </a:lnSpc>
            </a:pPr>
            <a:r>
              <a:rPr sz="1000" b="0">
                <a:solidFill>
                  <a:srgbClr val="111111"/>
                </a:solidFill>
                <a:latin typeface="맑은 고딕"/>
              </a:rPr>
              <a:t>- 4번 : 약국 카드 (오늘 운영시간 · 거리 · 주소)</a:t>
            </a:r>
          </a:p>
          <a:p>
            <a:pPr algn="l">
              <a:lnSpc>
                <a:spcPct val="105000"/>
              </a:lnSpc>
            </a:pPr>
            <a:r>
              <a:rPr sz="1000" b="0">
                <a:solidFill>
                  <a:srgbClr val="111111"/>
                </a:solidFill>
                <a:latin typeface="맑은 고딕"/>
              </a:rPr>
              <a:t>- 5번 : 전화하기</a:t>
            </a:r>
          </a:p>
          <a:p>
            <a:pPr algn="l">
              <a:lnSpc>
                <a:spcPct val="105000"/>
              </a:lnSpc>
            </a:pPr>
            <a:r>
              <a:rPr sz="1000" b="0">
                <a:solidFill>
                  <a:srgbClr val="111111"/>
                </a:solidFill>
                <a:latin typeface="맑은 고딕"/>
              </a:rPr>
              <a:t>- 6번 : 길찾기</a:t>
            </a:r>
          </a:p>
          <a:p>
            <a:pPr algn="l">
              <a:lnSpc>
                <a:spcPct val="105000"/>
              </a:lnSpc>
            </a:pPr>
            <a:r>
              <a:rPr sz="1000" b="0">
                <a:solidFill>
                  <a:srgbClr val="111111"/>
                </a:solidFill>
                <a:latin typeface="맑은 고딕"/>
              </a:rPr>
              <a:t>※ 심평원 약국정보 + 국립중앙의료원 응급의료정보를 합친 자료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377440" cy="6858000"/>
          </a:xfrm>
          <a:prstGeom prst="rect">
            <a:avLst/>
          </a:prstGeom>
          <a:solidFill>
            <a:srgbClr val="008C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411480"/>
            <a:ext cx="192024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FFFFFF"/>
                </a:solidFill>
                <a:latin typeface="맑은 고딕"/>
              </a:rPr>
              <a:t>화면 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95528"/>
            <a:ext cx="1920240" cy="457199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FFFFFF"/>
                </a:solidFill>
                <a:latin typeface="맑은 고딕"/>
              </a:rPr>
              <a:t>LOGIN_01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1280160"/>
            <a:ext cx="192024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FFFFFF"/>
                </a:solidFill>
                <a:latin typeface="맑은 고딕"/>
              </a:rPr>
              <a:t>화면이름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664207"/>
            <a:ext cx="1920240" cy="457199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FFFFFF"/>
                </a:solidFill>
                <a:latin typeface="맑은 고딕"/>
              </a:rPr>
              <a:t>로그인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2148839"/>
            <a:ext cx="192024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FFFFFF"/>
                </a:solidFill>
                <a:latin typeface="맑은 고딕"/>
              </a:rPr>
              <a:t>관련 유스케이스 ID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2532887"/>
            <a:ext cx="1920240" cy="457199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FFFFFF"/>
                </a:solidFill>
                <a:latin typeface="맑은 고딕"/>
              </a:rPr>
              <a:t>GDA-800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3017520"/>
            <a:ext cx="192024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FFFFFF"/>
                </a:solidFill>
                <a:latin typeface="맑은 고딕"/>
              </a:rPr>
              <a:t>화면개요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3401568"/>
            <a:ext cx="1920240" cy="11887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FFFFFF"/>
                </a:solidFill>
                <a:latin typeface="맑은 고딕"/>
              </a:rPr>
              <a:t>예약 문의 내역을 저장하고 다시 보기 위해 로그인하는 화면.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4617720"/>
            <a:ext cx="192024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FFFFFF"/>
                </a:solidFill>
                <a:latin typeface="맑은 고딕"/>
              </a:rPr>
              <a:t>메뉴경로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5001768"/>
            <a:ext cx="192024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FFFFFF"/>
                </a:solidFill>
                <a:latin typeface="맑은 고딕"/>
              </a:rPr>
              <a:t>메인 화면 / 상단 로그인 클릭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5532120"/>
            <a:ext cx="192024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FFFFFF"/>
                </a:solidFill>
                <a:latin typeface="맑은 고딕"/>
              </a:rPr>
              <a:t>작성자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5916168"/>
            <a:ext cx="192024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FFFFFF"/>
                </a:solidFill>
                <a:latin typeface="맑은 고딕"/>
              </a:rPr>
              <a:t>이영훈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944846" y="173736"/>
            <a:ext cx="2393442" cy="4507992"/>
          </a:xfrm>
          <a:prstGeom prst="roundRect">
            <a:avLst>
              <a:gd name="adj" fmla="val 6000"/>
            </a:avLst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LOGIN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7142" y="256032"/>
            <a:ext cx="2228850" cy="4343400"/>
          </a:xfrm>
          <a:prstGeom prst="rect">
            <a:avLst/>
          </a:prstGeom>
        </p:spPr>
      </p:pic>
      <p:sp>
        <p:nvSpPr>
          <p:cNvPr id="17" name="Oval 16"/>
          <p:cNvSpPr/>
          <p:nvPr/>
        </p:nvSpPr>
        <p:spPr>
          <a:xfrm>
            <a:off x="5027142" y="1924812"/>
            <a:ext cx="201168" cy="201168"/>
          </a:xfrm>
          <a:prstGeom prst="ellipse">
            <a:avLst/>
          </a:prstGeom>
          <a:solidFill>
            <a:srgbClr val="E0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8" name="Oval 17"/>
          <p:cNvSpPr/>
          <p:nvPr/>
        </p:nvSpPr>
        <p:spPr>
          <a:xfrm>
            <a:off x="5027142" y="2221991"/>
            <a:ext cx="201168" cy="201168"/>
          </a:xfrm>
          <a:prstGeom prst="ellipse">
            <a:avLst/>
          </a:prstGeom>
          <a:solidFill>
            <a:srgbClr val="E0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9" name="Oval 18"/>
          <p:cNvSpPr/>
          <p:nvPr/>
        </p:nvSpPr>
        <p:spPr>
          <a:xfrm>
            <a:off x="5027142" y="2679192"/>
            <a:ext cx="201168" cy="201168"/>
          </a:xfrm>
          <a:prstGeom prst="ellipse">
            <a:avLst/>
          </a:prstGeom>
          <a:solidFill>
            <a:srgbClr val="E0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20" name="Oval 19"/>
          <p:cNvSpPr/>
          <p:nvPr/>
        </p:nvSpPr>
        <p:spPr>
          <a:xfrm>
            <a:off x="5027142" y="3159252"/>
            <a:ext cx="201168" cy="201168"/>
          </a:xfrm>
          <a:prstGeom prst="ellipse">
            <a:avLst/>
          </a:prstGeom>
          <a:solidFill>
            <a:srgbClr val="E0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21" name="Oval 20"/>
          <p:cNvSpPr/>
          <p:nvPr/>
        </p:nvSpPr>
        <p:spPr>
          <a:xfrm>
            <a:off x="5027142" y="3536442"/>
            <a:ext cx="201168" cy="201168"/>
          </a:xfrm>
          <a:prstGeom prst="ellipse">
            <a:avLst/>
          </a:prstGeom>
          <a:solidFill>
            <a:srgbClr val="E0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377440" y="4846320"/>
            <a:ext cx="7528255" cy="201168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651760" y="4901184"/>
            <a:ext cx="7071055" cy="34747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111111"/>
                </a:solidFill>
                <a:latin typeface="맑은 고딕"/>
              </a:rPr>
              <a:t>화면설명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51760" y="5248656"/>
            <a:ext cx="7071055" cy="1554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111111"/>
                </a:solidFill>
                <a:latin typeface="맑은 고딕"/>
              </a:rPr>
              <a:t>- 1번 : 로그인 / 회원가입 전환 탭</a:t>
            </a:r>
          </a:p>
          <a:p>
            <a:pPr algn="l">
              <a:lnSpc>
                <a:spcPct val="105000"/>
              </a:lnSpc>
            </a:pPr>
            <a:r>
              <a:rPr sz="1000" b="0">
                <a:solidFill>
                  <a:srgbClr val="111111"/>
                </a:solidFill>
                <a:latin typeface="맑은 고딕"/>
              </a:rPr>
              <a:t>- 2번 : 이메일 입력</a:t>
            </a:r>
          </a:p>
          <a:p>
            <a:pPr algn="l">
              <a:lnSpc>
                <a:spcPct val="105000"/>
              </a:lnSpc>
            </a:pPr>
            <a:r>
              <a:rPr sz="1000" b="0">
                <a:solidFill>
                  <a:srgbClr val="111111"/>
                </a:solidFill>
                <a:latin typeface="맑은 고딕"/>
              </a:rPr>
              <a:t>- 3번 : 비밀번호 입력</a:t>
            </a:r>
          </a:p>
          <a:p>
            <a:pPr algn="l">
              <a:lnSpc>
                <a:spcPct val="105000"/>
              </a:lnSpc>
            </a:pPr>
            <a:r>
              <a:rPr sz="1000" b="0">
                <a:solidFill>
                  <a:srgbClr val="111111"/>
                </a:solidFill>
                <a:latin typeface="맑은 고딕"/>
              </a:rPr>
              <a:t>- 4번 : 로그인 버튼</a:t>
            </a:r>
          </a:p>
          <a:p>
            <a:pPr algn="l">
              <a:lnSpc>
                <a:spcPct val="105000"/>
              </a:lnSpc>
            </a:pPr>
            <a:r>
              <a:rPr sz="1000" b="0">
                <a:solidFill>
                  <a:srgbClr val="111111"/>
                </a:solidFill>
                <a:latin typeface="맑은 고딕"/>
              </a:rPr>
              <a:t>- 5번 : 개인정보 안내 (비밀번호는 되돌릴 수 없게 암호화해 저장)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377440" cy="6858000"/>
          </a:xfrm>
          <a:prstGeom prst="rect">
            <a:avLst/>
          </a:prstGeom>
          <a:solidFill>
            <a:srgbClr val="008C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411480"/>
            <a:ext cx="192024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FFFFFF"/>
                </a:solidFill>
                <a:latin typeface="맑은 고딕"/>
              </a:rPr>
              <a:t>화면 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95528"/>
            <a:ext cx="1920240" cy="457199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FFFFFF"/>
                </a:solidFill>
                <a:latin typeface="맑은 고딕"/>
              </a:rPr>
              <a:t>JOIN_01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1280160"/>
            <a:ext cx="192024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FFFFFF"/>
                </a:solidFill>
                <a:latin typeface="맑은 고딕"/>
              </a:rPr>
              <a:t>화면이름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664207"/>
            <a:ext cx="1920240" cy="457199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FFFFFF"/>
                </a:solidFill>
                <a:latin typeface="맑은 고딕"/>
              </a:rPr>
              <a:t>회원가입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2148839"/>
            <a:ext cx="192024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FFFFFF"/>
                </a:solidFill>
                <a:latin typeface="맑은 고딕"/>
              </a:rPr>
              <a:t>관련 유스케이스 ID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2532887"/>
            <a:ext cx="1920240" cy="457199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FFFFFF"/>
                </a:solidFill>
                <a:latin typeface="맑은 고딕"/>
              </a:rPr>
              <a:t>GDA-800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3017520"/>
            <a:ext cx="192024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FFFFFF"/>
                </a:solidFill>
                <a:latin typeface="맑은 고딕"/>
              </a:rPr>
              <a:t>화면개요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3401568"/>
            <a:ext cx="1920240" cy="11887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FFFFFF"/>
                </a:solidFill>
                <a:latin typeface="맑은 고딕"/>
              </a:rPr>
              <a:t>이메일과 비밀번호만으로 가입하는 화면.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4617720"/>
            <a:ext cx="192024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FFFFFF"/>
                </a:solidFill>
                <a:latin typeface="맑은 고딕"/>
              </a:rPr>
              <a:t>메뉴경로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5001768"/>
            <a:ext cx="192024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FFFFFF"/>
                </a:solidFill>
                <a:latin typeface="맑은 고딕"/>
              </a:rPr>
              <a:t>로그인 / 회원가입 탭 클릭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5532120"/>
            <a:ext cx="192024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FFFFFF"/>
                </a:solidFill>
                <a:latin typeface="맑은 고딕"/>
              </a:rPr>
              <a:t>작성자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5916168"/>
            <a:ext cx="192024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FFFFFF"/>
                </a:solidFill>
                <a:latin typeface="맑은 고딕"/>
              </a:rPr>
              <a:t>이영훈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944846" y="173736"/>
            <a:ext cx="2393442" cy="4507992"/>
          </a:xfrm>
          <a:prstGeom prst="roundRect">
            <a:avLst>
              <a:gd name="adj" fmla="val 6000"/>
            </a:avLst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JOIN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7142" y="256032"/>
            <a:ext cx="2228850" cy="4343400"/>
          </a:xfrm>
          <a:prstGeom prst="rect">
            <a:avLst/>
          </a:prstGeom>
        </p:spPr>
      </p:pic>
      <p:sp>
        <p:nvSpPr>
          <p:cNvPr id="17" name="Oval 16"/>
          <p:cNvSpPr/>
          <p:nvPr/>
        </p:nvSpPr>
        <p:spPr>
          <a:xfrm>
            <a:off x="5027142" y="1570482"/>
            <a:ext cx="201168" cy="201168"/>
          </a:xfrm>
          <a:prstGeom prst="ellipse">
            <a:avLst/>
          </a:prstGeom>
          <a:solidFill>
            <a:srgbClr val="E0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8" name="Oval 17"/>
          <p:cNvSpPr/>
          <p:nvPr/>
        </p:nvSpPr>
        <p:spPr>
          <a:xfrm>
            <a:off x="5027142" y="1924812"/>
            <a:ext cx="201168" cy="201168"/>
          </a:xfrm>
          <a:prstGeom prst="ellipse">
            <a:avLst/>
          </a:prstGeom>
          <a:solidFill>
            <a:srgbClr val="E0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9" name="Oval 18"/>
          <p:cNvSpPr/>
          <p:nvPr/>
        </p:nvSpPr>
        <p:spPr>
          <a:xfrm>
            <a:off x="5027142" y="2382012"/>
            <a:ext cx="201168" cy="201168"/>
          </a:xfrm>
          <a:prstGeom prst="ellipse">
            <a:avLst/>
          </a:prstGeom>
          <a:solidFill>
            <a:srgbClr val="E0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20" name="Oval 19"/>
          <p:cNvSpPr/>
          <p:nvPr/>
        </p:nvSpPr>
        <p:spPr>
          <a:xfrm>
            <a:off x="5027142" y="2839212"/>
            <a:ext cx="201168" cy="201168"/>
          </a:xfrm>
          <a:prstGeom prst="ellipse">
            <a:avLst/>
          </a:prstGeom>
          <a:solidFill>
            <a:srgbClr val="E0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21" name="Oval 20"/>
          <p:cNvSpPr/>
          <p:nvPr/>
        </p:nvSpPr>
        <p:spPr>
          <a:xfrm>
            <a:off x="5027142" y="3445002"/>
            <a:ext cx="201168" cy="201168"/>
          </a:xfrm>
          <a:prstGeom prst="ellipse">
            <a:avLst/>
          </a:prstGeom>
          <a:solidFill>
            <a:srgbClr val="E0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377440" y="4846320"/>
            <a:ext cx="7528255" cy="201168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651760" y="4901184"/>
            <a:ext cx="7071055" cy="34747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111111"/>
                </a:solidFill>
                <a:latin typeface="맑은 고딕"/>
              </a:rPr>
              <a:t>화면설명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51760" y="5248656"/>
            <a:ext cx="7071055" cy="1554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111111"/>
                </a:solidFill>
                <a:latin typeface="맑은 고딕"/>
              </a:rPr>
              <a:t>- 1번 : 로그인 / 회원가입 전환 탭</a:t>
            </a:r>
          </a:p>
          <a:p>
            <a:pPr algn="l">
              <a:lnSpc>
                <a:spcPct val="105000"/>
              </a:lnSpc>
            </a:pPr>
            <a:r>
              <a:rPr sz="1000" b="0">
                <a:solidFill>
                  <a:srgbClr val="111111"/>
                </a:solidFill>
                <a:latin typeface="맑은 고딕"/>
              </a:rPr>
              <a:t>- 2번 : 이름 (선택)</a:t>
            </a:r>
          </a:p>
          <a:p>
            <a:pPr algn="l">
              <a:lnSpc>
                <a:spcPct val="105000"/>
              </a:lnSpc>
            </a:pPr>
            <a:r>
              <a:rPr sz="1000" b="0">
                <a:solidFill>
                  <a:srgbClr val="111111"/>
                </a:solidFill>
                <a:latin typeface="맑은 고딕"/>
              </a:rPr>
              <a:t>- 3번 : 이메일</a:t>
            </a:r>
          </a:p>
          <a:p>
            <a:pPr algn="l">
              <a:lnSpc>
                <a:spcPct val="105000"/>
              </a:lnSpc>
            </a:pPr>
            <a:r>
              <a:rPr sz="1000" b="0">
                <a:solidFill>
                  <a:srgbClr val="111111"/>
                </a:solidFill>
                <a:latin typeface="맑은 고딕"/>
              </a:rPr>
              <a:t>- 4번 : 비밀번호 (8자 이상, 영문·숫자·기호 중 두 가지 이상)</a:t>
            </a:r>
          </a:p>
          <a:p>
            <a:pPr algn="l">
              <a:lnSpc>
                <a:spcPct val="105000"/>
              </a:lnSpc>
            </a:pPr>
            <a:r>
              <a:rPr sz="1000" b="0">
                <a:solidFill>
                  <a:srgbClr val="111111"/>
                </a:solidFill>
                <a:latin typeface="맑은 고딕"/>
              </a:rPr>
              <a:t>- 5번 : 가입하고 시작하기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